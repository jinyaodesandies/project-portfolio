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7" r:id="rId2"/>
    <p:sldId id="264" r:id="rId3"/>
    <p:sldId id="258" r:id="rId4"/>
    <p:sldId id="263" r:id="rId5"/>
    <p:sldId id="259" r:id="rId6"/>
    <p:sldId id="260" r:id="rId7"/>
    <p:sldId id="262" r:id="rId8"/>
  </p:sldIdLst>
  <p:sldSz cx="29260800" cy="21945600"/>
  <p:notesSz cx="6858000" cy="9144000"/>
  <p:embeddedFontLst>
    <p:embeddedFont>
      <p:font typeface="Cambria Math" panose="02040503050406030204" pitchFamily="18" charset="0"/>
      <p:regular r:id="rId10"/>
    </p:embeddedFont>
    <p:embeddedFont>
      <p:font typeface="Source Sans Pro" panose="020B050303040302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j+YkD5l2ItdaPAiENwF8TfCYaXK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9892"/>
    <a:srgbClr val="A511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49"/>
    <p:restoredTop sz="94538"/>
  </p:normalViewPr>
  <p:slideViewPr>
    <p:cSldViewPr snapToGrid="0">
      <p:cViewPr>
        <p:scale>
          <a:sx n="33" d="100"/>
          <a:sy n="33" d="100"/>
        </p:scale>
        <p:origin x="824"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5184"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2C986E1-3A3A-7B18-0567-5A5F4539E94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15A2D4-5490-1E98-5F89-8B39AB3B026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6" name="Google Shape;106;p2:notes">
            <a:extLst>
              <a:ext uri="{FF2B5EF4-FFF2-40B4-BE49-F238E27FC236}">
                <a16:creationId xmlns:a16="http://schemas.microsoft.com/office/drawing/2014/main" id="{84274C51-927E-2C5B-1397-5221898C43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a:extLst>
              <a:ext uri="{FF2B5EF4-FFF2-40B4-BE49-F238E27FC236}">
                <a16:creationId xmlns:a16="http://schemas.microsoft.com/office/drawing/2014/main" id="{445C3FCA-7F35-115A-184B-7E36008E5A8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57023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DDEF9C2-7AF5-753A-2B1B-3A3ADD23D6E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D3D99BE-8207-6092-62FB-EDF2447CEFA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6" name="Google Shape;106;p2:notes">
            <a:extLst>
              <a:ext uri="{FF2B5EF4-FFF2-40B4-BE49-F238E27FC236}">
                <a16:creationId xmlns:a16="http://schemas.microsoft.com/office/drawing/2014/main" id="{E81E225B-BF26-ABB9-473D-2C8B945A99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a:extLst>
              <a:ext uri="{FF2B5EF4-FFF2-40B4-BE49-F238E27FC236}">
                <a16:creationId xmlns:a16="http://schemas.microsoft.com/office/drawing/2014/main" id="{F196D82D-B931-60CE-82BE-806750A244E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340287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0CFFB86-5BA7-F843-E48C-05FAF78DE52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79AF75A-8F02-BB14-7C9A-5B920392DEB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6" name="Google Shape;106;p2:notes">
            <a:extLst>
              <a:ext uri="{FF2B5EF4-FFF2-40B4-BE49-F238E27FC236}">
                <a16:creationId xmlns:a16="http://schemas.microsoft.com/office/drawing/2014/main" id="{8BD577A2-056A-978F-591C-7618FF7742B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a:extLst>
              <a:ext uri="{FF2B5EF4-FFF2-40B4-BE49-F238E27FC236}">
                <a16:creationId xmlns:a16="http://schemas.microsoft.com/office/drawing/2014/main" id="{7C4BB02C-E0FF-97AD-F14F-87B2C6A5B41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868543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4EACC5F-B647-3B22-6821-2FAB1F2CCC9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BA20920-381F-0114-06CB-62746B20AB3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6" name="Google Shape;106;p2:notes">
            <a:extLst>
              <a:ext uri="{FF2B5EF4-FFF2-40B4-BE49-F238E27FC236}">
                <a16:creationId xmlns:a16="http://schemas.microsoft.com/office/drawing/2014/main" id="{ED9C642A-DCE0-2185-2890-2D57795978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a:extLst>
              <a:ext uri="{FF2B5EF4-FFF2-40B4-BE49-F238E27FC236}">
                <a16:creationId xmlns:a16="http://schemas.microsoft.com/office/drawing/2014/main" id="{29E3E3B9-3D80-4C7A-58FD-E717B7C4E46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34875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99FD158-2D8B-B4E0-32E5-ED283DA42EF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1576A8C-D586-9EA0-C10B-D0766A8C498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6" name="Google Shape;106;p2:notes">
            <a:extLst>
              <a:ext uri="{FF2B5EF4-FFF2-40B4-BE49-F238E27FC236}">
                <a16:creationId xmlns:a16="http://schemas.microsoft.com/office/drawing/2014/main" id="{0106E387-95E3-6272-E532-C61AD8E7CAA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a:extLst>
              <a:ext uri="{FF2B5EF4-FFF2-40B4-BE49-F238E27FC236}">
                <a16:creationId xmlns:a16="http://schemas.microsoft.com/office/drawing/2014/main" id="{18A29629-F162-03F7-F498-B46563DF26A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91514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
          <p:cNvSpPr txBox="1">
            <a:spLocks noGrp="1"/>
          </p:cNvSpPr>
          <p:nvPr>
            <p:ph type="ctrTitle"/>
          </p:nvPr>
        </p:nvSpPr>
        <p:spPr>
          <a:xfrm>
            <a:off x="2194560" y="3591562"/>
            <a:ext cx="2487168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9200"/>
              <a:buFont typeface="Calibri"/>
              <a:buNone/>
              <a:defRPr sz="170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6"/>
          <p:cNvSpPr txBox="1">
            <a:spLocks noGrp="1"/>
          </p:cNvSpPr>
          <p:nvPr>
            <p:ph type="subTitle" idx="1"/>
          </p:nvPr>
        </p:nvSpPr>
        <p:spPr>
          <a:xfrm>
            <a:off x="3657600" y="11526522"/>
            <a:ext cx="21945600" cy="529843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2844"/>
              </a:spcBef>
              <a:spcAft>
                <a:spcPts val="0"/>
              </a:spcAft>
              <a:buClr>
                <a:schemeClr val="dk1"/>
              </a:buClr>
              <a:buSzPts val="7680"/>
              <a:buNone/>
              <a:defRPr sz="6827"/>
            </a:lvl1pPr>
            <a:lvl2pPr lvl="1" algn="ctr">
              <a:lnSpc>
                <a:spcPct val="90000"/>
              </a:lnSpc>
              <a:spcBef>
                <a:spcPts val="1422"/>
              </a:spcBef>
              <a:spcAft>
                <a:spcPts val="0"/>
              </a:spcAft>
              <a:buClr>
                <a:schemeClr val="dk1"/>
              </a:buClr>
              <a:buSzPts val="6400"/>
              <a:buNone/>
              <a:defRPr sz="5689"/>
            </a:lvl2pPr>
            <a:lvl3pPr lvl="2" algn="ctr">
              <a:lnSpc>
                <a:spcPct val="90000"/>
              </a:lnSpc>
              <a:spcBef>
                <a:spcPts val="1422"/>
              </a:spcBef>
              <a:spcAft>
                <a:spcPts val="0"/>
              </a:spcAft>
              <a:buClr>
                <a:schemeClr val="dk1"/>
              </a:buClr>
              <a:buSzPts val="5760"/>
              <a:buNone/>
              <a:defRPr sz="5120"/>
            </a:lvl3pPr>
            <a:lvl4pPr lvl="3" algn="ctr">
              <a:lnSpc>
                <a:spcPct val="90000"/>
              </a:lnSpc>
              <a:spcBef>
                <a:spcPts val="1422"/>
              </a:spcBef>
              <a:spcAft>
                <a:spcPts val="0"/>
              </a:spcAft>
              <a:buClr>
                <a:schemeClr val="dk1"/>
              </a:buClr>
              <a:buSzPts val="5120"/>
              <a:buNone/>
              <a:defRPr sz="4551"/>
            </a:lvl4pPr>
            <a:lvl5pPr lvl="4" algn="ctr">
              <a:lnSpc>
                <a:spcPct val="90000"/>
              </a:lnSpc>
              <a:spcBef>
                <a:spcPts val="1422"/>
              </a:spcBef>
              <a:spcAft>
                <a:spcPts val="0"/>
              </a:spcAft>
              <a:buClr>
                <a:schemeClr val="dk1"/>
              </a:buClr>
              <a:buSzPts val="5120"/>
              <a:buNone/>
              <a:defRPr sz="4551"/>
            </a:lvl5pPr>
            <a:lvl6pPr lvl="5" algn="ctr">
              <a:lnSpc>
                <a:spcPct val="90000"/>
              </a:lnSpc>
              <a:spcBef>
                <a:spcPts val="1422"/>
              </a:spcBef>
              <a:spcAft>
                <a:spcPts val="0"/>
              </a:spcAft>
              <a:buClr>
                <a:schemeClr val="dk1"/>
              </a:buClr>
              <a:buSzPts val="5120"/>
              <a:buNone/>
              <a:defRPr sz="4551"/>
            </a:lvl6pPr>
            <a:lvl7pPr lvl="6" algn="ctr">
              <a:lnSpc>
                <a:spcPct val="90000"/>
              </a:lnSpc>
              <a:spcBef>
                <a:spcPts val="1422"/>
              </a:spcBef>
              <a:spcAft>
                <a:spcPts val="0"/>
              </a:spcAft>
              <a:buClr>
                <a:schemeClr val="dk1"/>
              </a:buClr>
              <a:buSzPts val="5120"/>
              <a:buNone/>
              <a:defRPr sz="4551"/>
            </a:lvl7pPr>
            <a:lvl8pPr lvl="7" algn="ctr">
              <a:lnSpc>
                <a:spcPct val="90000"/>
              </a:lnSpc>
              <a:spcBef>
                <a:spcPts val="1422"/>
              </a:spcBef>
              <a:spcAft>
                <a:spcPts val="0"/>
              </a:spcAft>
              <a:buClr>
                <a:schemeClr val="dk1"/>
              </a:buClr>
              <a:buSzPts val="5120"/>
              <a:buNone/>
              <a:defRPr sz="4551"/>
            </a:lvl8pPr>
            <a:lvl9pPr lvl="8" algn="ctr">
              <a:lnSpc>
                <a:spcPct val="90000"/>
              </a:lnSpc>
              <a:spcBef>
                <a:spcPts val="1422"/>
              </a:spcBef>
              <a:spcAft>
                <a:spcPts val="0"/>
              </a:spcAft>
              <a:buClr>
                <a:schemeClr val="dk1"/>
              </a:buClr>
              <a:buSzPts val="5120"/>
              <a:buNone/>
              <a:defRPr sz="4551"/>
            </a:lvl9pPr>
          </a:lstStyle>
          <a:p>
            <a:endParaRPr/>
          </a:p>
        </p:txBody>
      </p:sp>
      <p:sp>
        <p:nvSpPr>
          <p:cNvPr id="18" name="Google Shape;18;p6"/>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6"/>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6"/>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7"/>
          <p:cNvSpPr txBox="1">
            <a:spLocks noGrp="1"/>
          </p:cNvSpPr>
          <p:nvPr>
            <p:ph type="title"/>
          </p:nvPr>
        </p:nvSpPr>
        <p:spPr>
          <a:xfrm>
            <a:off x="2011680" y="1168405"/>
            <a:ext cx="2523744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7"/>
          <p:cNvSpPr txBox="1">
            <a:spLocks noGrp="1"/>
          </p:cNvSpPr>
          <p:nvPr>
            <p:ph type="body" idx="1"/>
          </p:nvPr>
        </p:nvSpPr>
        <p:spPr>
          <a:xfrm>
            <a:off x="2011680" y="5842000"/>
            <a:ext cx="25237440" cy="13924282"/>
          </a:xfrm>
          <a:prstGeom prst="rect">
            <a:avLst/>
          </a:prstGeom>
          <a:noFill/>
          <a:ln>
            <a:noFill/>
          </a:ln>
        </p:spPr>
        <p:txBody>
          <a:bodyPr spcFirstLastPara="1" wrap="square" lIns="91425" tIns="45700" rIns="91425" bIns="45700" anchor="t" anchorCtr="0">
            <a:normAutofit/>
          </a:bodyPr>
          <a:lstStyle>
            <a:lvl1pPr marL="406405" lvl="0" indent="-304804" algn="l">
              <a:lnSpc>
                <a:spcPct val="90000"/>
              </a:lnSpc>
              <a:spcBef>
                <a:spcPts val="2844"/>
              </a:spcBef>
              <a:spcAft>
                <a:spcPts val="0"/>
              </a:spcAft>
              <a:buClr>
                <a:schemeClr val="dk1"/>
              </a:buClr>
              <a:buSzPts val="1800"/>
              <a:buChar char="•"/>
              <a:defRPr/>
            </a:lvl1pPr>
            <a:lvl2pPr marL="812810" lvl="1" indent="-304804" algn="l">
              <a:lnSpc>
                <a:spcPct val="90000"/>
              </a:lnSpc>
              <a:spcBef>
                <a:spcPts val="1422"/>
              </a:spcBef>
              <a:spcAft>
                <a:spcPts val="0"/>
              </a:spcAft>
              <a:buClr>
                <a:schemeClr val="dk1"/>
              </a:buClr>
              <a:buSzPts val="1800"/>
              <a:buChar char="•"/>
              <a:defRPr/>
            </a:lvl2pPr>
            <a:lvl3pPr marL="1219215" lvl="2" indent="-304804" algn="l">
              <a:lnSpc>
                <a:spcPct val="90000"/>
              </a:lnSpc>
              <a:spcBef>
                <a:spcPts val="1422"/>
              </a:spcBef>
              <a:spcAft>
                <a:spcPts val="0"/>
              </a:spcAft>
              <a:buClr>
                <a:schemeClr val="dk1"/>
              </a:buClr>
              <a:buSzPts val="1800"/>
              <a:buChar char="•"/>
              <a:defRPr/>
            </a:lvl3pPr>
            <a:lvl4pPr marL="1625620" lvl="3" indent="-304804" algn="l">
              <a:lnSpc>
                <a:spcPct val="90000"/>
              </a:lnSpc>
              <a:spcBef>
                <a:spcPts val="1422"/>
              </a:spcBef>
              <a:spcAft>
                <a:spcPts val="0"/>
              </a:spcAft>
              <a:buClr>
                <a:schemeClr val="dk1"/>
              </a:buClr>
              <a:buSzPts val="1800"/>
              <a:buChar char="•"/>
              <a:defRPr/>
            </a:lvl4pPr>
            <a:lvl5pPr marL="2032025" lvl="4" indent="-304804" algn="l">
              <a:lnSpc>
                <a:spcPct val="90000"/>
              </a:lnSpc>
              <a:spcBef>
                <a:spcPts val="1422"/>
              </a:spcBef>
              <a:spcAft>
                <a:spcPts val="0"/>
              </a:spcAft>
              <a:buClr>
                <a:schemeClr val="dk1"/>
              </a:buClr>
              <a:buSzPts val="1800"/>
              <a:buChar char="•"/>
              <a:defRPr/>
            </a:lvl5pPr>
            <a:lvl6pPr marL="2438430" lvl="5" indent="-304804" algn="l">
              <a:lnSpc>
                <a:spcPct val="90000"/>
              </a:lnSpc>
              <a:spcBef>
                <a:spcPts val="1422"/>
              </a:spcBef>
              <a:spcAft>
                <a:spcPts val="0"/>
              </a:spcAft>
              <a:buClr>
                <a:schemeClr val="dk1"/>
              </a:buClr>
              <a:buSzPts val="1800"/>
              <a:buChar char="•"/>
              <a:defRPr/>
            </a:lvl6pPr>
            <a:lvl7pPr marL="2844836" lvl="6" indent="-304804" algn="l">
              <a:lnSpc>
                <a:spcPct val="90000"/>
              </a:lnSpc>
              <a:spcBef>
                <a:spcPts val="1422"/>
              </a:spcBef>
              <a:spcAft>
                <a:spcPts val="0"/>
              </a:spcAft>
              <a:buClr>
                <a:schemeClr val="dk1"/>
              </a:buClr>
              <a:buSzPts val="1800"/>
              <a:buChar char="•"/>
              <a:defRPr/>
            </a:lvl7pPr>
            <a:lvl8pPr marL="3251241" lvl="7" indent="-304804" algn="l">
              <a:lnSpc>
                <a:spcPct val="90000"/>
              </a:lnSpc>
              <a:spcBef>
                <a:spcPts val="1422"/>
              </a:spcBef>
              <a:spcAft>
                <a:spcPts val="0"/>
              </a:spcAft>
              <a:buClr>
                <a:schemeClr val="dk1"/>
              </a:buClr>
              <a:buSzPts val="1800"/>
              <a:buChar char="•"/>
              <a:defRPr/>
            </a:lvl8pPr>
            <a:lvl9pPr marL="3657646" lvl="8" indent="-304804" algn="l">
              <a:lnSpc>
                <a:spcPct val="90000"/>
              </a:lnSpc>
              <a:spcBef>
                <a:spcPts val="1422"/>
              </a:spcBef>
              <a:spcAft>
                <a:spcPts val="0"/>
              </a:spcAft>
              <a:buClr>
                <a:schemeClr val="dk1"/>
              </a:buClr>
              <a:buSzPts val="1800"/>
              <a:buChar char="•"/>
              <a:defRPr/>
            </a:lvl9pPr>
          </a:lstStyle>
          <a:p>
            <a:endParaRPr/>
          </a:p>
        </p:txBody>
      </p:sp>
      <p:sp>
        <p:nvSpPr>
          <p:cNvPr id="24" name="Google Shape;24;p7"/>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7"/>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7"/>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1996442" y="5471167"/>
            <a:ext cx="25237440" cy="912875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9200"/>
              <a:buFont typeface="Calibri"/>
              <a:buNone/>
              <a:defRPr sz="170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8"/>
          <p:cNvSpPr txBox="1">
            <a:spLocks noGrp="1"/>
          </p:cNvSpPr>
          <p:nvPr>
            <p:ph type="body" idx="1"/>
          </p:nvPr>
        </p:nvSpPr>
        <p:spPr>
          <a:xfrm>
            <a:off x="1996442" y="14686287"/>
            <a:ext cx="25237440" cy="4800598"/>
          </a:xfrm>
          <a:prstGeom prst="rect">
            <a:avLst/>
          </a:prstGeom>
          <a:noFill/>
          <a:ln>
            <a:noFill/>
          </a:ln>
        </p:spPr>
        <p:txBody>
          <a:bodyPr spcFirstLastPara="1" wrap="square" lIns="91425" tIns="45700" rIns="91425" bIns="45700" anchor="t" anchorCtr="0">
            <a:normAutofit/>
          </a:bodyPr>
          <a:lstStyle>
            <a:lvl1pPr marL="406405" lvl="0" indent="-203203" algn="l">
              <a:lnSpc>
                <a:spcPct val="90000"/>
              </a:lnSpc>
              <a:spcBef>
                <a:spcPts val="2844"/>
              </a:spcBef>
              <a:spcAft>
                <a:spcPts val="0"/>
              </a:spcAft>
              <a:buClr>
                <a:schemeClr val="dk1"/>
              </a:buClr>
              <a:buSzPts val="7680"/>
              <a:buNone/>
              <a:defRPr sz="6827">
                <a:solidFill>
                  <a:schemeClr val="dk1"/>
                </a:solidFill>
              </a:defRPr>
            </a:lvl1pPr>
            <a:lvl2pPr marL="812810" lvl="1" indent="-203203" algn="l">
              <a:lnSpc>
                <a:spcPct val="90000"/>
              </a:lnSpc>
              <a:spcBef>
                <a:spcPts val="1422"/>
              </a:spcBef>
              <a:spcAft>
                <a:spcPts val="0"/>
              </a:spcAft>
              <a:buClr>
                <a:srgbClr val="888888"/>
              </a:buClr>
              <a:buSzPts val="6400"/>
              <a:buNone/>
              <a:defRPr sz="5689">
                <a:solidFill>
                  <a:srgbClr val="888888"/>
                </a:solidFill>
              </a:defRPr>
            </a:lvl2pPr>
            <a:lvl3pPr marL="1219215" lvl="2" indent="-203203" algn="l">
              <a:lnSpc>
                <a:spcPct val="90000"/>
              </a:lnSpc>
              <a:spcBef>
                <a:spcPts val="1422"/>
              </a:spcBef>
              <a:spcAft>
                <a:spcPts val="0"/>
              </a:spcAft>
              <a:buClr>
                <a:srgbClr val="888888"/>
              </a:buClr>
              <a:buSzPts val="5760"/>
              <a:buNone/>
              <a:defRPr sz="5120">
                <a:solidFill>
                  <a:srgbClr val="888888"/>
                </a:solidFill>
              </a:defRPr>
            </a:lvl3pPr>
            <a:lvl4pPr marL="1625620" lvl="3" indent="-203203" algn="l">
              <a:lnSpc>
                <a:spcPct val="90000"/>
              </a:lnSpc>
              <a:spcBef>
                <a:spcPts val="1422"/>
              </a:spcBef>
              <a:spcAft>
                <a:spcPts val="0"/>
              </a:spcAft>
              <a:buClr>
                <a:srgbClr val="888888"/>
              </a:buClr>
              <a:buSzPts val="5120"/>
              <a:buNone/>
              <a:defRPr sz="4551">
                <a:solidFill>
                  <a:srgbClr val="888888"/>
                </a:solidFill>
              </a:defRPr>
            </a:lvl4pPr>
            <a:lvl5pPr marL="2032025" lvl="4" indent="-203203" algn="l">
              <a:lnSpc>
                <a:spcPct val="90000"/>
              </a:lnSpc>
              <a:spcBef>
                <a:spcPts val="1422"/>
              </a:spcBef>
              <a:spcAft>
                <a:spcPts val="0"/>
              </a:spcAft>
              <a:buClr>
                <a:srgbClr val="888888"/>
              </a:buClr>
              <a:buSzPts val="5120"/>
              <a:buNone/>
              <a:defRPr sz="4551">
                <a:solidFill>
                  <a:srgbClr val="888888"/>
                </a:solidFill>
              </a:defRPr>
            </a:lvl5pPr>
            <a:lvl6pPr marL="2438430" lvl="5" indent="-203203" algn="l">
              <a:lnSpc>
                <a:spcPct val="90000"/>
              </a:lnSpc>
              <a:spcBef>
                <a:spcPts val="1422"/>
              </a:spcBef>
              <a:spcAft>
                <a:spcPts val="0"/>
              </a:spcAft>
              <a:buClr>
                <a:srgbClr val="888888"/>
              </a:buClr>
              <a:buSzPts val="5120"/>
              <a:buNone/>
              <a:defRPr sz="4551">
                <a:solidFill>
                  <a:srgbClr val="888888"/>
                </a:solidFill>
              </a:defRPr>
            </a:lvl6pPr>
            <a:lvl7pPr marL="2844836" lvl="6" indent="-203203" algn="l">
              <a:lnSpc>
                <a:spcPct val="90000"/>
              </a:lnSpc>
              <a:spcBef>
                <a:spcPts val="1422"/>
              </a:spcBef>
              <a:spcAft>
                <a:spcPts val="0"/>
              </a:spcAft>
              <a:buClr>
                <a:srgbClr val="888888"/>
              </a:buClr>
              <a:buSzPts val="5120"/>
              <a:buNone/>
              <a:defRPr sz="4551">
                <a:solidFill>
                  <a:srgbClr val="888888"/>
                </a:solidFill>
              </a:defRPr>
            </a:lvl7pPr>
            <a:lvl8pPr marL="3251241" lvl="7" indent="-203203" algn="l">
              <a:lnSpc>
                <a:spcPct val="90000"/>
              </a:lnSpc>
              <a:spcBef>
                <a:spcPts val="1422"/>
              </a:spcBef>
              <a:spcAft>
                <a:spcPts val="0"/>
              </a:spcAft>
              <a:buClr>
                <a:srgbClr val="888888"/>
              </a:buClr>
              <a:buSzPts val="5120"/>
              <a:buNone/>
              <a:defRPr sz="4551">
                <a:solidFill>
                  <a:srgbClr val="888888"/>
                </a:solidFill>
              </a:defRPr>
            </a:lvl8pPr>
            <a:lvl9pPr marL="3657646" lvl="8" indent="-203203" algn="l">
              <a:lnSpc>
                <a:spcPct val="90000"/>
              </a:lnSpc>
              <a:spcBef>
                <a:spcPts val="1422"/>
              </a:spcBef>
              <a:spcAft>
                <a:spcPts val="0"/>
              </a:spcAft>
              <a:buClr>
                <a:srgbClr val="888888"/>
              </a:buClr>
              <a:buSzPts val="5120"/>
              <a:buNone/>
              <a:defRPr sz="4551">
                <a:solidFill>
                  <a:srgbClr val="888888"/>
                </a:solidFill>
              </a:defRPr>
            </a:lvl9pPr>
          </a:lstStyle>
          <a:p>
            <a:endParaRPr/>
          </a:p>
        </p:txBody>
      </p:sp>
      <p:sp>
        <p:nvSpPr>
          <p:cNvPr id="30" name="Google Shape;30;p8"/>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8"/>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8"/>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2011680" y="1168405"/>
            <a:ext cx="2523744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9"/>
          <p:cNvSpPr txBox="1">
            <a:spLocks noGrp="1"/>
          </p:cNvSpPr>
          <p:nvPr>
            <p:ph type="body" idx="1"/>
          </p:nvPr>
        </p:nvSpPr>
        <p:spPr>
          <a:xfrm>
            <a:off x="2011680" y="5842000"/>
            <a:ext cx="12435840" cy="13924282"/>
          </a:xfrm>
          <a:prstGeom prst="rect">
            <a:avLst/>
          </a:prstGeom>
          <a:noFill/>
          <a:ln>
            <a:noFill/>
          </a:ln>
        </p:spPr>
        <p:txBody>
          <a:bodyPr spcFirstLastPara="1" wrap="square" lIns="91425" tIns="45700" rIns="91425" bIns="45700" anchor="t" anchorCtr="0">
            <a:normAutofit/>
          </a:bodyPr>
          <a:lstStyle>
            <a:lvl1pPr marL="406405" lvl="0" indent="-304804" algn="l">
              <a:lnSpc>
                <a:spcPct val="90000"/>
              </a:lnSpc>
              <a:spcBef>
                <a:spcPts val="2844"/>
              </a:spcBef>
              <a:spcAft>
                <a:spcPts val="0"/>
              </a:spcAft>
              <a:buClr>
                <a:schemeClr val="dk1"/>
              </a:buClr>
              <a:buSzPts val="1800"/>
              <a:buChar char="•"/>
              <a:defRPr/>
            </a:lvl1pPr>
            <a:lvl2pPr marL="812810" lvl="1" indent="-304804" algn="l">
              <a:lnSpc>
                <a:spcPct val="90000"/>
              </a:lnSpc>
              <a:spcBef>
                <a:spcPts val="1422"/>
              </a:spcBef>
              <a:spcAft>
                <a:spcPts val="0"/>
              </a:spcAft>
              <a:buClr>
                <a:schemeClr val="dk1"/>
              </a:buClr>
              <a:buSzPts val="1800"/>
              <a:buChar char="•"/>
              <a:defRPr/>
            </a:lvl2pPr>
            <a:lvl3pPr marL="1219215" lvl="2" indent="-304804" algn="l">
              <a:lnSpc>
                <a:spcPct val="90000"/>
              </a:lnSpc>
              <a:spcBef>
                <a:spcPts val="1422"/>
              </a:spcBef>
              <a:spcAft>
                <a:spcPts val="0"/>
              </a:spcAft>
              <a:buClr>
                <a:schemeClr val="dk1"/>
              </a:buClr>
              <a:buSzPts val="1800"/>
              <a:buChar char="•"/>
              <a:defRPr/>
            </a:lvl3pPr>
            <a:lvl4pPr marL="1625620" lvl="3" indent="-304804" algn="l">
              <a:lnSpc>
                <a:spcPct val="90000"/>
              </a:lnSpc>
              <a:spcBef>
                <a:spcPts val="1422"/>
              </a:spcBef>
              <a:spcAft>
                <a:spcPts val="0"/>
              </a:spcAft>
              <a:buClr>
                <a:schemeClr val="dk1"/>
              </a:buClr>
              <a:buSzPts val="1800"/>
              <a:buChar char="•"/>
              <a:defRPr/>
            </a:lvl4pPr>
            <a:lvl5pPr marL="2032025" lvl="4" indent="-304804" algn="l">
              <a:lnSpc>
                <a:spcPct val="90000"/>
              </a:lnSpc>
              <a:spcBef>
                <a:spcPts val="1422"/>
              </a:spcBef>
              <a:spcAft>
                <a:spcPts val="0"/>
              </a:spcAft>
              <a:buClr>
                <a:schemeClr val="dk1"/>
              </a:buClr>
              <a:buSzPts val="1800"/>
              <a:buChar char="•"/>
              <a:defRPr/>
            </a:lvl5pPr>
            <a:lvl6pPr marL="2438430" lvl="5" indent="-304804" algn="l">
              <a:lnSpc>
                <a:spcPct val="90000"/>
              </a:lnSpc>
              <a:spcBef>
                <a:spcPts val="1422"/>
              </a:spcBef>
              <a:spcAft>
                <a:spcPts val="0"/>
              </a:spcAft>
              <a:buClr>
                <a:schemeClr val="dk1"/>
              </a:buClr>
              <a:buSzPts val="1800"/>
              <a:buChar char="•"/>
              <a:defRPr/>
            </a:lvl6pPr>
            <a:lvl7pPr marL="2844836" lvl="6" indent="-304804" algn="l">
              <a:lnSpc>
                <a:spcPct val="90000"/>
              </a:lnSpc>
              <a:spcBef>
                <a:spcPts val="1422"/>
              </a:spcBef>
              <a:spcAft>
                <a:spcPts val="0"/>
              </a:spcAft>
              <a:buClr>
                <a:schemeClr val="dk1"/>
              </a:buClr>
              <a:buSzPts val="1800"/>
              <a:buChar char="•"/>
              <a:defRPr/>
            </a:lvl7pPr>
            <a:lvl8pPr marL="3251241" lvl="7" indent="-304804" algn="l">
              <a:lnSpc>
                <a:spcPct val="90000"/>
              </a:lnSpc>
              <a:spcBef>
                <a:spcPts val="1422"/>
              </a:spcBef>
              <a:spcAft>
                <a:spcPts val="0"/>
              </a:spcAft>
              <a:buClr>
                <a:schemeClr val="dk1"/>
              </a:buClr>
              <a:buSzPts val="1800"/>
              <a:buChar char="•"/>
              <a:defRPr/>
            </a:lvl8pPr>
            <a:lvl9pPr marL="3657646" lvl="8" indent="-304804" algn="l">
              <a:lnSpc>
                <a:spcPct val="90000"/>
              </a:lnSpc>
              <a:spcBef>
                <a:spcPts val="1422"/>
              </a:spcBef>
              <a:spcAft>
                <a:spcPts val="0"/>
              </a:spcAft>
              <a:buClr>
                <a:schemeClr val="dk1"/>
              </a:buClr>
              <a:buSzPts val="1800"/>
              <a:buChar char="•"/>
              <a:defRPr/>
            </a:lvl9pPr>
          </a:lstStyle>
          <a:p>
            <a:endParaRPr/>
          </a:p>
        </p:txBody>
      </p:sp>
      <p:sp>
        <p:nvSpPr>
          <p:cNvPr id="36" name="Google Shape;36;p9"/>
          <p:cNvSpPr txBox="1">
            <a:spLocks noGrp="1"/>
          </p:cNvSpPr>
          <p:nvPr>
            <p:ph type="body" idx="2"/>
          </p:nvPr>
        </p:nvSpPr>
        <p:spPr>
          <a:xfrm>
            <a:off x="14813280" y="5842000"/>
            <a:ext cx="12435840" cy="13924282"/>
          </a:xfrm>
          <a:prstGeom prst="rect">
            <a:avLst/>
          </a:prstGeom>
          <a:noFill/>
          <a:ln>
            <a:noFill/>
          </a:ln>
        </p:spPr>
        <p:txBody>
          <a:bodyPr spcFirstLastPara="1" wrap="square" lIns="91425" tIns="45700" rIns="91425" bIns="45700" anchor="t" anchorCtr="0">
            <a:normAutofit/>
          </a:bodyPr>
          <a:lstStyle>
            <a:lvl1pPr marL="406405" lvl="0" indent="-304804" algn="l">
              <a:lnSpc>
                <a:spcPct val="90000"/>
              </a:lnSpc>
              <a:spcBef>
                <a:spcPts val="2844"/>
              </a:spcBef>
              <a:spcAft>
                <a:spcPts val="0"/>
              </a:spcAft>
              <a:buClr>
                <a:schemeClr val="dk1"/>
              </a:buClr>
              <a:buSzPts val="1800"/>
              <a:buChar char="•"/>
              <a:defRPr/>
            </a:lvl1pPr>
            <a:lvl2pPr marL="812810" lvl="1" indent="-304804" algn="l">
              <a:lnSpc>
                <a:spcPct val="90000"/>
              </a:lnSpc>
              <a:spcBef>
                <a:spcPts val="1422"/>
              </a:spcBef>
              <a:spcAft>
                <a:spcPts val="0"/>
              </a:spcAft>
              <a:buClr>
                <a:schemeClr val="dk1"/>
              </a:buClr>
              <a:buSzPts val="1800"/>
              <a:buChar char="•"/>
              <a:defRPr/>
            </a:lvl2pPr>
            <a:lvl3pPr marL="1219215" lvl="2" indent="-304804" algn="l">
              <a:lnSpc>
                <a:spcPct val="90000"/>
              </a:lnSpc>
              <a:spcBef>
                <a:spcPts val="1422"/>
              </a:spcBef>
              <a:spcAft>
                <a:spcPts val="0"/>
              </a:spcAft>
              <a:buClr>
                <a:schemeClr val="dk1"/>
              </a:buClr>
              <a:buSzPts val="1800"/>
              <a:buChar char="•"/>
              <a:defRPr/>
            </a:lvl3pPr>
            <a:lvl4pPr marL="1625620" lvl="3" indent="-304804" algn="l">
              <a:lnSpc>
                <a:spcPct val="90000"/>
              </a:lnSpc>
              <a:spcBef>
                <a:spcPts val="1422"/>
              </a:spcBef>
              <a:spcAft>
                <a:spcPts val="0"/>
              </a:spcAft>
              <a:buClr>
                <a:schemeClr val="dk1"/>
              </a:buClr>
              <a:buSzPts val="1800"/>
              <a:buChar char="•"/>
              <a:defRPr/>
            </a:lvl4pPr>
            <a:lvl5pPr marL="2032025" lvl="4" indent="-304804" algn="l">
              <a:lnSpc>
                <a:spcPct val="90000"/>
              </a:lnSpc>
              <a:spcBef>
                <a:spcPts val="1422"/>
              </a:spcBef>
              <a:spcAft>
                <a:spcPts val="0"/>
              </a:spcAft>
              <a:buClr>
                <a:schemeClr val="dk1"/>
              </a:buClr>
              <a:buSzPts val="1800"/>
              <a:buChar char="•"/>
              <a:defRPr/>
            </a:lvl5pPr>
            <a:lvl6pPr marL="2438430" lvl="5" indent="-304804" algn="l">
              <a:lnSpc>
                <a:spcPct val="90000"/>
              </a:lnSpc>
              <a:spcBef>
                <a:spcPts val="1422"/>
              </a:spcBef>
              <a:spcAft>
                <a:spcPts val="0"/>
              </a:spcAft>
              <a:buClr>
                <a:schemeClr val="dk1"/>
              </a:buClr>
              <a:buSzPts val="1800"/>
              <a:buChar char="•"/>
              <a:defRPr/>
            </a:lvl6pPr>
            <a:lvl7pPr marL="2844836" lvl="6" indent="-304804" algn="l">
              <a:lnSpc>
                <a:spcPct val="90000"/>
              </a:lnSpc>
              <a:spcBef>
                <a:spcPts val="1422"/>
              </a:spcBef>
              <a:spcAft>
                <a:spcPts val="0"/>
              </a:spcAft>
              <a:buClr>
                <a:schemeClr val="dk1"/>
              </a:buClr>
              <a:buSzPts val="1800"/>
              <a:buChar char="•"/>
              <a:defRPr/>
            </a:lvl7pPr>
            <a:lvl8pPr marL="3251241" lvl="7" indent="-304804" algn="l">
              <a:lnSpc>
                <a:spcPct val="90000"/>
              </a:lnSpc>
              <a:spcBef>
                <a:spcPts val="1422"/>
              </a:spcBef>
              <a:spcAft>
                <a:spcPts val="0"/>
              </a:spcAft>
              <a:buClr>
                <a:schemeClr val="dk1"/>
              </a:buClr>
              <a:buSzPts val="1800"/>
              <a:buChar char="•"/>
              <a:defRPr/>
            </a:lvl8pPr>
            <a:lvl9pPr marL="3657646" lvl="8" indent="-304804" algn="l">
              <a:lnSpc>
                <a:spcPct val="90000"/>
              </a:lnSpc>
              <a:spcBef>
                <a:spcPts val="1422"/>
              </a:spcBef>
              <a:spcAft>
                <a:spcPts val="0"/>
              </a:spcAft>
              <a:buClr>
                <a:schemeClr val="dk1"/>
              </a:buClr>
              <a:buSzPts val="1800"/>
              <a:buChar char="•"/>
              <a:defRPr/>
            </a:lvl9pPr>
          </a:lstStyle>
          <a:p>
            <a:endParaRPr/>
          </a:p>
        </p:txBody>
      </p:sp>
      <p:sp>
        <p:nvSpPr>
          <p:cNvPr id="37" name="Google Shape;37;p9"/>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9"/>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9"/>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2015492" y="1168405"/>
            <a:ext cx="2523744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0"/>
          <p:cNvSpPr txBox="1">
            <a:spLocks noGrp="1"/>
          </p:cNvSpPr>
          <p:nvPr>
            <p:ph type="body" idx="1"/>
          </p:nvPr>
        </p:nvSpPr>
        <p:spPr>
          <a:xfrm>
            <a:off x="2015494" y="5379722"/>
            <a:ext cx="12378688" cy="2636518"/>
          </a:xfrm>
          <a:prstGeom prst="rect">
            <a:avLst/>
          </a:prstGeom>
          <a:noFill/>
          <a:ln>
            <a:noFill/>
          </a:ln>
        </p:spPr>
        <p:txBody>
          <a:bodyPr spcFirstLastPara="1" wrap="square" lIns="91425" tIns="45700" rIns="91425" bIns="45700" anchor="b" anchorCtr="0">
            <a:normAutofit/>
          </a:bodyPr>
          <a:lstStyle>
            <a:lvl1pPr marL="406405" lvl="0" indent="-203203" algn="l">
              <a:lnSpc>
                <a:spcPct val="90000"/>
              </a:lnSpc>
              <a:spcBef>
                <a:spcPts val="2844"/>
              </a:spcBef>
              <a:spcAft>
                <a:spcPts val="0"/>
              </a:spcAft>
              <a:buClr>
                <a:schemeClr val="dk1"/>
              </a:buClr>
              <a:buSzPts val="7680"/>
              <a:buNone/>
              <a:defRPr sz="6827" b="1"/>
            </a:lvl1pPr>
            <a:lvl2pPr marL="812810" lvl="1" indent="-203203" algn="l">
              <a:lnSpc>
                <a:spcPct val="90000"/>
              </a:lnSpc>
              <a:spcBef>
                <a:spcPts val="1422"/>
              </a:spcBef>
              <a:spcAft>
                <a:spcPts val="0"/>
              </a:spcAft>
              <a:buClr>
                <a:schemeClr val="dk1"/>
              </a:buClr>
              <a:buSzPts val="6400"/>
              <a:buNone/>
              <a:defRPr sz="5689" b="1"/>
            </a:lvl2pPr>
            <a:lvl3pPr marL="1219215" lvl="2" indent="-203203" algn="l">
              <a:lnSpc>
                <a:spcPct val="90000"/>
              </a:lnSpc>
              <a:spcBef>
                <a:spcPts val="1422"/>
              </a:spcBef>
              <a:spcAft>
                <a:spcPts val="0"/>
              </a:spcAft>
              <a:buClr>
                <a:schemeClr val="dk1"/>
              </a:buClr>
              <a:buSzPts val="5760"/>
              <a:buNone/>
              <a:defRPr sz="5120" b="1"/>
            </a:lvl3pPr>
            <a:lvl4pPr marL="1625620" lvl="3" indent="-203203" algn="l">
              <a:lnSpc>
                <a:spcPct val="90000"/>
              </a:lnSpc>
              <a:spcBef>
                <a:spcPts val="1422"/>
              </a:spcBef>
              <a:spcAft>
                <a:spcPts val="0"/>
              </a:spcAft>
              <a:buClr>
                <a:schemeClr val="dk1"/>
              </a:buClr>
              <a:buSzPts val="5120"/>
              <a:buNone/>
              <a:defRPr sz="4551" b="1"/>
            </a:lvl4pPr>
            <a:lvl5pPr marL="2032025" lvl="4" indent="-203203" algn="l">
              <a:lnSpc>
                <a:spcPct val="90000"/>
              </a:lnSpc>
              <a:spcBef>
                <a:spcPts val="1422"/>
              </a:spcBef>
              <a:spcAft>
                <a:spcPts val="0"/>
              </a:spcAft>
              <a:buClr>
                <a:schemeClr val="dk1"/>
              </a:buClr>
              <a:buSzPts val="5120"/>
              <a:buNone/>
              <a:defRPr sz="4551" b="1"/>
            </a:lvl5pPr>
            <a:lvl6pPr marL="2438430" lvl="5" indent="-203203" algn="l">
              <a:lnSpc>
                <a:spcPct val="90000"/>
              </a:lnSpc>
              <a:spcBef>
                <a:spcPts val="1422"/>
              </a:spcBef>
              <a:spcAft>
                <a:spcPts val="0"/>
              </a:spcAft>
              <a:buClr>
                <a:schemeClr val="dk1"/>
              </a:buClr>
              <a:buSzPts val="5120"/>
              <a:buNone/>
              <a:defRPr sz="4551" b="1"/>
            </a:lvl6pPr>
            <a:lvl7pPr marL="2844836" lvl="6" indent="-203203" algn="l">
              <a:lnSpc>
                <a:spcPct val="90000"/>
              </a:lnSpc>
              <a:spcBef>
                <a:spcPts val="1422"/>
              </a:spcBef>
              <a:spcAft>
                <a:spcPts val="0"/>
              </a:spcAft>
              <a:buClr>
                <a:schemeClr val="dk1"/>
              </a:buClr>
              <a:buSzPts val="5120"/>
              <a:buNone/>
              <a:defRPr sz="4551" b="1"/>
            </a:lvl7pPr>
            <a:lvl8pPr marL="3251241" lvl="7" indent="-203203" algn="l">
              <a:lnSpc>
                <a:spcPct val="90000"/>
              </a:lnSpc>
              <a:spcBef>
                <a:spcPts val="1422"/>
              </a:spcBef>
              <a:spcAft>
                <a:spcPts val="0"/>
              </a:spcAft>
              <a:buClr>
                <a:schemeClr val="dk1"/>
              </a:buClr>
              <a:buSzPts val="5120"/>
              <a:buNone/>
              <a:defRPr sz="4551" b="1"/>
            </a:lvl8pPr>
            <a:lvl9pPr marL="3657646" lvl="8" indent="-203203" algn="l">
              <a:lnSpc>
                <a:spcPct val="90000"/>
              </a:lnSpc>
              <a:spcBef>
                <a:spcPts val="1422"/>
              </a:spcBef>
              <a:spcAft>
                <a:spcPts val="0"/>
              </a:spcAft>
              <a:buClr>
                <a:schemeClr val="dk1"/>
              </a:buClr>
              <a:buSzPts val="5120"/>
              <a:buNone/>
              <a:defRPr sz="4551" b="1"/>
            </a:lvl9pPr>
          </a:lstStyle>
          <a:p>
            <a:endParaRPr/>
          </a:p>
        </p:txBody>
      </p:sp>
      <p:sp>
        <p:nvSpPr>
          <p:cNvPr id="43" name="Google Shape;43;p10"/>
          <p:cNvSpPr txBox="1">
            <a:spLocks noGrp="1"/>
          </p:cNvSpPr>
          <p:nvPr>
            <p:ph type="body" idx="2"/>
          </p:nvPr>
        </p:nvSpPr>
        <p:spPr>
          <a:xfrm>
            <a:off x="2015494" y="8016240"/>
            <a:ext cx="12378688" cy="11790682"/>
          </a:xfrm>
          <a:prstGeom prst="rect">
            <a:avLst/>
          </a:prstGeom>
          <a:noFill/>
          <a:ln>
            <a:noFill/>
          </a:ln>
        </p:spPr>
        <p:txBody>
          <a:bodyPr spcFirstLastPara="1" wrap="square" lIns="91425" tIns="45700" rIns="91425" bIns="45700" anchor="t" anchorCtr="0">
            <a:normAutofit/>
          </a:bodyPr>
          <a:lstStyle>
            <a:lvl1pPr marL="406405" lvl="0" indent="-304804" algn="l">
              <a:lnSpc>
                <a:spcPct val="90000"/>
              </a:lnSpc>
              <a:spcBef>
                <a:spcPts val="2844"/>
              </a:spcBef>
              <a:spcAft>
                <a:spcPts val="0"/>
              </a:spcAft>
              <a:buClr>
                <a:schemeClr val="dk1"/>
              </a:buClr>
              <a:buSzPts val="1800"/>
              <a:buChar char="•"/>
              <a:defRPr/>
            </a:lvl1pPr>
            <a:lvl2pPr marL="812810" lvl="1" indent="-304804" algn="l">
              <a:lnSpc>
                <a:spcPct val="90000"/>
              </a:lnSpc>
              <a:spcBef>
                <a:spcPts val="1422"/>
              </a:spcBef>
              <a:spcAft>
                <a:spcPts val="0"/>
              </a:spcAft>
              <a:buClr>
                <a:schemeClr val="dk1"/>
              </a:buClr>
              <a:buSzPts val="1800"/>
              <a:buChar char="•"/>
              <a:defRPr/>
            </a:lvl2pPr>
            <a:lvl3pPr marL="1219215" lvl="2" indent="-304804" algn="l">
              <a:lnSpc>
                <a:spcPct val="90000"/>
              </a:lnSpc>
              <a:spcBef>
                <a:spcPts val="1422"/>
              </a:spcBef>
              <a:spcAft>
                <a:spcPts val="0"/>
              </a:spcAft>
              <a:buClr>
                <a:schemeClr val="dk1"/>
              </a:buClr>
              <a:buSzPts val="1800"/>
              <a:buChar char="•"/>
              <a:defRPr/>
            </a:lvl3pPr>
            <a:lvl4pPr marL="1625620" lvl="3" indent="-304804" algn="l">
              <a:lnSpc>
                <a:spcPct val="90000"/>
              </a:lnSpc>
              <a:spcBef>
                <a:spcPts val="1422"/>
              </a:spcBef>
              <a:spcAft>
                <a:spcPts val="0"/>
              </a:spcAft>
              <a:buClr>
                <a:schemeClr val="dk1"/>
              </a:buClr>
              <a:buSzPts val="1800"/>
              <a:buChar char="•"/>
              <a:defRPr/>
            </a:lvl4pPr>
            <a:lvl5pPr marL="2032025" lvl="4" indent="-304804" algn="l">
              <a:lnSpc>
                <a:spcPct val="90000"/>
              </a:lnSpc>
              <a:spcBef>
                <a:spcPts val="1422"/>
              </a:spcBef>
              <a:spcAft>
                <a:spcPts val="0"/>
              </a:spcAft>
              <a:buClr>
                <a:schemeClr val="dk1"/>
              </a:buClr>
              <a:buSzPts val="1800"/>
              <a:buChar char="•"/>
              <a:defRPr/>
            </a:lvl5pPr>
            <a:lvl6pPr marL="2438430" lvl="5" indent="-304804" algn="l">
              <a:lnSpc>
                <a:spcPct val="90000"/>
              </a:lnSpc>
              <a:spcBef>
                <a:spcPts val="1422"/>
              </a:spcBef>
              <a:spcAft>
                <a:spcPts val="0"/>
              </a:spcAft>
              <a:buClr>
                <a:schemeClr val="dk1"/>
              </a:buClr>
              <a:buSzPts val="1800"/>
              <a:buChar char="•"/>
              <a:defRPr/>
            </a:lvl6pPr>
            <a:lvl7pPr marL="2844836" lvl="6" indent="-304804" algn="l">
              <a:lnSpc>
                <a:spcPct val="90000"/>
              </a:lnSpc>
              <a:spcBef>
                <a:spcPts val="1422"/>
              </a:spcBef>
              <a:spcAft>
                <a:spcPts val="0"/>
              </a:spcAft>
              <a:buClr>
                <a:schemeClr val="dk1"/>
              </a:buClr>
              <a:buSzPts val="1800"/>
              <a:buChar char="•"/>
              <a:defRPr/>
            </a:lvl7pPr>
            <a:lvl8pPr marL="3251241" lvl="7" indent="-304804" algn="l">
              <a:lnSpc>
                <a:spcPct val="90000"/>
              </a:lnSpc>
              <a:spcBef>
                <a:spcPts val="1422"/>
              </a:spcBef>
              <a:spcAft>
                <a:spcPts val="0"/>
              </a:spcAft>
              <a:buClr>
                <a:schemeClr val="dk1"/>
              </a:buClr>
              <a:buSzPts val="1800"/>
              <a:buChar char="•"/>
              <a:defRPr/>
            </a:lvl8pPr>
            <a:lvl9pPr marL="3657646" lvl="8" indent="-304804" algn="l">
              <a:lnSpc>
                <a:spcPct val="90000"/>
              </a:lnSpc>
              <a:spcBef>
                <a:spcPts val="1422"/>
              </a:spcBef>
              <a:spcAft>
                <a:spcPts val="0"/>
              </a:spcAft>
              <a:buClr>
                <a:schemeClr val="dk1"/>
              </a:buClr>
              <a:buSzPts val="1800"/>
              <a:buChar char="•"/>
              <a:defRPr/>
            </a:lvl9pPr>
          </a:lstStyle>
          <a:p>
            <a:endParaRPr/>
          </a:p>
        </p:txBody>
      </p:sp>
      <p:sp>
        <p:nvSpPr>
          <p:cNvPr id="44" name="Google Shape;44;p10"/>
          <p:cNvSpPr txBox="1">
            <a:spLocks noGrp="1"/>
          </p:cNvSpPr>
          <p:nvPr>
            <p:ph type="body" idx="3"/>
          </p:nvPr>
        </p:nvSpPr>
        <p:spPr>
          <a:xfrm>
            <a:off x="14813282" y="5379722"/>
            <a:ext cx="12439652" cy="2636518"/>
          </a:xfrm>
          <a:prstGeom prst="rect">
            <a:avLst/>
          </a:prstGeom>
          <a:noFill/>
          <a:ln>
            <a:noFill/>
          </a:ln>
        </p:spPr>
        <p:txBody>
          <a:bodyPr spcFirstLastPara="1" wrap="square" lIns="91425" tIns="45700" rIns="91425" bIns="45700" anchor="b" anchorCtr="0">
            <a:normAutofit/>
          </a:bodyPr>
          <a:lstStyle>
            <a:lvl1pPr marL="406405" lvl="0" indent="-203203" algn="l">
              <a:lnSpc>
                <a:spcPct val="90000"/>
              </a:lnSpc>
              <a:spcBef>
                <a:spcPts val="2844"/>
              </a:spcBef>
              <a:spcAft>
                <a:spcPts val="0"/>
              </a:spcAft>
              <a:buClr>
                <a:schemeClr val="dk1"/>
              </a:buClr>
              <a:buSzPts val="7680"/>
              <a:buNone/>
              <a:defRPr sz="6827" b="1"/>
            </a:lvl1pPr>
            <a:lvl2pPr marL="812810" lvl="1" indent="-203203" algn="l">
              <a:lnSpc>
                <a:spcPct val="90000"/>
              </a:lnSpc>
              <a:spcBef>
                <a:spcPts val="1422"/>
              </a:spcBef>
              <a:spcAft>
                <a:spcPts val="0"/>
              </a:spcAft>
              <a:buClr>
                <a:schemeClr val="dk1"/>
              </a:buClr>
              <a:buSzPts val="6400"/>
              <a:buNone/>
              <a:defRPr sz="5689" b="1"/>
            </a:lvl2pPr>
            <a:lvl3pPr marL="1219215" lvl="2" indent="-203203" algn="l">
              <a:lnSpc>
                <a:spcPct val="90000"/>
              </a:lnSpc>
              <a:spcBef>
                <a:spcPts val="1422"/>
              </a:spcBef>
              <a:spcAft>
                <a:spcPts val="0"/>
              </a:spcAft>
              <a:buClr>
                <a:schemeClr val="dk1"/>
              </a:buClr>
              <a:buSzPts val="5760"/>
              <a:buNone/>
              <a:defRPr sz="5120" b="1"/>
            </a:lvl3pPr>
            <a:lvl4pPr marL="1625620" lvl="3" indent="-203203" algn="l">
              <a:lnSpc>
                <a:spcPct val="90000"/>
              </a:lnSpc>
              <a:spcBef>
                <a:spcPts val="1422"/>
              </a:spcBef>
              <a:spcAft>
                <a:spcPts val="0"/>
              </a:spcAft>
              <a:buClr>
                <a:schemeClr val="dk1"/>
              </a:buClr>
              <a:buSzPts val="5120"/>
              <a:buNone/>
              <a:defRPr sz="4551" b="1"/>
            </a:lvl4pPr>
            <a:lvl5pPr marL="2032025" lvl="4" indent="-203203" algn="l">
              <a:lnSpc>
                <a:spcPct val="90000"/>
              </a:lnSpc>
              <a:spcBef>
                <a:spcPts val="1422"/>
              </a:spcBef>
              <a:spcAft>
                <a:spcPts val="0"/>
              </a:spcAft>
              <a:buClr>
                <a:schemeClr val="dk1"/>
              </a:buClr>
              <a:buSzPts val="5120"/>
              <a:buNone/>
              <a:defRPr sz="4551" b="1"/>
            </a:lvl5pPr>
            <a:lvl6pPr marL="2438430" lvl="5" indent="-203203" algn="l">
              <a:lnSpc>
                <a:spcPct val="90000"/>
              </a:lnSpc>
              <a:spcBef>
                <a:spcPts val="1422"/>
              </a:spcBef>
              <a:spcAft>
                <a:spcPts val="0"/>
              </a:spcAft>
              <a:buClr>
                <a:schemeClr val="dk1"/>
              </a:buClr>
              <a:buSzPts val="5120"/>
              <a:buNone/>
              <a:defRPr sz="4551" b="1"/>
            </a:lvl6pPr>
            <a:lvl7pPr marL="2844836" lvl="6" indent="-203203" algn="l">
              <a:lnSpc>
                <a:spcPct val="90000"/>
              </a:lnSpc>
              <a:spcBef>
                <a:spcPts val="1422"/>
              </a:spcBef>
              <a:spcAft>
                <a:spcPts val="0"/>
              </a:spcAft>
              <a:buClr>
                <a:schemeClr val="dk1"/>
              </a:buClr>
              <a:buSzPts val="5120"/>
              <a:buNone/>
              <a:defRPr sz="4551" b="1"/>
            </a:lvl7pPr>
            <a:lvl8pPr marL="3251241" lvl="7" indent="-203203" algn="l">
              <a:lnSpc>
                <a:spcPct val="90000"/>
              </a:lnSpc>
              <a:spcBef>
                <a:spcPts val="1422"/>
              </a:spcBef>
              <a:spcAft>
                <a:spcPts val="0"/>
              </a:spcAft>
              <a:buClr>
                <a:schemeClr val="dk1"/>
              </a:buClr>
              <a:buSzPts val="5120"/>
              <a:buNone/>
              <a:defRPr sz="4551" b="1"/>
            </a:lvl8pPr>
            <a:lvl9pPr marL="3657646" lvl="8" indent="-203203" algn="l">
              <a:lnSpc>
                <a:spcPct val="90000"/>
              </a:lnSpc>
              <a:spcBef>
                <a:spcPts val="1422"/>
              </a:spcBef>
              <a:spcAft>
                <a:spcPts val="0"/>
              </a:spcAft>
              <a:buClr>
                <a:schemeClr val="dk1"/>
              </a:buClr>
              <a:buSzPts val="5120"/>
              <a:buNone/>
              <a:defRPr sz="4551" b="1"/>
            </a:lvl9pPr>
          </a:lstStyle>
          <a:p>
            <a:endParaRPr/>
          </a:p>
        </p:txBody>
      </p:sp>
      <p:sp>
        <p:nvSpPr>
          <p:cNvPr id="45" name="Google Shape;45;p10"/>
          <p:cNvSpPr txBox="1">
            <a:spLocks noGrp="1"/>
          </p:cNvSpPr>
          <p:nvPr>
            <p:ph type="body" idx="4"/>
          </p:nvPr>
        </p:nvSpPr>
        <p:spPr>
          <a:xfrm>
            <a:off x="14813282" y="8016240"/>
            <a:ext cx="12439652" cy="11790682"/>
          </a:xfrm>
          <a:prstGeom prst="rect">
            <a:avLst/>
          </a:prstGeom>
          <a:noFill/>
          <a:ln>
            <a:noFill/>
          </a:ln>
        </p:spPr>
        <p:txBody>
          <a:bodyPr spcFirstLastPara="1" wrap="square" lIns="91425" tIns="45700" rIns="91425" bIns="45700" anchor="t" anchorCtr="0">
            <a:normAutofit/>
          </a:bodyPr>
          <a:lstStyle>
            <a:lvl1pPr marL="406405" lvl="0" indent="-304804" algn="l">
              <a:lnSpc>
                <a:spcPct val="90000"/>
              </a:lnSpc>
              <a:spcBef>
                <a:spcPts val="2844"/>
              </a:spcBef>
              <a:spcAft>
                <a:spcPts val="0"/>
              </a:spcAft>
              <a:buClr>
                <a:schemeClr val="dk1"/>
              </a:buClr>
              <a:buSzPts val="1800"/>
              <a:buChar char="•"/>
              <a:defRPr/>
            </a:lvl1pPr>
            <a:lvl2pPr marL="812810" lvl="1" indent="-304804" algn="l">
              <a:lnSpc>
                <a:spcPct val="90000"/>
              </a:lnSpc>
              <a:spcBef>
                <a:spcPts val="1422"/>
              </a:spcBef>
              <a:spcAft>
                <a:spcPts val="0"/>
              </a:spcAft>
              <a:buClr>
                <a:schemeClr val="dk1"/>
              </a:buClr>
              <a:buSzPts val="1800"/>
              <a:buChar char="•"/>
              <a:defRPr/>
            </a:lvl2pPr>
            <a:lvl3pPr marL="1219215" lvl="2" indent="-304804" algn="l">
              <a:lnSpc>
                <a:spcPct val="90000"/>
              </a:lnSpc>
              <a:spcBef>
                <a:spcPts val="1422"/>
              </a:spcBef>
              <a:spcAft>
                <a:spcPts val="0"/>
              </a:spcAft>
              <a:buClr>
                <a:schemeClr val="dk1"/>
              </a:buClr>
              <a:buSzPts val="1800"/>
              <a:buChar char="•"/>
              <a:defRPr/>
            </a:lvl3pPr>
            <a:lvl4pPr marL="1625620" lvl="3" indent="-304804" algn="l">
              <a:lnSpc>
                <a:spcPct val="90000"/>
              </a:lnSpc>
              <a:spcBef>
                <a:spcPts val="1422"/>
              </a:spcBef>
              <a:spcAft>
                <a:spcPts val="0"/>
              </a:spcAft>
              <a:buClr>
                <a:schemeClr val="dk1"/>
              </a:buClr>
              <a:buSzPts val="1800"/>
              <a:buChar char="•"/>
              <a:defRPr/>
            </a:lvl4pPr>
            <a:lvl5pPr marL="2032025" lvl="4" indent="-304804" algn="l">
              <a:lnSpc>
                <a:spcPct val="90000"/>
              </a:lnSpc>
              <a:spcBef>
                <a:spcPts val="1422"/>
              </a:spcBef>
              <a:spcAft>
                <a:spcPts val="0"/>
              </a:spcAft>
              <a:buClr>
                <a:schemeClr val="dk1"/>
              </a:buClr>
              <a:buSzPts val="1800"/>
              <a:buChar char="•"/>
              <a:defRPr/>
            </a:lvl5pPr>
            <a:lvl6pPr marL="2438430" lvl="5" indent="-304804" algn="l">
              <a:lnSpc>
                <a:spcPct val="90000"/>
              </a:lnSpc>
              <a:spcBef>
                <a:spcPts val="1422"/>
              </a:spcBef>
              <a:spcAft>
                <a:spcPts val="0"/>
              </a:spcAft>
              <a:buClr>
                <a:schemeClr val="dk1"/>
              </a:buClr>
              <a:buSzPts val="1800"/>
              <a:buChar char="•"/>
              <a:defRPr/>
            </a:lvl6pPr>
            <a:lvl7pPr marL="2844836" lvl="6" indent="-304804" algn="l">
              <a:lnSpc>
                <a:spcPct val="90000"/>
              </a:lnSpc>
              <a:spcBef>
                <a:spcPts val="1422"/>
              </a:spcBef>
              <a:spcAft>
                <a:spcPts val="0"/>
              </a:spcAft>
              <a:buClr>
                <a:schemeClr val="dk1"/>
              </a:buClr>
              <a:buSzPts val="1800"/>
              <a:buChar char="•"/>
              <a:defRPr/>
            </a:lvl7pPr>
            <a:lvl8pPr marL="3251241" lvl="7" indent="-304804" algn="l">
              <a:lnSpc>
                <a:spcPct val="90000"/>
              </a:lnSpc>
              <a:spcBef>
                <a:spcPts val="1422"/>
              </a:spcBef>
              <a:spcAft>
                <a:spcPts val="0"/>
              </a:spcAft>
              <a:buClr>
                <a:schemeClr val="dk1"/>
              </a:buClr>
              <a:buSzPts val="1800"/>
              <a:buChar char="•"/>
              <a:defRPr/>
            </a:lvl8pPr>
            <a:lvl9pPr marL="3657646" lvl="8" indent="-304804" algn="l">
              <a:lnSpc>
                <a:spcPct val="90000"/>
              </a:lnSpc>
              <a:spcBef>
                <a:spcPts val="1422"/>
              </a:spcBef>
              <a:spcAft>
                <a:spcPts val="0"/>
              </a:spcAft>
              <a:buClr>
                <a:schemeClr val="dk1"/>
              </a:buClr>
              <a:buSzPts val="1800"/>
              <a:buChar char="•"/>
              <a:defRPr/>
            </a:lvl9pPr>
          </a:lstStyle>
          <a:p>
            <a:endParaRPr/>
          </a:p>
        </p:txBody>
      </p:sp>
      <p:sp>
        <p:nvSpPr>
          <p:cNvPr id="46" name="Google Shape;46;p10"/>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0"/>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0"/>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1"/>
          <p:cNvSpPr txBox="1">
            <a:spLocks noGrp="1"/>
          </p:cNvSpPr>
          <p:nvPr>
            <p:ph type="title"/>
          </p:nvPr>
        </p:nvSpPr>
        <p:spPr>
          <a:xfrm>
            <a:off x="2011680" y="1168405"/>
            <a:ext cx="2523744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1"/>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2"/>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2"/>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2"/>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2015492" y="1463040"/>
            <a:ext cx="9437370"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910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3"/>
          <p:cNvSpPr txBox="1">
            <a:spLocks noGrp="1"/>
          </p:cNvSpPr>
          <p:nvPr>
            <p:ph type="body" idx="1"/>
          </p:nvPr>
        </p:nvSpPr>
        <p:spPr>
          <a:xfrm>
            <a:off x="12439652" y="3159765"/>
            <a:ext cx="14813280" cy="15595600"/>
          </a:xfrm>
          <a:prstGeom prst="rect">
            <a:avLst/>
          </a:prstGeom>
          <a:noFill/>
          <a:ln>
            <a:noFill/>
          </a:ln>
        </p:spPr>
        <p:txBody>
          <a:bodyPr spcFirstLastPara="1" wrap="square" lIns="91425" tIns="45700" rIns="91425" bIns="45700" anchor="t" anchorCtr="0">
            <a:normAutofit/>
          </a:bodyPr>
          <a:lstStyle>
            <a:lvl1pPr marL="406405" lvl="0" indent="-781200" algn="l">
              <a:lnSpc>
                <a:spcPct val="90000"/>
              </a:lnSpc>
              <a:spcBef>
                <a:spcPts val="2844"/>
              </a:spcBef>
              <a:spcAft>
                <a:spcPts val="0"/>
              </a:spcAft>
              <a:buClr>
                <a:schemeClr val="dk1"/>
              </a:buClr>
              <a:buSzPts val="10240"/>
              <a:buChar char="•"/>
              <a:defRPr sz="9102"/>
            </a:lvl1pPr>
            <a:lvl2pPr marL="812810" lvl="1" indent="-708951" algn="l">
              <a:lnSpc>
                <a:spcPct val="90000"/>
              </a:lnSpc>
              <a:spcBef>
                <a:spcPts val="1422"/>
              </a:spcBef>
              <a:spcAft>
                <a:spcPts val="0"/>
              </a:spcAft>
              <a:buClr>
                <a:schemeClr val="dk1"/>
              </a:buClr>
              <a:buSzPts val="8960"/>
              <a:buChar char="•"/>
              <a:defRPr sz="7965"/>
            </a:lvl2pPr>
            <a:lvl3pPr marL="1219215" lvl="2" indent="-636701" algn="l">
              <a:lnSpc>
                <a:spcPct val="90000"/>
              </a:lnSpc>
              <a:spcBef>
                <a:spcPts val="1422"/>
              </a:spcBef>
              <a:spcAft>
                <a:spcPts val="0"/>
              </a:spcAft>
              <a:buClr>
                <a:schemeClr val="dk1"/>
              </a:buClr>
              <a:buSzPts val="7680"/>
              <a:buChar char="•"/>
              <a:defRPr sz="6827"/>
            </a:lvl3pPr>
            <a:lvl4pPr marL="1625620" lvl="3" indent="-564452" algn="l">
              <a:lnSpc>
                <a:spcPct val="90000"/>
              </a:lnSpc>
              <a:spcBef>
                <a:spcPts val="1422"/>
              </a:spcBef>
              <a:spcAft>
                <a:spcPts val="0"/>
              </a:spcAft>
              <a:buClr>
                <a:schemeClr val="dk1"/>
              </a:buClr>
              <a:buSzPts val="6400"/>
              <a:buChar char="•"/>
              <a:defRPr sz="5689"/>
            </a:lvl4pPr>
            <a:lvl5pPr marL="2032025" lvl="4" indent="-564452" algn="l">
              <a:lnSpc>
                <a:spcPct val="90000"/>
              </a:lnSpc>
              <a:spcBef>
                <a:spcPts val="1422"/>
              </a:spcBef>
              <a:spcAft>
                <a:spcPts val="0"/>
              </a:spcAft>
              <a:buClr>
                <a:schemeClr val="dk1"/>
              </a:buClr>
              <a:buSzPts val="6400"/>
              <a:buChar char="•"/>
              <a:defRPr sz="5689"/>
            </a:lvl5pPr>
            <a:lvl6pPr marL="2438430" lvl="5" indent="-564452" algn="l">
              <a:lnSpc>
                <a:spcPct val="90000"/>
              </a:lnSpc>
              <a:spcBef>
                <a:spcPts val="1422"/>
              </a:spcBef>
              <a:spcAft>
                <a:spcPts val="0"/>
              </a:spcAft>
              <a:buClr>
                <a:schemeClr val="dk1"/>
              </a:buClr>
              <a:buSzPts val="6400"/>
              <a:buChar char="•"/>
              <a:defRPr sz="5689"/>
            </a:lvl6pPr>
            <a:lvl7pPr marL="2844836" lvl="6" indent="-564452" algn="l">
              <a:lnSpc>
                <a:spcPct val="90000"/>
              </a:lnSpc>
              <a:spcBef>
                <a:spcPts val="1422"/>
              </a:spcBef>
              <a:spcAft>
                <a:spcPts val="0"/>
              </a:spcAft>
              <a:buClr>
                <a:schemeClr val="dk1"/>
              </a:buClr>
              <a:buSzPts val="6400"/>
              <a:buChar char="•"/>
              <a:defRPr sz="5689"/>
            </a:lvl7pPr>
            <a:lvl8pPr marL="3251241" lvl="7" indent="-564452" algn="l">
              <a:lnSpc>
                <a:spcPct val="90000"/>
              </a:lnSpc>
              <a:spcBef>
                <a:spcPts val="1422"/>
              </a:spcBef>
              <a:spcAft>
                <a:spcPts val="0"/>
              </a:spcAft>
              <a:buClr>
                <a:schemeClr val="dk1"/>
              </a:buClr>
              <a:buSzPts val="6400"/>
              <a:buChar char="•"/>
              <a:defRPr sz="5689"/>
            </a:lvl8pPr>
            <a:lvl9pPr marL="3657646" lvl="8" indent="-564452" algn="l">
              <a:lnSpc>
                <a:spcPct val="90000"/>
              </a:lnSpc>
              <a:spcBef>
                <a:spcPts val="1422"/>
              </a:spcBef>
              <a:spcAft>
                <a:spcPts val="0"/>
              </a:spcAft>
              <a:buClr>
                <a:schemeClr val="dk1"/>
              </a:buClr>
              <a:buSzPts val="6400"/>
              <a:buChar char="•"/>
              <a:defRPr sz="5689"/>
            </a:lvl9pPr>
          </a:lstStyle>
          <a:p>
            <a:endParaRPr/>
          </a:p>
        </p:txBody>
      </p:sp>
      <p:sp>
        <p:nvSpPr>
          <p:cNvPr id="61" name="Google Shape;61;p13"/>
          <p:cNvSpPr txBox="1">
            <a:spLocks noGrp="1"/>
          </p:cNvSpPr>
          <p:nvPr>
            <p:ph type="body" idx="2"/>
          </p:nvPr>
        </p:nvSpPr>
        <p:spPr>
          <a:xfrm>
            <a:off x="2015492" y="6583680"/>
            <a:ext cx="9437370" cy="12197082"/>
          </a:xfrm>
          <a:prstGeom prst="rect">
            <a:avLst/>
          </a:prstGeom>
          <a:noFill/>
          <a:ln>
            <a:noFill/>
          </a:ln>
        </p:spPr>
        <p:txBody>
          <a:bodyPr spcFirstLastPara="1" wrap="square" lIns="91425" tIns="45700" rIns="91425" bIns="45700" anchor="t" anchorCtr="0">
            <a:normAutofit/>
          </a:bodyPr>
          <a:lstStyle>
            <a:lvl1pPr marL="406405" lvl="0" indent="-203203" algn="l">
              <a:lnSpc>
                <a:spcPct val="90000"/>
              </a:lnSpc>
              <a:spcBef>
                <a:spcPts val="2844"/>
              </a:spcBef>
              <a:spcAft>
                <a:spcPts val="0"/>
              </a:spcAft>
              <a:buClr>
                <a:schemeClr val="dk1"/>
              </a:buClr>
              <a:buSzPts val="5120"/>
              <a:buNone/>
              <a:defRPr sz="4551"/>
            </a:lvl1pPr>
            <a:lvl2pPr marL="812810" lvl="1" indent="-203203" algn="l">
              <a:lnSpc>
                <a:spcPct val="90000"/>
              </a:lnSpc>
              <a:spcBef>
                <a:spcPts val="1422"/>
              </a:spcBef>
              <a:spcAft>
                <a:spcPts val="0"/>
              </a:spcAft>
              <a:buClr>
                <a:schemeClr val="dk1"/>
              </a:buClr>
              <a:buSzPts val="4480"/>
              <a:buNone/>
              <a:defRPr sz="3982"/>
            </a:lvl2pPr>
            <a:lvl3pPr marL="1219215" lvl="2" indent="-203203" algn="l">
              <a:lnSpc>
                <a:spcPct val="90000"/>
              </a:lnSpc>
              <a:spcBef>
                <a:spcPts val="1422"/>
              </a:spcBef>
              <a:spcAft>
                <a:spcPts val="0"/>
              </a:spcAft>
              <a:buClr>
                <a:schemeClr val="dk1"/>
              </a:buClr>
              <a:buSzPts val="3840"/>
              <a:buNone/>
              <a:defRPr sz="3413"/>
            </a:lvl3pPr>
            <a:lvl4pPr marL="1625620" lvl="3" indent="-203203" algn="l">
              <a:lnSpc>
                <a:spcPct val="90000"/>
              </a:lnSpc>
              <a:spcBef>
                <a:spcPts val="1422"/>
              </a:spcBef>
              <a:spcAft>
                <a:spcPts val="0"/>
              </a:spcAft>
              <a:buClr>
                <a:schemeClr val="dk1"/>
              </a:buClr>
              <a:buSzPts val="3200"/>
              <a:buNone/>
              <a:defRPr sz="2844"/>
            </a:lvl4pPr>
            <a:lvl5pPr marL="2032025" lvl="4" indent="-203203" algn="l">
              <a:lnSpc>
                <a:spcPct val="90000"/>
              </a:lnSpc>
              <a:spcBef>
                <a:spcPts val="1422"/>
              </a:spcBef>
              <a:spcAft>
                <a:spcPts val="0"/>
              </a:spcAft>
              <a:buClr>
                <a:schemeClr val="dk1"/>
              </a:buClr>
              <a:buSzPts val="3200"/>
              <a:buNone/>
              <a:defRPr sz="2844"/>
            </a:lvl5pPr>
            <a:lvl6pPr marL="2438430" lvl="5" indent="-203203" algn="l">
              <a:lnSpc>
                <a:spcPct val="90000"/>
              </a:lnSpc>
              <a:spcBef>
                <a:spcPts val="1422"/>
              </a:spcBef>
              <a:spcAft>
                <a:spcPts val="0"/>
              </a:spcAft>
              <a:buClr>
                <a:schemeClr val="dk1"/>
              </a:buClr>
              <a:buSzPts val="3200"/>
              <a:buNone/>
              <a:defRPr sz="2844"/>
            </a:lvl6pPr>
            <a:lvl7pPr marL="2844836" lvl="6" indent="-203203" algn="l">
              <a:lnSpc>
                <a:spcPct val="90000"/>
              </a:lnSpc>
              <a:spcBef>
                <a:spcPts val="1422"/>
              </a:spcBef>
              <a:spcAft>
                <a:spcPts val="0"/>
              </a:spcAft>
              <a:buClr>
                <a:schemeClr val="dk1"/>
              </a:buClr>
              <a:buSzPts val="3200"/>
              <a:buNone/>
              <a:defRPr sz="2844"/>
            </a:lvl7pPr>
            <a:lvl8pPr marL="3251241" lvl="7" indent="-203203" algn="l">
              <a:lnSpc>
                <a:spcPct val="90000"/>
              </a:lnSpc>
              <a:spcBef>
                <a:spcPts val="1422"/>
              </a:spcBef>
              <a:spcAft>
                <a:spcPts val="0"/>
              </a:spcAft>
              <a:buClr>
                <a:schemeClr val="dk1"/>
              </a:buClr>
              <a:buSzPts val="3200"/>
              <a:buNone/>
              <a:defRPr sz="2844"/>
            </a:lvl8pPr>
            <a:lvl9pPr marL="3657646" lvl="8" indent="-203203" algn="l">
              <a:lnSpc>
                <a:spcPct val="90000"/>
              </a:lnSpc>
              <a:spcBef>
                <a:spcPts val="1422"/>
              </a:spcBef>
              <a:spcAft>
                <a:spcPts val="0"/>
              </a:spcAft>
              <a:buClr>
                <a:schemeClr val="dk1"/>
              </a:buClr>
              <a:buSzPts val="3200"/>
              <a:buNone/>
              <a:defRPr sz="2844"/>
            </a:lvl9pPr>
          </a:lstStyle>
          <a:p>
            <a:endParaRPr/>
          </a:p>
        </p:txBody>
      </p:sp>
      <p:sp>
        <p:nvSpPr>
          <p:cNvPr id="62" name="Google Shape;62;p13"/>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3"/>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2015492" y="1463040"/>
            <a:ext cx="9437370"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910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a:spLocks noGrp="1"/>
          </p:cNvSpPr>
          <p:nvPr>
            <p:ph type="pic" idx="2"/>
          </p:nvPr>
        </p:nvSpPr>
        <p:spPr>
          <a:xfrm>
            <a:off x="12439652" y="3159765"/>
            <a:ext cx="14813280" cy="15595600"/>
          </a:xfrm>
          <a:prstGeom prst="rect">
            <a:avLst/>
          </a:prstGeom>
          <a:noFill/>
          <a:ln>
            <a:noFill/>
          </a:ln>
        </p:spPr>
        <p:txBody>
          <a:bodyPr/>
          <a:lstStyle/>
          <a:p>
            <a:endParaRPr lang="en-US"/>
          </a:p>
        </p:txBody>
      </p:sp>
      <p:sp>
        <p:nvSpPr>
          <p:cNvPr id="68" name="Google Shape;68;p14"/>
          <p:cNvSpPr txBox="1">
            <a:spLocks noGrp="1"/>
          </p:cNvSpPr>
          <p:nvPr>
            <p:ph type="body" idx="1"/>
          </p:nvPr>
        </p:nvSpPr>
        <p:spPr>
          <a:xfrm>
            <a:off x="2015492" y="6583680"/>
            <a:ext cx="9437370" cy="12197082"/>
          </a:xfrm>
          <a:prstGeom prst="rect">
            <a:avLst/>
          </a:prstGeom>
          <a:noFill/>
          <a:ln>
            <a:noFill/>
          </a:ln>
        </p:spPr>
        <p:txBody>
          <a:bodyPr spcFirstLastPara="1" wrap="square" lIns="91425" tIns="45700" rIns="91425" bIns="45700" anchor="t" anchorCtr="0">
            <a:normAutofit/>
          </a:bodyPr>
          <a:lstStyle>
            <a:lvl1pPr marL="406405" lvl="0" indent="-203203" algn="l">
              <a:lnSpc>
                <a:spcPct val="90000"/>
              </a:lnSpc>
              <a:spcBef>
                <a:spcPts val="2844"/>
              </a:spcBef>
              <a:spcAft>
                <a:spcPts val="0"/>
              </a:spcAft>
              <a:buClr>
                <a:schemeClr val="dk1"/>
              </a:buClr>
              <a:buSzPts val="5120"/>
              <a:buNone/>
              <a:defRPr sz="4551"/>
            </a:lvl1pPr>
            <a:lvl2pPr marL="812810" lvl="1" indent="-203203" algn="l">
              <a:lnSpc>
                <a:spcPct val="90000"/>
              </a:lnSpc>
              <a:spcBef>
                <a:spcPts val="1422"/>
              </a:spcBef>
              <a:spcAft>
                <a:spcPts val="0"/>
              </a:spcAft>
              <a:buClr>
                <a:schemeClr val="dk1"/>
              </a:buClr>
              <a:buSzPts val="4480"/>
              <a:buNone/>
              <a:defRPr sz="3982"/>
            </a:lvl2pPr>
            <a:lvl3pPr marL="1219215" lvl="2" indent="-203203" algn="l">
              <a:lnSpc>
                <a:spcPct val="90000"/>
              </a:lnSpc>
              <a:spcBef>
                <a:spcPts val="1422"/>
              </a:spcBef>
              <a:spcAft>
                <a:spcPts val="0"/>
              </a:spcAft>
              <a:buClr>
                <a:schemeClr val="dk1"/>
              </a:buClr>
              <a:buSzPts val="3840"/>
              <a:buNone/>
              <a:defRPr sz="3413"/>
            </a:lvl3pPr>
            <a:lvl4pPr marL="1625620" lvl="3" indent="-203203" algn="l">
              <a:lnSpc>
                <a:spcPct val="90000"/>
              </a:lnSpc>
              <a:spcBef>
                <a:spcPts val="1422"/>
              </a:spcBef>
              <a:spcAft>
                <a:spcPts val="0"/>
              </a:spcAft>
              <a:buClr>
                <a:schemeClr val="dk1"/>
              </a:buClr>
              <a:buSzPts val="3200"/>
              <a:buNone/>
              <a:defRPr sz="2844"/>
            </a:lvl4pPr>
            <a:lvl5pPr marL="2032025" lvl="4" indent="-203203" algn="l">
              <a:lnSpc>
                <a:spcPct val="90000"/>
              </a:lnSpc>
              <a:spcBef>
                <a:spcPts val="1422"/>
              </a:spcBef>
              <a:spcAft>
                <a:spcPts val="0"/>
              </a:spcAft>
              <a:buClr>
                <a:schemeClr val="dk1"/>
              </a:buClr>
              <a:buSzPts val="3200"/>
              <a:buNone/>
              <a:defRPr sz="2844"/>
            </a:lvl5pPr>
            <a:lvl6pPr marL="2438430" lvl="5" indent="-203203" algn="l">
              <a:lnSpc>
                <a:spcPct val="90000"/>
              </a:lnSpc>
              <a:spcBef>
                <a:spcPts val="1422"/>
              </a:spcBef>
              <a:spcAft>
                <a:spcPts val="0"/>
              </a:spcAft>
              <a:buClr>
                <a:schemeClr val="dk1"/>
              </a:buClr>
              <a:buSzPts val="3200"/>
              <a:buNone/>
              <a:defRPr sz="2844"/>
            </a:lvl6pPr>
            <a:lvl7pPr marL="2844836" lvl="6" indent="-203203" algn="l">
              <a:lnSpc>
                <a:spcPct val="90000"/>
              </a:lnSpc>
              <a:spcBef>
                <a:spcPts val="1422"/>
              </a:spcBef>
              <a:spcAft>
                <a:spcPts val="0"/>
              </a:spcAft>
              <a:buClr>
                <a:schemeClr val="dk1"/>
              </a:buClr>
              <a:buSzPts val="3200"/>
              <a:buNone/>
              <a:defRPr sz="2844"/>
            </a:lvl7pPr>
            <a:lvl8pPr marL="3251241" lvl="7" indent="-203203" algn="l">
              <a:lnSpc>
                <a:spcPct val="90000"/>
              </a:lnSpc>
              <a:spcBef>
                <a:spcPts val="1422"/>
              </a:spcBef>
              <a:spcAft>
                <a:spcPts val="0"/>
              </a:spcAft>
              <a:buClr>
                <a:schemeClr val="dk1"/>
              </a:buClr>
              <a:buSzPts val="3200"/>
              <a:buNone/>
              <a:defRPr sz="2844"/>
            </a:lvl8pPr>
            <a:lvl9pPr marL="3657646" lvl="8" indent="-203203" algn="l">
              <a:lnSpc>
                <a:spcPct val="90000"/>
              </a:lnSpc>
              <a:spcBef>
                <a:spcPts val="1422"/>
              </a:spcBef>
              <a:spcAft>
                <a:spcPts val="0"/>
              </a:spcAft>
              <a:buClr>
                <a:schemeClr val="dk1"/>
              </a:buClr>
              <a:buSzPts val="3200"/>
              <a:buNone/>
              <a:defRPr sz="2844"/>
            </a:lvl9pPr>
          </a:lstStyle>
          <a:p>
            <a:endParaRPr/>
          </a:p>
        </p:txBody>
      </p:sp>
      <p:sp>
        <p:nvSpPr>
          <p:cNvPr id="69" name="Google Shape;69;p14"/>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2011680" y="1168405"/>
            <a:ext cx="2523744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5"/>
          <p:cNvSpPr txBox="1">
            <a:spLocks noGrp="1"/>
          </p:cNvSpPr>
          <p:nvPr>
            <p:ph type="body" idx="1"/>
          </p:nvPr>
        </p:nvSpPr>
        <p:spPr>
          <a:xfrm rot="5400000">
            <a:off x="7668259" y="185421"/>
            <a:ext cx="13924282" cy="25237440"/>
          </a:xfrm>
          <a:prstGeom prst="rect">
            <a:avLst/>
          </a:prstGeom>
          <a:noFill/>
          <a:ln>
            <a:noFill/>
          </a:ln>
        </p:spPr>
        <p:txBody>
          <a:bodyPr spcFirstLastPara="1" wrap="square" lIns="91425" tIns="45700" rIns="91425" bIns="45700" anchor="t" anchorCtr="0">
            <a:normAutofit/>
          </a:bodyPr>
          <a:lstStyle>
            <a:lvl1pPr marL="406405" lvl="0" indent="-304804" algn="l">
              <a:lnSpc>
                <a:spcPct val="90000"/>
              </a:lnSpc>
              <a:spcBef>
                <a:spcPts val="2844"/>
              </a:spcBef>
              <a:spcAft>
                <a:spcPts val="0"/>
              </a:spcAft>
              <a:buClr>
                <a:schemeClr val="dk1"/>
              </a:buClr>
              <a:buSzPts val="1800"/>
              <a:buChar char="•"/>
              <a:defRPr/>
            </a:lvl1pPr>
            <a:lvl2pPr marL="812810" lvl="1" indent="-304804" algn="l">
              <a:lnSpc>
                <a:spcPct val="90000"/>
              </a:lnSpc>
              <a:spcBef>
                <a:spcPts val="1422"/>
              </a:spcBef>
              <a:spcAft>
                <a:spcPts val="0"/>
              </a:spcAft>
              <a:buClr>
                <a:schemeClr val="dk1"/>
              </a:buClr>
              <a:buSzPts val="1800"/>
              <a:buChar char="•"/>
              <a:defRPr/>
            </a:lvl2pPr>
            <a:lvl3pPr marL="1219215" lvl="2" indent="-304804" algn="l">
              <a:lnSpc>
                <a:spcPct val="90000"/>
              </a:lnSpc>
              <a:spcBef>
                <a:spcPts val="1422"/>
              </a:spcBef>
              <a:spcAft>
                <a:spcPts val="0"/>
              </a:spcAft>
              <a:buClr>
                <a:schemeClr val="dk1"/>
              </a:buClr>
              <a:buSzPts val="1800"/>
              <a:buChar char="•"/>
              <a:defRPr/>
            </a:lvl3pPr>
            <a:lvl4pPr marL="1625620" lvl="3" indent="-304804" algn="l">
              <a:lnSpc>
                <a:spcPct val="90000"/>
              </a:lnSpc>
              <a:spcBef>
                <a:spcPts val="1422"/>
              </a:spcBef>
              <a:spcAft>
                <a:spcPts val="0"/>
              </a:spcAft>
              <a:buClr>
                <a:schemeClr val="dk1"/>
              </a:buClr>
              <a:buSzPts val="1800"/>
              <a:buChar char="•"/>
              <a:defRPr/>
            </a:lvl4pPr>
            <a:lvl5pPr marL="2032025" lvl="4" indent="-304804" algn="l">
              <a:lnSpc>
                <a:spcPct val="90000"/>
              </a:lnSpc>
              <a:spcBef>
                <a:spcPts val="1422"/>
              </a:spcBef>
              <a:spcAft>
                <a:spcPts val="0"/>
              </a:spcAft>
              <a:buClr>
                <a:schemeClr val="dk1"/>
              </a:buClr>
              <a:buSzPts val="1800"/>
              <a:buChar char="•"/>
              <a:defRPr/>
            </a:lvl5pPr>
            <a:lvl6pPr marL="2438430" lvl="5" indent="-304804" algn="l">
              <a:lnSpc>
                <a:spcPct val="90000"/>
              </a:lnSpc>
              <a:spcBef>
                <a:spcPts val="1422"/>
              </a:spcBef>
              <a:spcAft>
                <a:spcPts val="0"/>
              </a:spcAft>
              <a:buClr>
                <a:schemeClr val="dk1"/>
              </a:buClr>
              <a:buSzPts val="1800"/>
              <a:buChar char="•"/>
              <a:defRPr/>
            </a:lvl6pPr>
            <a:lvl7pPr marL="2844836" lvl="6" indent="-304804" algn="l">
              <a:lnSpc>
                <a:spcPct val="90000"/>
              </a:lnSpc>
              <a:spcBef>
                <a:spcPts val="1422"/>
              </a:spcBef>
              <a:spcAft>
                <a:spcPts val="0"/>
              </a:spcAft>
              <a:buClr>
                <a:schemeClr val="dk1"/>
              </a:buClr>
              <a:buSzPts val="1800"/>
              <a:buChar char="•"/>
              <a:defRPr/>
            </a:lvl7pPr>
            <a:lvl8pPr marL="3251241" lvl="7" indent="-304804" algn="l">
              <a:lnSpc>
                <a:spcPct val="90000"/>
              </a:lnSpc>
              <a:spcBef>
                <a:spcPts val="1422"/>
              </a:spcBef>
              <a:spcAft>
                <a:spcPts val="0"/>
              </a:spcAft>
              <a:buClr>
                <a:schemeClr val="dk1"/>
              </a:buClr>
              <a:buSzPts val="1800"/>
              <a:buChar char="•"/>
              <a:defRPr/>
            </a:lvl8pPr>
            <a:lvl9pPr marL="3657646" lvl="8" indent="-304804" algn="l">
              <a:lnSpc>
                <a:spcPct val="90000"/>
              </a:lnSpc>
              <a:spcBef>
                <a:spcPts val="1422"/>
              </a:spcBef>
              <a:spcAft>
                <a:spcPts val="0"/>
              </a:spcAft>
              <a:buClr>
                <a:schemeClr val="dk1"/>
              </a:buClr>
              <a:buSzPts val="1800"/>
              <a:buChar char="•"/>
              <a:defRPr/>
            </a:lvl9pPr>
          </a:lstStyle>
          <a:p>
            <a:endParaRPr/>
          </a:p>
        </p:txBody>
      </p:sp>
      <p:sp>
        <p:nvSpPr>
          <p:cNvPr id="75" name="Google Shape;75;p15"/>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5"/>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5"/>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rot="5400000">
            <a:off x="14795501" y="7312661"/>
            <a:ext cx="18597882" cy="6309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6"/>
          <p:cNvSpPr txBox="1">
            <a:spLocks noGrp="1"/>
          </p:cNvSpPr>
          <p:nvPr>
            <p:ph type="body" idx="1"/>
          </p:nvPr>
        </p:nvSpPr>
        <p:spPr>
          <a:xfrm rot="5400000">
            <a:off x="1993901" y="1186181"/>
            <a:ext cx="18597882" cy="18562320"/>
          </a:xfrm>
          <a:prstGeom prst="rect">
            <a:avLst/>
          </a:prstGeom>
          <a:noFill/>
          <a:ln>
            <a:noFill/>
          </a:ln>
        </p:spPr>
        <p:txBody>
          <a:bodyPr spcFirstLastPara="1" wrap="square" lIns="91425" tIns="45700" rIns="91425" bIns="45700" anchor="t" anchorCtr="0">
            <a:normAutofit/>
          </a:bodyPr>
          <a:lstStyle>
            <a:lvl1pPr marL="406405" lvl="0" indent="-304804" algn="l">
              <a:lnSpc>
                <a:spcPct val="90000"/>
              </a:lnSpc>
              <a:spcBef>
                <a:spcPts val="2844"/>
              </a:spcBef>
              <a:spcAft>
                <a:spcPts val="0"/>
              </a:spcAft>
              <a:buClr>
                <a:schemeClr val="dk1"/>
              </a:buClr>
              <a:buSzPts val="1800"/>
              <a:buChar char="•"/>
              <a:defRPr/>
            </a:lvl1pPr>
            <a:lvl2pPr marL="812810" lvl="1" indent="-304804" algn="l">
              <a:lnSpc>
                <a:spcPct val="90000"/>
              </a:lnSpc>
              <a:spcBef>
                <a:spcPts val="1422"/>
              </a:spcBef>
              <a:spcAft>
                <a:spcPts val="0"/>
              </a:spcAft>
              <a:buClr>
                <a:schemeClr val="dk1"/>
              </a:buClr>
              <a:buSzPts val="1800"/>
              <a:buChar char="•"/>
              <a:defRPr/>
            </a:lvl2pPr>
            <a:lvl3pPr marL="1219215" lvl="2" indent="-304804" algn="l">
              <a:lnSpc>
                <a:spcPct val="90000"/>
              </a:lnSpc>
              <a:spcBef>
                <a:spcPts val="1422"/>
              </a:spcBef>
              <a:spcAft>
                <a:spcPts val="0"/>
              </a:spcAft>
              <a:buClr>
                <a:schemeClr val="dk1"/>
              </a:buClr>
              <a:buSzPts val="1800"/>
              <a:buChar char="•"/>
              <a:defRPr/>
            </a:lvl3pPr>
            <a:lvl4pPr marL="1625620" lvl="3" indent="-304804" algn="l">
              <a:lnSpc>
                <a:spcPct val="90000"/>
              </a:lnSpc>
              <a:spcBef>
                <a:spcPts val="1422"/>
              </a:spcBef>
              <a:spcAft>
                <a:spcPts val="0"/>
              </a:spcAft>
              <a:buClr>
                <a:schemeClr val="dk1"/>
              </a:buClr>
              <a:buSzPts val="1800"/>
              <a:buChar char="•"/>
              <a:defRPr/>
            </a:lvl4pPr>
            <a:lvl5pPr marL="2032025" lvl="4" indent="-304804" algn="l">
              <a:lnSpc>
                <a:spcPct val="90000"/>
              </a:lnSpc>
              <a:spcBef>
                <a:spcPts val="1422"/>
              </a:spcBef>
              <a:spcAft>
                <a:spcPts val="0"/>
              </a:spcAft>
              <a:buClr>
                <a:schemeClr val="dk1"/>
              </a:buClr>
              <a:buSzPts val="1800"/>
              <a:buChar char="•"/>
              <a:defRPr/>
            </a:lvl5pPr>
            <a:lvl6pPr marL="2438430" lvl="5" indent="-304804" algn="l">
              <a:lnSpc>
                <a:spcPct val="90000"/>
              </a:lnSpc>
              <a:spcBef>
                <a:spcPts val="1422"/>
              </a:spcBef>
              <a:spcAft>
                <a:spcPts val="0"/>
              </a:spcAft>
              <a:buClr>
                <a:schemeClr val="dk1"/>
              </a:buClr>
              <a:buSzPts val="1800"/>
              <a:buChar char="•"/>
              <a:defRPr/>
            </a:lvl6pPr>
            <a:lvl7pPr marL="2844836" lvl="6" indent="-304804" algn="l">
              <a:lnSpc>
                <a:spcPct val="90000"/>
              </a:lnSpc>
              <a:spcBef>
                <a:spcPts val="1422"/>
              </a:spcBef>
              <a:spcAft>
                <a:spcPts val="0"/>
              </a:spcAft>
              <a:buClr>
                <a:schemeClr val="dk1"/>
              </a:buClr>
              <a:buSzPts val="1800"/>
              <a:buChar char="•"/>
              <a:defRPr/>
            </a:lvl7pPr>
            <a:lvl8pPr marL="3251241" lvl="7" indent="-304804" algn="l">
              <a:lnSpc>
                <a:spcPct val="90000"/>
              </a:lnSpc>
              <a:spcBef>
                <a:spcPts val="1422"/>
              </a:spcBef>
              <a:spcAft>
                <a:spcPts val="0"/>
              </a:spcAft>
              <a:buClr>
                <a:schemeClr val="dk1"/>
              </a:buClr>
              <a:buSzPts val="1800"/>
              <a:buChar char="•"/>
              <a:defRPr/>
            </a:lvl8pPr>
            <a:lvl9pPr marL="3657646" lvl="8" indent="-304804" algn="l">
              <a:lnSpc>
                <a:spcPct val="90000"/>
              </a:lnSpc>
              <a:spcBef>
                <a:spcPts val="1422"/>
              </a:spcBef>
              <a:spcAft>
                <a:spcPts val="0"/>
              </a:spcAft>
              <a:buClr>
                <a:schemeClr val="dk1"/>
              </a:buClr>
              <a:buSzPts val="1800"/>
              <a:buChar char="•"/>
              <a:defRPr/>
            </a:lvl9pPr>
          </a:lstStyle>
          <a:p>
            <a:endParaRPr/>
          </a:p>
        </p:txBody>
      </p:sp>
      <p:sp>
        <p:nvSpPr>
          <p:cNvPr id="81" name="Google Shape;81;p16"/>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6"/>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6"/>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11C4ECA-73A2-B373-C86E-FF51CC5AFF09}"/>
              </a:ext>
            </a:extLst>
          </p:cNvPr>
          <p:cNvGraphicFramePr>
            <a:graphicFrameLocks/>
          </p:cNvGraphicFramePr>
          <p:nvPr userDrawn="1">
            <p:custDataLst>
              <p:tags r:id="rId13"/>
            </p:custDataLst>
            <p:extLst>
              <p:ext uri="{D42A27DB-BD31-4B8C-83A1-F6EECF244321}">
                <p14:modId xmlns:p14="http://schemas.microsoft.com/office/powerpoint/2010/main" val="3000370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4" imgW="7772400" imgH="10058400" progId="TCLayout.ActiveDocument.1">
                  <p:embed/>
                </p:oleObj>
              </mc:Choice>
              <mc:Fallback>
                <p:oleObj name="think-cell Slide" r:id="rId14" imgW="7772400" imgH="10058400" progId="TCLayout.ActiveDocument.1">
                  <p:embed/>
                  <p:pic>
                    <p:nvPicPr>
                      <p:cNvPr id="0" name=""/>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10" name="Google Shape;10;p5"/>
          <p:cNvSpPr txBox="1">
            <a:spLocks noGrp="1"/>
          </p:cNvSpPr>
          <p:nvPr>
            <p:ph type="title"/>
          </p:nvPr>
        </p:nvSpPr>
        <p:spPr>
          <a:xfrm>
            <a:off x="2011680" y="1168405"/>
            <a:ext cx="25237440" cy="42418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4080"/>
              <a:buFont typeface="Calibri"/>
              <a:buNone/>
              <a:defRPr sz="1408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
          <p:cNvSpPr txBox="1">
            <a:spLocks noGrp="1"/>
          </p:cNvSpPr>
          <p:nvPr>
            <p:ph type="body" idx="1"/>
          </p:nvPr>
        </p:nvSpPr>
        <p:spPr>
          <a:xfrm>
            <a:off x="2011680" y="5842000"/>
            <a:ext cx="25237440" cy="13924282"/>
          </a:xfrm>
          <a:prstGeom prst="rect">
            <a:avLst/>
          </a:prstGeom>
          <a:noFill/>
          <a:ln>
            <a:noFill/>
          </a:ln>
        </p:spPr>
        <p:txBody>
          <a:bodyPr spcFirstLastPara="1" wrap="square" lIns="91425" tIns="45700" rIns="91425" bIns="45700" anchor="t" anchorCtr="0">
            <a:normAutofit/>
          </a:bodyPr>
          <a:lstStyle>
            <a:lvl1pPr marL="457200" marR="0" lvl="0" indent="-797560" algn="l" rtl="0">
              <a:lnSpc>
                <a:spcPct val="90000"/>
              </a:lnSpc>
              <a:spcBef>
                <a:spcPts val="3200"/>
              </a:spcBef>
              <a:spcAft>
                <a:spcPts val="0"/>
              </a:spcAft>
              <a:buClr>
                <a:schemeClr val="dk1"/>
              </a:buClr>
              <a:buSzPts val="8960"/>
              <a:buFont typeface="Arial"/>
              <a:buChar char="•"/>
              <a:defRPr sz="8960" b="0" i="0" u="none" strike="noStrike" cap="none">
                <a:solidFill>
                  <a:schemeClr val="dk1"/>
                </a:solidFill>
                <a:latin typeface="Calibri"/>
                <a:ea typeface="Calibri"/>
                <a:cs typeface="Calibri"/>
                <a:sym typeface="Calibri"/>
              </a:defRPr>
            </a:lvl1pPr>
            <a:lvl2pPr marL="914400" marR="0" lvl="1" indent="-716280" algn="l" rtl="0">
              <a:lnSpc>
                <a:spcPct val="90000"/>
              </a:lnSpc>
              <a:spcBef>
                <a:spcPts val="1600"/>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2pPr>
            <a:lvl3pPr marL="1371600" marR="0" lvl="2" indent="-635000" algn="l" rtl="0">
              <a:lnSpc>
                <a:spcPct val="90000"/>
              </a:lnSpc>
              <a:spcBef>
                <a:spcPts val="1600"/>
              </a:spcBef>
              <a:spcAft>
                <a:spcPts val="0"/>
              </a:spcAft>
              <a:buClr>
                <a:schemeClr val="dk1"/>
              </a:buClr>
              <a:buSzPts val="6400"/>
              <a:buFont typeface="Arial"/>
              <a:buChar char="•"/>
              <a:defRPr sz="6400" b="0" i="0" u="none" strike="noStrike" cap="none">
                <a:solidFill>
                  <a:schemeClr val="dk1"/>
                </a:solidFill>
                <a:latin typeface="Calibri"/>
                <a:ea typeface="Calibri"/>
                <a:cs typeface="Calibri"/>
                <a:sym typeface="Calibri"/>
              </a:defRPr>
            </a:lvl3pPr>
            <a:lvl4pPr marL="1828800" marR="0" lvl="3"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4pPr>
            <a:lvl5pPr marL="2286000" marR="0" lvl="4"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5pPr>
            <a:lvl6pPr marL="2743200" marR="0" lvl="5"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6pPr>
            <a:lvl7pPr marL="3200400" marR="0" lvl="6"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7pPr>
            <a:lvl8pPr marL="3657600" marR="0" lvl="7"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8pPr>
            <a:lvl9pPr marL="4114800" marR="0" lvl="8" indent="-594359"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9pPr>
          </a:lstStyle>
          <a:p>
            <a:endParaRPr/>
          </a:p>
        </p:txBody>
      </p:sp>
      <p:sp>
        <p:nvSpPr>
          <p:cNvPr id="12" name="Google Shape;12;p5"/>
          <p:cNvSpPr txBox="1">
            <a:spLocks noGrp="1"/>
          </p:cNvSpPr>
          <p:nvPr>
            <p:ph type="dt" idx="10"/>
          </p:nvPr>
        </p:nvSpPr>
        <p:spPr>
          <a:xfrm>
            <a:off x="2011680" y="20340325"/>
            <a:ext cx="6583680" cy="1168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413"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9pPr>
          </a:lstStyle>
          <a:p>
            <a:endParaRPr/>
          </a:p>
        </p:txBody>
      </p:sp>
      <p:sp>
        <p:nvSpPr>
          <p:cNvPr id="13" name="Google Shape;13;p5"/>
          <p:cNvSpPr txBox="1">
            <a:spLocks noGrp="1"/>
          </p:cNvSpPr>
          <p:nvPr>
            <p:ph type="ftr" idx="11"/>
          </p:nvPr>
        </p:nvSpPr>
        <p:spPr>
          <a:xfrm>
            <a:off x="9692640" y="20340325"/>
            <a:ext cx="9875520" cy="1168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413"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608" b="0" i="0" u="none" strike="noStrike" cap="none">
                <a:solidFill>
                  <a:schemeClr val="dk1"/>
                </a:solidFill>
                <a:latin typeface="Calibri"/>
                <a:ea typeface="Calibri"/>
                <a:cs typeface="Calibri"/>
                <a:sym typeface="Calibri"/>
              </a:defRPr>
            </a:lvl9pPr>
          </a:lstStyle>
          <a:p>
            <a:endParaRPr/>
          </a:p>
        </p:txBody>
      </p:sp>
      <p:sp>
        <p:nvSpPr>
          <p:cNvPr id="14" name="Google Shape;14;p5"/>
          <p:cNvSpPr txBox="1">
            <a:spLocks noGrp="1"/>
          </p:cNvSpPr>
          <p:nvPr>
            <p:ph type="sldNum" idx="12"/>
          </p:nvPr>
        </p:nvSpPr>
        <p:spPr>
          <a:xfrm>
            <a:off x="20665440" y="20340325"/>
            <a:ext cx="6583680" cy="11684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3413" b="0" i="0" u="none" strike="noStrike" cap="none">
                <a:solidFill>
                  <a:srgbClr val="888888"/>
                </a:solidFill>
                <a:latin typeface="Calibri"/>
                <a:ea typeface="Calibri"/>
                <a:cs typeface="Calibri"/>
                <a:sym typeface="Calibri"/>
              </a:defRPr>
            </a:lvl1pPr>
            <a:lvl2pPr marL="0" marR="0" lvl="1" indent="0" algn="r" rtl="0">
              <a:spcBef>
                <a:spcPts val="0"/>
              </a:spcBef>
              <a:buNone/>
              <a:defRPr sz="3413" b="0" i="0" u="none" strike="noStrike" cap="none">
                <a:solidFill>
                  <a:srgbClr val="888888"/>
                </a:solidFill>
                <a:latin typeface="Calibri"/>
                <a:ea typeface="Calibri"/>
                <a:cs typeface="Calibri"/>
                <a:sym typeface="Calibri"/>
              </a:defRPr>
            </a:lvl2pPr>
            <a:lvl3pPr marL="0" marR="0" lvl="2" indent="0" algn="r" rtl="0">
              <a:spcBef>
                <a:spcPts val="0"/>
              </a:spcBef>
              <a:buNone/>
              <a:defRPr sz="3413" b="0" i="0" u="none" strike="noStrike" cap="none">
                <a:solidFill>
                  <a:srgbClr val="888888"/>
                </a:solidFill>
                <a:latin typeface="Calibri"/>
                <a:ea typeface="Calibri"/>
                <a:cs typeface="Calibri"/>
                <a:sym typeface="Calibri"/>
              </a:defRPr>
            </a:lvl3pPr>
            <a:lvl4pPr marL="0" marR="0" lvl="3" indent="0" algn="r" rtl="0">
              <a:spcBef>
                <a:spcPts val="0"/>
              </a:spcBef>
              <a:buNone/>
              <a:defRPr sz="3413" b="0" i="0" u="none" strike="noStrike" cap="none">
                <a:solidFill>
                  <a:srgbClr val="888888"/>
                </a:solidFill>
                <a:latin typeface="Calibri"/>
                <a:ea typeface="Calibri"/>
                <a:cs typeface="Calibri"/>
                <a:sym typeface="Calibri"/>
              </a:defRPr>
            </a:lvl4pPr>
            <a:lvl5pPr marL="0" marR="0" lvl="4" indent="0" algn="r" rtl="0">
              <a:spcBef>
                <a:spcPts val="0"/>
              </a:spcBef>
              <a:buNone/>
              <a:defRPr sz="3413" b="0" i="0" u="none" strike="noStrike" cap="none">
                <a:solidFill>
                  <a:srgbClr val="888888"/>
                </a:solidFill>
                <a:latin typeface="Calibri"/>
                <a:ea typeface="Calibri"/>
                <a:cs typeface="Calibri"/>
                <a:sym typeface="Calibri"/>
              </a:defRPr>
            </a:lvl5pPr>
            <a:lvl6pPr marL="0" marR="0" lvl="5" indent="0" algn="r" rtl="0">
              <a:spcBef>
                <a:spcPts val="0"/>
              </a:spcBef>
              <a:buNone/>
              <a:defRPr sz="3413" b="0" i="0" u="none" strike="noStrike" cap="none">
                <a:solidFill>
                  <a:srgbClr val="888888"/>
                </a:solidFill>
                <a:latin typeface="Calibri"/>
                <a:ea typeface="Calibri"/>
                <a:cs typeface="Calibri"/>
                <a:sym typeface="Calibri"/>
              </a:defRPr>
            </a:lvl6pPr>
            <a:lvl7pPr marL="0" marR="0" lvl="6" indent="0" algn="r" rtl="0">
              <a:spcBef>
                <a:spcPts val="0"/>
              </a:spcBef>
              <a:buNone/>
              <a:defRPr sz="3413" b="0" i="0" u="none" strike="noStrike" cap="none">
                <a:solidFill>
                  <a:srgbClr val="888888"/>
                </a:solidFill>
                <a:latin typeface="Calibri"/>
                <a:ea typeface="Calibri"/>
                <a:cs typeface="Calibri"/>
                <a:sym typeface="Calibri"/>
              </a:defRPr>
            </a:lvl7pPr>
            <a:lvl8pPr marL="0" marR="0" lvl="7" indent="0" algn="r" rtl="0">
              <a:spcBef>
                <a:spcPts val="0"/>
              </a:spcBef>
              <a:buNone/>
              <a:defRPr sz="3413" b="0" i="0" u="none" strike="noStrike" cap="none">
                <a:solidFill>
                  <a:srgbClr val="888888"/>
                </a:solidFill>
                <a:latin typeface="Calibri"/>
                <a:ea typeface="Calibri"/>
                <a:cs typeface="Calibri"/>
                <a:sym typeface="Calibri"/>
              </a:defRPr>
            </a:lvl8pPr>
            <a:lvl9pPr marL="0" marR="0" lvl="8" indent="0" algn="r" rtl="0">
              <a:spcBef>
                <a:spcPts val="0"/>
              </a:spcBef>
              <a:buNone/>
              <a:defRPr sz="3413"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44"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notesSlide" Target="../notesSlides/notesSlide1.xm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3.png"/><Relationship Id="rId11" Type="http://schemas.openxmlformats.org/officeDocument/2006/relationships/image" Target="../media/image8.jpg"/><Relationship Id="rId5" Type="http://schemas.openxmlformats.org/officeDocument/2006/relationships/image" Target="../media/image2.emf"/><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oleObject" Target="../embeddings/oleObject2.bin"/><Relationship Id="rId9" Type="http://schemas.openxmlformats.org/officeDocument/2006/relationships/image" Target="../media/image6.png"/><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oleObject" Target="../embeddings/oleObject3.bin"/><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13.emf"/><Relationship Id="rId9" Type="http://schemas.openxmlformats.org/officeDocument/2006/relationships/image" Target="../media/image7.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2.xml"/><Relationship Id="rId7"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14.e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4.xml"/><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17.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6.xml"/><Relationship Id="rId7" Type="http://schemas.openxmlformats.org/officeDocument/2006/relationships/image" Target="../media/image19.png"/><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image" Target="../media/image18.emf"/><Relationship Id="rId10" Type="http://schemas.openxmlformats.org/officeDocument/2006/relationships/image" Target="../media/image20.png"/><Relationship Id="rId4" Type="http://schemas.openxmlformats.org/officeDocument/2006/relationships/oleObject" Target="../embeddings/oleObject6.bin"/><Relationship Id="rId9"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3AFF30A1-0867-A66D-ACBF-D4799878F54F}"/>
              </a:ext>
            </a:extLst>
          </p:cNvPr>
          <p:cNvGraphicFramePr>
            <a:graphicFrameLocks/>
          </p:cNvGraphicFramePr>
          <p:nvPr>
            <p:custDataLst>
              <p:tags r:id="rId1"/>
            </p:custDataLst>
            <p:extLst>
              <p:ext uri="{D42A27DB-BD31-4B8C-83A1-F6EECF244321}">
                <p14:modId xmlns:p14="http://schemas.microsoft.com/office/powerpoint/2010/main" val="28177311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09" name="Google Shape;109;p2"/>
          <p:cNvSpPr/>
          <p:nvPr/>
        </p:nvSpPr>
        <p:spPr>
          <a:xfrm>
            <a:off x="513805" y="1737092"/>
            <a:ext cx="28233191" cy="3007360"/>
          </a:xfrm>
          <a:prstGeom prst="rect">
            <a:avLst/>
          </a:prstGeom>
          <a:solidFill>
            <a:srgbClr val="A51417"/>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11" name="Google Shape;111;p2"/>
          <p:cNvSpPr txBox="1"/>
          <p:nvPr/>
        </p:nvSpPr>
        <p:spPr>
          <a:xfrm>
            <a:off x="2793738" y="3696237"/>
            <a:ext cx="23147092" cy="738499"/>
          </a:xfrm>
          <a:prstGeom prst="rect">
            <a:avLst/>
          </a:prstGeom>
          <a:noFill/>
          <a:ln>
            <a:noFill/>
          </a:ln>
        </p:spPr>
        <p:txBody>
          <a:bodyPr spcFirstLastPara="1" wrap="square" lIns="81267" tIns="40622" rIns="81267" bIns="40622" anchor="t" anchorCtr="0">
            <a:spAutoFit/>
          </a:bodyPr>
          <a:lstStyle/>
          <a:p>
            <a:pPr algn="ctr"/>
            <a:r>
              <a:rPr lang="en-US" sz="2133" b="1" dirty="0">
                <a:solidFill>
                  <a:schemeClr val="lt1"/>
                </a:solidFill>
                <a:latin typeface="Source Sans Pro"/>
                <a:ea typeface="Source Sans Pro"/>
                <a:cs typeface="Source Sans Pro"/>
                <a:sym typeface="Source Sans Pro"/>
              </a:rPr>
              <a:t>Jinyao Z. DeSandies, Christopher I. Moore</a:t>
            </a:r>
          </a:p>
          <a:p>
            <a:pPr algn="ctr"/>
            <a:r>
              <a:rPr lang="en-US" sz="2133" b="1" dirty="0">
                <a:solidFill>
                  <a:schemeClr val="lt1"/>
                </a:solidFill>
                <a:latin typeface="Source Sans Pro"/>
                <a:ea typeface="Source Sans Pro"/>
                <a:cs typeface="Source Sans Pro"/>
                <a:sym typeface="Source Sans Pro"/>
              </a:rPr>
              <a:t>Funding provided by National Institute of Neurological Disorders and Stroke for Carney Summer Scholars Program</a:t>
            </a:r>
          </a:p>
        </p:txBody>
      </p:sp>
      <p:sp>
        <p:nvSpPr>
          <p:cNvPr id="112" name="Google Shape;112;p2"/>
          <p:cNvSpPr/>
          <p:nvPr/>
        </p:nvSpPr>
        <p:spPr>
          <a:xfrm>
            <a:off x="513804" y="4728776"/>
            <a:ext cx="9299412" cy="3334013"/>
          </a:xfrm>
          <a:prstGeom prst="rect">
            <a:avLst/>
          </a:prstGeom>
          <a:solidFill>
            <a:srgbClr val="D9D9D9"/>
          </a:solidFill>
          <a:ln>
            <a:noFill/>
          </a:ln>
        </p:spPr>
        <p:txBody>
          <a:bodyPr spcFirstLastPara="1" wrap="square" lIns="81267" tIns="40622" rIns="81267" bIns="40622" anchor="ctr" anchorCtr="0">
            <a:noAutofit/>
          </a:bodyPr>
          <a:lstStyle/>
          <a:p>
            <a:pPr algn="ctr"/>
            <a:r>
              <a:rPr lang="en-US" sz="2667" dirty="0">
                <a:solidFill>
                  <a:schemeClr val="tx1"/>
                </a:solidFill>
                <a:latin typeface="Calibri"/>
                <a:ea typeface="Calibri"/>
                <a:cs typeface="Calibri"/>
                <a:sym typeface="Calibri"/>
              </a:rPr>
              <a:t>Introduction</a:t>
            </a:r>
          </a:p>
          <a:p>
            <a:pPr algn="ctr"/>
            <a:r>
              <a:rPr lang="en-US" sz="2667" dirty="0">
                <a:solidFill>
                  <a:schemeClr val="tx1"/>
                </a:solidFill>
                <a:latin typeface="Calibri"/>
                <a:ea typeface="Calibri"/>
                <a:cs typeface="Calibri"/>
                <a:sym typeface="Calibri"/>
              </a:rPr>
              <a:t>Using opensource 3D meshing software SALOME and Computational Fluid Dynamics Simulation Software OpenFOAM, a 3D model of the brain simulating temperature and fluid transfers of a neural-capillary system was created. With further work, the Rush model could recreate the exact mechanism of these systems computationally.</a:t>
            </a:r>
          </a:p>
        </p:txBody>
      </p:sp>
      <p:sp>
        <p:nvSpPr>
          <p:cNvPr id="114" name="Google Shape;114;p2"/>
          <p:cNvSpPr/>
          <p:nvPr/>
        </p:nvSpPr>
        <p:spPr>
          <a:xfrm>
            <a:off x="513804" y="8391379"/>
            <a:ext cx="9299412" cy="4126625"/>
          </a:xfrm>
          <a:prstGeom prst="rect">
            <a:avLst/>
          </a:prstGeom>
          <a:solidFill>
            <a:srgbClr val="D8D8D8"/>
          </a:solidFill>
          <a:ln>
            <a:noFill/>
          </a:ln>
        </p:spPr>
        <p:txBody>
          <a:bodyPr spcFirstLastPara="1" wrap="square" lIns="81267" tIns="40622" rIns="81267" bIns="40622" anchor="ctr" anchorCtr="0">
            <a:noAutofit/>
          </a:bodyPr>
          <a:lstStyle/>
          <a:p>
            <a:pPr algn="ctr"/>
            <a:r>
              <a:rPr lang="en-US" sz="2667" dirty="0"/>
              <a:t>Temperature Change</a:t>
            </a:r>
          </a:p>
          <a:p>
            <a:pPr algn="ctr"/>
            <a:r>
              <a:rPr lang="en-US" sz="2667" dirty="0"/>
              <a:t> </a:t>
            </a:r>
          </a:p>
          <a:p>
            <a:pPr marL="304804" indent="-304804">
              <a:buFont typeface="Arial" panose="020B0604020202020204" pitchFamily="34" charset="0"/>
              <a:buChar char="•"/>
            </a:pPr>
            <a:r>
              <a:rPr lang="en-US" sz="2222" dirty="0"/>
              <a:t>Axons near vasculature should either benefit from being inhibited, or fire more commonly than other neurons. </a:t>
            </a:r>
          </a:p>
          <a:p>
            <a:pPr marL="304804" indent="-304804">
              <a:buFont typeface="Arial" panose="020B0604020202020204" pitchFamily="34" charset="0"/>
              <a:buChar char="•"/>
            </a:pPr>
            <a:r>
              <a:rPr lang="en-US" sz="2222" dirty="0"/>
              <a:t>This wraparound effect was found in 2-Photon Imaging demonstrating action potentials coupled with neural signals.</a:t>
            </a:r>
          </a:p>
          <a:p>
            <a:pPr marL="304804" indent="-304804">
              <a:buFont typeface="Arial" panose="020B0604020202020204" pitchFamily="34" charset="0"/>
              <a:buChar char="•"/>
            </a:pPr>
            <a:r>
              <a:rPr lang="en-US" sz="2222" dirty="0"/>
              <a:t>The characteristic diffusion length formula calculations yield that conduction should travel 10 cm over 20 seconds, which in a micron-level system should mean full mixing</a:t>
            </a:r>
          </a:p>
          <a:p>
            <a:pPr algn="ctr"/>
            <a:endParaRPr sz="2667" dirty="0">
              <a:solidFill>
                <a:schemeClr val="lt1"/>
              </a:solidFill>
              <a:latin typeface="Calibri"/>
              <a:ea typeface="Calibri"/>
              <a:cs typeface="Calibri"/>
              <a:sym typeface="Calibri"/>
            </a:endParaRPr>
          </a:p>
        </p:txBody>
      </p:sp>
      <p:sp>
        <p:nvSpPr>
          <p:cNvPr id="116" name="Google Shape;116;p2"/>
          <p:cNvSpPr/>
          <p:nvPr/>
        </p:nvSpPr>
        <p:spPr>
          <a:xfrm>
            <a:off x="19496676" y="17201148"/>
            <a:ext cx="9764124" cy="1683951"/>
          </a:xfrm>
          <a:prstGeom prst="rect">
            <a:avLst/>
          </a:prstGeom>
          <a:solidFill>
            <a:srgbClr val="D8D8D8"/>
          </a:solidFill>
          <a:ln>
            <a:noFill/>
          </a:ln>
        </p:spPr>
        <p:txBody>
          <a:bodyPr spcFirstLastPara="1" wrap="square" lIns="81267" tIns="40622" rIns="81267" bIns="40622" anchor="ctr" anchorCtr="0">
            <a:noAutofit/>
          </a:bodyPr>
          <a:lstStyle/>
          <a:p>
            <a:pPr lvl="0" algn="ctr"/>
            <a:r>
              <a:rPr lang="en-US" sz="1244" b="1" dirty="0">
                <a:solidFill>
                  <a:schemeClr val="tx1"/>
                </a:solidFill>
                <a:latin typeface="Arial" panose="020B0604020202020204" pitchFamily="34" charset="0"/>
                <a:cs typeface="Arial" panose="020B0604020202020204" pitchFamily="34" charset="0"/>
              </a:rPr>
              <a:t>\</a:t>
            </a:r>
            <a:endParaRPr lang="en-US" sz="1244" dirty="0">
              <a:solidFill>
                <a:schemeClr val="tx1"/>
              </a:solidFill>
              <a:latin typeface="Arial" panose="020B0604020202020204" pitchFamily="34" charset="0"/>
              <a:ea typeface="Calibri"/>
              <a:cs typeface="Arial" panose="020B0604020202020204" pitchFamily="34" charset="0"/>
              <a:sym typeface="Calibri"/>
            </a:endParaRPr>
          </a:p>
          <a:p>
            <a:pPr lvl="0" algn="ctr"/>
            <a:r>
              <a:rPr lang="en-US" sz="2222" dirty="0">
                <a:solidFill>
                  <a:schemeClr val="tx1"/>
                </a:solidFill>
                <a:latin typeface="Arial" panose="020B0604020202020204" pitchFamily="34" charset="0"/>
                <a:ea typeface="Calibri"/>
                <a:cs typeface="Arial" panose="020B0604020202020204" pitchFamily="34" charset="0"/>
                <a:sym typeface="Calibri"/>
              </a:rPr>
              <a:t>The Starling Equation can be qualified as a tight race between the hydrostatic and oncotic pressure. Combined with the fluid dynamics driven by temperature, neural systems can be be designed to exchange neurotransmitters without wired connections</a:t>
            </a:r>
            <a:endParaRPr sz="1244" dirty="0">
              <a:solidFill>
                <a:schemeClr val="tx1"/>
              </a:solidFill>
              <a:latin typeface="Arial" panose="020B0604020202020204" pitchFamily="34" charset="0"/>
              <a:ea typeface="Calibri"/>
              <a:cs typeface="Arial" panose="020B0604020202020204" pitchFamily="34" charset="0"/>
              <a:sym typeface="Calibri"/>
            </a:endParaRPr>
          </a:p>
        </p:txBody>
      </p:sp>
      <p:sp>
        <p:nvSpPr>
          <p:cNvPr id="117" name="Google Shape;117;p2"/>
          <p:cNvSpPr/>
          <p:nvPr/>
        </p:nvSpPr>
        <p:spPr>
          <a:xfrm>
            <a:off x="19496677" y="8150561"/>
            <a:ext cx="9313269" cy="4671156"/>
          </a:xfrm>
          <a:prstGeom prst="rect">
            <a:avLst/>
          </a:prstGeom>
          <a:solidFill>
            <a:srgbClr val="D8D8D8"/>
          </a:solidFill>
          <a:ln>
            <a:noFill/>
          </a:ln>
        </p:spPr>
        <p:txBody>
          <a:bodyPr spcFirstLastPara="1" wrap="square" lIns="81267" tIns="40622" rIns="81267" bIns="40622" anchor="ctr" anchorCtr="0">
            <a:noAutofit/>
          </a:bodyPr>
          <a:lstStyle/>
          <a:p>
            <a:pPr algn="ctr"/>
            <a:r>
              <a:rPr lang="en-US" sz="2667" dirty="0"/>
              <a:t>Liquid Convection</a:t>
            </a:r>
          </a:p>
          <a:p>
            <a:pPr algn="ctr"/>
            <a:r>
              <a:rPr lang="en-US" sz="2667" dirty="0"/>
              <a:t> </a:t>
            </a:r>
          </a:p>
          <a:p>
            <a:pPr marL="304804" indent="-304804">
              <a:buFont typeface="Arial" panose="020B0604020202020204" pitchFamily="34" charset="0"/>
              <a:buChar char="•"/>
            </a:pPr>
            <a:r>
              <a:rPr lang="en-US" sz="2222" dirty="0"/>
              <a:t>Because of temperature differences between the hotter outer shell and cooler inside pipe, the fluid being cools by the pipe rapidly exits downward as they increase in density due to less movement.</a:t>
            </a:r>
          </a:p>
          <a:p>
            <a:pPr marL="304804" indent="-304804">
              <a:buFont typeface="Arial" panose="020B0604020202020204" pitchFamily="34" charset="0"/>
              <a:buChar char="•"/>
            </a:pPr>
            <a:endParaRPr lang="en-US" sz="2222" dirty="0"/>
          </a:p>
          <a:p>
            <a:pPr marL="304804" indent="-304804">
              <a:buFont typeface="Arial" panose="020B0604020202020204" pitchFamily="34" charset="0"/>
              <a:buChar char="•"/>
            </a:pPr>
            <a:r>
              <a:rPr lang="en-US" sz="2222" dirty="0"/>
              <a:t>A potential mechanism for rapid, controllable fluid transfer in Brain. Chemicals within the system can flow in ways to mix into new signaling chemicals </a:t>
            </a:r>
          </a:p>
          <a:p>
            <a:pPr marL="304804" indent="-304804">
              <a:buFont typeface="Arial" panose="020B0604020202020204" pitchFamily="34" charset="0"/>
              <a:buChar char="•"/>
            </a:pPr>
            <a:endParaRPr lang="en-US" sz="2222" dirty="0"/>
          </a:p>
          <a:p>
            <a:pPr marL="304804" indent="-304804">
              <a:buFont typeface="Arial" panose="020B0604020202020204" pitchFamily="34" charset="0"/>
              <a:buChar char="•"/>
            </a:pPr>
            <a:r>
              <a:rPr lang="en-US" sz="2222" dirty="0"/>
              <a:t>Ca and K can be transmitted across systems, as so neurons could fire together without wiring together</a:t>
            </a:r>
            <a:endParaRPr sz="2667" dirty="0">
              <a:solidFill>
                <a:schemeClr val="lt1"/>
              </a:solidFill>
              <a:latin typeface="Calibri"/>
              <a:ea typeface="Calibri"/>
              <a:cs typeface="Calibri"/>
              <a:sym typeface="Calibri"/>
            </a:endParaRPr>
          </a:p>
        </p:txBody>
      </p:sp>
      <p:sp>
        <p:nvSpPr>
          <p:cNvPr id="118" name="Google Shape;118;p2"/>
          <p:cNvSpPr/>
          <p:nvPr/>
        </p:nvSpPr>
        <p:spPr>
          <a:xfrm>
            <a:off x="513805" y="19213689"/>
            <a:ext cx="28296143" cy="1096851"/>
          </a:xfrm>
          <a:prstGeom prst="rect">
            <a:avLst/>
          </a:prstGeom>
          <a:solidFill>
            <a:srgbClr val="F2F2F2"/>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19" name="Google Shape;119;p2"/>
          <p:cNvSpPr txBox="1"/>
          <p:nvPr/>
        </p:nvSpPr>
        <p:spPr>
          <a:xfrm>
            <a:off x="665546" y="19328391"/>
            <a:ext cx="6405815" cy="847888"/>
          </a:xfrm>
          <a:prstGeom prst="rect">
            <a:avLst/>
          </a:prstGeom>
          <a:noFill/>
          <a:ln>
            <a:noFill/>
          </a:ln>
        </p:spPr>
        <p:txBody>
          <a:bodyPr spcFirstLastPara="1" wrap="square" lIns="81267" tIns="40622" rIns="81267" bIns="40622" anchor="t" anchorCtr="0">
            <a:spAutoFit/>
          </a:bodyPr>
          <a:lstStyle/>
          <a:p>
            <a:pPr lvl="0"/>
            <a:r>
              <a:rPr lang="en-US" sz="1244" dirty="0"/>
              <a:t>Pc − Pi = hydrostatic pressure gradient</a:t>
            </a:r>
          </a:p>
          <a:p>
            <a:pPr lvl="0"/>
            <a:r>
              <a:rPr lang="el-GR" sz="1244" dirty="0"/>
              <a:t>Π</a:t>
            </a:r>
            <a:r>
              <a:rPr lang="en-US" sz="1244" dirty="0"/>
              <a:t>c − </a:t>
            </a:r>
            <a:r>
              <a:rPr lang="el-GR" sz="1244" dirty="0"/>
              <a:t>Π</a:t>
            </a:r>
            <a:r>
              <a:rPr lang="en-US" sz="1244" dirty="0" err="1"/>
              <a:t>i</a:t>
            </a:r>
            <a:r>
              <a:rPr lang="en-US" sz="1244" dirty="0"/>
              <a:t> = oncotic pressure gradient</a:t>
            </a:r>
          </a:p>
          <a:p>
            <a:pPr lvl="0"/>
            <a:r>
              <a:rPr lang="en-US" sz="1244" dirty="0" err="1"/>
              <a:t>LpS</a:t>
            </a:r>
            <a:r>
              <a:rPr lang="en-US" sz="1244" dirty="0"/>
              <a:t> = capillary filtration coefficient</a:t>
            </a:r>
          </a:p>
          <a:p>
            <a:pPr lvl="0"/>
            <a:r>
              <a:rPr lang="el-GR" sz="1244" dirty="0"/>
              <a:t>σ = </a:t>
            </a:r>
            <a:r>
              <a:rPr lang="en-US" sz="1244" dirty="0"/>
              <a:t>reflection (protein permeability) coefficient</a:t>
            </a:r>
            <a:endParaRPr sz="1244" dirty="0"/>
          </a:p>
        </p:txBody>
      </p:sp>
      <p:sp>
        <p:nvSpPr>
          <p:cNvPr id="120" name="Google Shape;120;p2"/>
          <p:cNvSpPr txBox="1"/>
          <p:nvPr/>
        </p:nvSpPr>
        <p:spPr>
          <a:xfrm>
            <a:off x="25412518" y="19502395"/>
            <a:ext cx="3273636" cy="464963"/>
          </a:xfrm>
          <a:prstGeom prst="rect">
            <a:avLst/>
          </a:prstGeom>
          <a:noFill/>
          <a:ln>
            <a:noFill/>
          </a:ln>
        </p:spPr>
        <p:txBody>
          <a:bodyPr spcFirstLastPara="1" wrap="square" lIns="81267" tIns="40622" rIns="81267" bIns="40622" anchor="t" anchorCtr="0">
            <a:spAutoFit/>
          </a:bodyPr>
          <a:lstStyle/>
          <a:p>
            <a:r>
              <a:rPr lang="en-US" sz="1244" dirty="0">
                <a:solidFill>
                  <a:schemeClr val="dk1"/>
                </a:solidFill>
                <a:latin typeface="Source Sans Pro"/>
                <a:ea typeface="Source Sans Pro"/>
                <a:cs typeface="Source Sans Pro"/>
                <a:sym typeface="Source Sans Pro"/>
              </a:rPr>
              <a:t>Special Thanks to Spike Lab, Dept. Neuroscience, Pomona College, Claremont CA</a:t>
            </a:r>
          </a:p>
        </p:txBody>
      </p:sp>
      <p:sp>
        <p:nvSpPr>
          <p:cNvPr id="121" name="Google Shape;121;p2"/>
          <p:cNvSpPr/>
          <p:nvPr/>
        </p:nvSpPr>
        <p:spPr>
          <a:xfrm>
            <a:off x="22801869" y="19371734"/>
            <a:ext cx="2489851" cy="805511"/>
          </a:xfrm>
          <a:prstGeom prst="rect">
            <a:avLst/>
          </a:prstGeom>
          <a:solidFill>
            <a:srgbClr val="BFBFBF"/>
          </a:solidFill>
          <a:ln>
            <a:noFill/>
          </a:ln>
        </p:spPr>
        <p:txBody>
          <a:bodyPr spcFirstLastPara="1" wrap="square" lIns="81267" tIns="40622" rIns="81267" bIns="40622" anchor="ctr" anchorCtr="0">
            <a:noAutofit/>
          </a:bodyPr>
          <a:lstStyle/>
          <a:p>
            <a:pPr algn="ctr"/>
            <a:endParaRPr sz="1244">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8149C223-DA3F-CEC0-8167-0F43E5ADC675}"/>
              </a:ext>
            </a:extLst>
          </p:cNvPr>
          <p:cNvPicPr>
            <a:picLocks noChangeAspect="1"/>
          </p:cNvPicPr>
          <p:nvPr/>
        </p:nvPicPr>
        <p:blipFill>
          <a:blip r:embed="rId6"/>
          <a:stretch>
            <a:fillRect/>
          </a:stretch>
        </p:blipFill>
        <p:spPr>
          <a:xfrm>
            <a:off x="25538643" y="1834140"/>
            <a:ext cx="1579638" cy="2683988"/>
          </a:xfrm>
          <a:prstGeom prst="rect">
            <a:avLst/>
          </a:prstGeom>
        </p:spPr>
      </p:pic>
      <p:sp>
        <p:nvSpPr>
          <p:cNvPr id="4" name="Google Shape;90;p1">
            <a:extLst>
              <a:ext uri="{FF2B5EF4-FFF2-40B4-BE49-F238E27FC236}">
                <a16:creationId xmlns:a16="http://schemas.microsoft.com/office/drawing/2014/main" id="{8F9E6E47-D668-FC3B-EB1F-338D4E76BC7F}"/>
              </a:ext>
            </a:extLst>
          </p:cNvPr>
          <p:cNvSpPr txBox="1"/>
          <p:nvPr/>
        </p:nvSpPr>
        <p:spPr>
          <a:xfrm>
            <a:off x="1069858" y="2596650"/>
            <a:ext cx="4180031" cy="1723641"/>
          </a:xfrm>
          <a:prstGeom prst="rect">
            <a:avLst/>
          </a:prstGeom>
          <a:noFill/>
          <a:ln>
            <a:noFill/>
          </a:ln>
        </p:spPr>
        <p:txBody>
          <a:bodyPr spcFirstLastPara="1" wrap="square" lIns="81267" tIns="40622" rIns="81267" bIns="40622" anchor="t" anchorCtr="0">
            <a:spAutoFit/>
          </a:bodyPr>
          <a:lstStyle/>
          <a:p>
            <a:pPr algn="ctr"/>
            <a:r>
              <a:rPr lang="en-US" sz="3556" dirty="0">
                <a:solidFill>
                  <a:schemeClr val="lt1"/>
                </a:solidFill>
                <a:latin typeface="Source Sans Pro"/>
                <a:ea typeface="Source Sans Pro"/>
                <a:cs typeface="Source Sans Pro"/>
                <a:sym typeface="Source Sans Pro"/>
              </a:rPr>
              <a:t>Carney Center For Brain Science</a:t>
            </a:r>
          </a:p>
          <a:p>
            <a:pPr algn="ctr"/>
            <a:r>
              <a:rPr lang="en-US" sz="3556" dirty="0">
                <a:solidFill>
                  <a:schemeClr val="lt1"/>
                </a:solidFill>
                <a:latin typeface="Source Sans Pro"/>
                <a:ea typeface="Source Sans Pro"/>
                <a:cs typeface="Source Sans Pro"/>
                <a:sym typeface="Source Sans Pro"/>
              </a:rPr>
              <a:t>SREIP for VLANS</a:t>
            </a:r>
            <a:endParaRPr sz="3556" dirty="0">
              <a:solidFill>
                <a:schemeClr val="dk1"/>
              </a:solidFill>
              <a:latin typeface="Source Sans Pro"/>
              <a:ea typeface="Source Sans Pro"/>
              <a:cs typeface="Source Sans Pro"/>
              <a:sym typeface="Source Sans Pro"/>
            </a:endParaRPr>
          </a:p>
        </p:txBody>
      </p:sp>
      <p:sp>
        <p:nvSpPr>
          <p:cNvPr id="5" name="Google Shape;91;p1">
            <a:extLst>
              <a:ext uri="{FF2B5EF4-FFF2-40B4-BE49-F238E27FC236}">
                <a16:creationId xmlns:a16="http://schemas.microsoft.com/office/drawing/2014/main" id="{520945E2-F691-8B86-F7D9-43BAD3D4F128}"/>
              </a:ext>
            </a:extLst>
          </p:cNvPr>
          <p:cNvSpPr txBox="1"/>
          <p:nvPr/>
        </p:nvSpPr>
        <p:spPr>
          <a:xfrm>
            <a:off x="5624832" y="2158028"/>
            <a:ext cx="18649329" cy="1586808"/>
          </a:xfrm>
          <a:prstGeom prst="rect">
            <a:avLst/>
          </a:prstGeom>
          <a:noFill/>
          <a:ln>
            <a:noFill/>
          </a:ln>
        </p:spPr>
        <p:txBody>
          <a:bodyPr spcFirstLastPara="1" wrap="square" lIns="81267" tIns="40622" rIns="81267" bIns="40622" anchor="t" anchorCtr="0">
            <a:spAutoFit/>
          </a:bodyPr>
          <a:lstStyle/>
          <a:p>
            <a:pPr algn="ctr"/>
            <a:r>
              <a:rPr lang="en-US" sz="4267" b="1" dirty="0">
                <a:solidFill>
                  <a:schemeClr val="lt1"/>
                </a:solidFill>
                <a:latin typeface="Source Sans Pro"/>
                <a:ea typeface="Source Sans Pro"/>
                <a:cs typeface="Source Sans Pro"/>
                <a:sym typeface="Source Sans Pro"/>
              </a:rPr>
              <a:t>Rush: A 3d Computational Fluid Model of Neuro-Vascular Coupling as a mechanism for Heat Management and Biochemical Computing</a:t>
            </a:r>
          </a:p>
          <a:p>
            <a:pPr algn="ctr"/>
            <a:endParaRPr sz="1244" dirty="0"/>
          </a:p>
        </p:txBody>
      </p:sp>
      <p:pic>
        <p:nvPicPr>
          <p:cNvPr id="10" name="Picture 9">
            <a:extLst>
              <a:ext uri="{FF2B5EF4-FFF2-40B4-BE49-F238E27FC236}">
                <a16:creationId xmlns:a16="http://schemas.microsoft.com/office/drawing/2014/main" id="{F29803AD-B8D2-CD56-D82C-E2285B64840B}"/>
              </a:ext>
            </a:extLst>
          </p:cNvPr>
          <p:cNvPicPr>
            <a:picLocks noChangeAspect="1"/>
          </p:cNvPicPr>
          <p:nvPr/>
        </p:nvPicPr>
        <p:blipFill>
          <a:blip r:embed="rId7"/>
          <a:srcRect l="22397" r="22341" b="1622"/>
          <a:stretch>
            <a:fillRect/>
          </a:stretch>
        </p:blipFill>
        <p:spPr>
          <a:xfrm>
            <a:off x="11809874" y="12436405"/>
            <a:ext cx="7526111" cy="6551527"/>
          </a:xfrm>
          <a:prstGeom prst="rect">
            <a:avLst/>
          </a:prstGeom>
        </p:spPr>
      </p:pic>
      <p:pic>
        <p:nvPicPr>
          <p:cNvPr id="16" name="Picture 15">
            <a:extLst>
              <a:ext uri="{FF2B5EF4-FFF2-40B4-BE49-F238E27FC236}">
                <a16:creationId xmlns:a16="http://schemas.microsoft.com/office/drawing/2014/main" id="{F44C9DCB-8ED4-37B8-14BE-B782D49B8804}"/>
              </a:ext>
            </a:extLst>
          </p:cNvPr>
          <p:cNvPicPr>
            <a:picLocks noChangeAspect="1"/>
          </p:cNvPicPr>
          <p:nvPr/>
        </p:nvPicPr>
        <p:blipFill>
          <a:blip r:embed="rId8"/>
          <a:srcRect l="46592" t="24784" r="20642" b="9003"/>
          <a:stretch>
            <a:fillRect/>
          </a:stretch>
        </p:blipFill>
        <p:spPr>
          <a:xfrm>
            <a:off x="13519571" y="5015094"/>
            <a:ext cx="5816414" cy="7068835"/>
          </a:xfrm>
          <a:prstGeom prst="rect">
            <a:avLst/>
          </a:prstGeom>
        </p:spPr>
      </p:pic>
      <mc:AlternateContent xmlns:mc="http://schemas.openxmlformats.org/markup-compatibility/2006">
        <mc:Choice xmlns:a14="http://schemas.microsoft.com/office/drawing/2010/main" Requires="a14">
          <p:sp>
            <p:nvSpPr>
              <p:cNvPr id="17" name="Google Shape;114;p2">
                <a:extLst>
                  <a:ext uri="{FF2B5EF4-FFF2-40B4-BE49-F238E27FC236}">
                    <a16:creationId xmlns:a16="http://schemas.microsoft.com/office/drawing/2014/main" id="{5C609C30-71C9-F18B-B67A-09F52BF55D30}"/>
                  </a:ext>
                </a:extLst>
              </p:cNvPr>
              <p:cNvSpPr/>
              <p:nvPr/>
            </p:nvSpPr>
            <p:spPr>
              <a:xfrm>
                <a:off x="19496676" y="4744452"/>
                <a:ext cx="9272692" cy="3148820"/>
              </a:xfrm>
              <a:prstGeom prst="rect">
                <a:avLst/>
              </a:prstGeom>
              <a:solidFill>
                <a:srgbClr val="D8D8D8"/>
              </a:solidFill>
              <a:ln>
                <a:noFill/>
              </a:ln>
            </p:spPr>
            <p:txBody>
              <a:bodyPr spcFirstLastPara="1" wrap="square" lIns="81267" tIns="40622" rIns="81267" bIns="40622" anchor="ctr" anchorCtr="0">
                <a:noAutofit/>
              </a:bodyPr>
              <a:lstStyle/>
              <a:p>
                <a:pPr lvl="0" algn="ctr"/>
                <a:r>
                  <a:rPr lang="en-US" sz="2844" b="1" dirty="0">
                    <a:solidFill>
                      <a:schemeClr val="tx1"/>
                    </a:solidFill>
                    <a:latin typeface="Arial" panose="020B0604020202020204" pitchFamily="34" charset="0"/>
                    <a:cs typeface="Arial" panose="020B0604020202020204" pitchFamily="34" charset="0"/>
                  </a:rPr>
                  <a:t>Equations of interest</a:t>
                </a:r>
              </a:p>
              <a:p>
                <a:pPr algn="ctr"/>
                <a:r>
                  <a:rPr lang="en-US" sz="2844" dirty="0">
                    <a:solidFill>
                      <a:schemeClr val="tx1"/>
                    </a:solidFill>
                    <a:latin typeface="Arial" panose="020B0604020202020204" pitchFamily="34" charset="0"/>
                    <a:cs typeface="Arial" panose="020B0604020202020204" pitchFamily="34" charset="0"/>
                  </a:rPr>
                  <a:t>Characteristic Diffusion Length</a:t>
                </a:r>
              </a:p>
              <a:p>
                <a:pPr algn="ctr"/>
                <a14:m>
                  <m:oMathPara xmlns:m="http://schemas.openxmlformats.org/officeDocument/2006/math">
                    <m:oMathParaPr>
                      <m:jc m:val="centerGroup"/>
                    </m:oMathParaPr>
                    <m:oMath xmlns:m="http://schemas.openxmlformats.org/officeDocument/2006/math">
                      <m:sSub>
                        <m:sSubPr>
                          <m:ctrlPr>
                            <a:rPr lang="en-US" sz="2844" b="1" i="1">
                              <a:solidFill>
                                <a:schemeClr val="tx1"/>
                              </a:solidFill>
                              <a:latin typeface="Cambria Math" panose="02040503050406030204" pitchFamily="18" charset="0"/>
                              <a:cs typeface="Arial" panose="020B0604020202020204" pitchFamily="34" charset="0"/>
                            </a:rPr>
                          </m:ctrlPr>
                        </m:sSubPr>
                        <m:e>
                          <m:r>
                            <a:rPr lang="en-US" sz="2844" b="1" i="1">
                              <a:solidFill>
                                <a:schemeClr val="tx1"/>
                              </a:solidFill>
                              <a:latin typeface="Cambria Math" panose="02040503050406030204" pitchFamily="18" charset="0"/>
                              <a:cs typeface="Arial" panose="020B0604020202020204" pitchFamily="34" charset="0"/>
                            </a:rPr>
                            <m:t>𝒍</m:t>
                          </m:r>
                        </m:e>
                        <m:sub>
                          <m:r>
                            <a:rPr lang="en-US" sz="2844" b="1" i="1">
                              <a:solidFill>
                                <a:schemeClr val="tx1"/>
                              </a:solidFill>
                              <a:latin typeface="Cambria Math" panose="02040503050406030204" pitchFamily="18" charset="0"/>
                              <a:cs typeface="Arial" panose="020B0604020202020204" pitchFamily="34" charset="0"/>
                            </a:rPr>
                            <m:t>𝒊</m:t>
                          </m:r>
                        </m:sub>
                      </m:sSub>
                      <m:r>
                        <a:rPr lang="en-US" sz="2844" b="1" i="1">
                          <a:solidFill>
                            <a:schemeClr val="tx1"/>
                          </a:solidFill>
                          <a:latin typeface="Cambria Math" panose="02040503050406030204" pitchFamily="18" charset="0"/>
                          <a:cs typeface="Arial" panose="020B0604020202020204" pitchFamily="34" charset="0"/>
                        </a:rPr>
                        <m:t>=</m:t>
                      </m:r>
                      <m:rad>
                        <m:radPr>
                          <m:degHide m:val="on"/>
                          <m:ctrlPr>
                            <a:rPr lang="en-US" sz="2844" b="1" i="1">
                              <a:solidFill>
                                <a:schemeClr val="tx1"/>
                              </a:solidFill>
                              <a:latin typeface="Cambria Math" panose="02040503050406030204" pitchFamily="18" charset="0"/>
                              <a:cs typeface="Arial" panose="020B0604020202020204" pitchFamily="34" charset="0"/>
                            </a:rPr>
                          </m:ctrlPr>
                        </m:radPr>
                        <m:deg/>
                        <m:e>
                          <m:r>
                            <a:rPr lang="en-US" sz="2844" b="1" i="1">
                              <a:solidFill>
                                <a:schemeClr val="tx1"/>
                              </a:solidFill>
                              <a:latin typeface="Cambria Math" panose="02040503050406030204" pitchFamily="18" charset="0"/>
                              <a:cs typeface="Arial" panose="020B0604020202020204" pitchFamily="34" charset="0"/>
                            </a:rPr>
                            <m:t>𝟒</m:t>
                          </m:r>
                          <m:r>
                            <a:rPr lang="en-US" sz="2844" b="1" i="1">
                              <a:solidFill>
                                <a:schemeClr val="tx1"/>
                              </a:solidFill>
                              <a:latin typeface="Cambria Math" panose="02040503050406030204" pitchFamily="18" charset="0"/>
                              <a:cs typeface="Arial" panose="020B0604020202020204" pitchFamily="34" charset="0"/>
                            </a:rPr>
                            <m:t>𝜶</m:t>
                          </m:r>
                          <m:r>
                            <a:rPr lang="en-US" sz="2844" b="1" i="1">
                              <a:solidFill>
                                <a:schemeClr val="tx1"/>
                              </a:solidFill>
                              <a:latin typeface="Cambria Math" panose="02040503050406030204" pitchFamily="18" charset="0"/>
                              <a:cs typeface="Arial" panose="020B0604020202020204" pitchFamily="34" charset="0"/>
                            </a:rPr>
                            <m:t>𝒕</m:t>
                          </m:r>
                        </m:e>
                      </m:rad>
                    </m:oMath>
                  </m:oMathPara>
                </a14:m>
                <a:endParaRPr lang="en-US" sz="2844" b="1" dirty="0">
                  <a:solidFill>
                    <a:schemeClr val="tx1"/>
                  </a:solidFill>
                  <a:latin typeface="Arial" panose="020B0604020202020204" pitchFamily="34" charset="0"/>
                  <a:cs typeface="Arial" panose="020B0604020202020204" pitchFamily="34" charset="0"/>
                </a:endParaRPr>
              </a:p>
              <a:p>
                <a:pPr algn="ctr"/>
                <a:endParaRPr lang="en-US" sz="2844" b="1" dirty="0">
                  <a:solidFill>
                    <a:schemeClr val="tx1"/>
                  </a:solidFill>
                  <a:latin typeface="Arial" panose="020B0604020202020204" pitchFamily="34" charset="0"/>
                  <a:cs typeface="Arial" panose="020B0604020202020204" pitchFamily="34" charset="0"/>
                </a:endParaRPr>
              </a:p>
              <a:p>
                <a:pPr lvl="0" algn="ctr"/>
                <a:r>
                  <a:rPr lang="en-US" sz="2844" dirty="0">
                    <a:solidFill>
                      <a:schemeClr val="tx1"/>
                    </a:solidFill>
                    <a:latin typeface="Arial" panose="020B0604020202020204" pitchFamily="34" charset="0"/>
                    <a:cs typeface="Arial" panose="020B0604020202020204" pitchFamily="34" charset="0"/>
                  </a:rPr>
                  <a:t>Starling Equation</a:t>
                </a:r>
              </a:p>
              <a:p>
                <a:pPr lvl="0" algn="ctr"/>
                <a14:m>
                  <m:oMathPara xmlns:m="http://schemas.openxmlformats.org/officeDocument/2006/math">
                    <m:oMathParaPr>
                      <m:jc m:val="centerGroup"/>
                    </m:oMathParaPr>
                    <m:oMath xmlns:m="http://schemas.openxmlformats.org/officeDocument/2006/math">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i="1">
                              <a:solidFill>
                                <a:schemeClr val="tx1"/>
                              </a:solidFill>
                              <a:latin typeface="Cambria Math" panose="02040503050406030204" pitchFamily="18" charset="0"/>
                              <a:ea typeface="Calibri"/>
                              <a:cs typeface="Arial" panose="020B0604020202020204" pitchFamily="34" charset="0"/>
                              <a:sym typeface="Calibri"/>
                            </a:rPr>
                            <m:t>𝑱</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𝒗</m:t>
                          </m:r>
                        </m:sub>
                      </m:sSub>
                      <m:r>
                        <a:rPr lang="en-US" sz="2844" b="1" i="1">
                          <a:solidFill>
                            <a:schemeClr val="tx1"/>
                          </a:solidFill>
                          <a:latin typeface="Cambria Math" panose="02040503050406030204" pitchFamily="18" charset="0"/>
                          <a:ea typeface="Calibri"/>
                          <a:cs typeface="Arial" panose="020B0604020202020204" pitchFamily="34" charset="0"/>
                          <a:sym typeface="Calibri"/>
                        </a:rPr>
                        <m:t>=</m:t>
                      </m:r>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i="1">
                              <a:solidFill>
                                <a:schemeClr val="tx1"/>
                              </a:solidFill>
                              <a:latin typeface="Cambria Math" panose="02040503050406030204" pitchFamily="18" charset="0"/>
                              <a:ea typeface="Calibri"/>
                              <a:cs typeface="Arial" panose="020B0604020202020204" pitchFamily="34" charset="0"/>
                              <a:sym typeface="Calibri"/>
                            </a:rPr>
                            <m:t>𝑳</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𝒑</m:t>
                          </m:r>
                        </m:sub>
                      </m:sSub>
                      <m:r>
                        <a:rPr lang="en-US" sz="2844" b="1" i="1">
                          <a:solidFill>
                            <a:schemeClr val="tx1"/>
                          </a:solidFill>
                          <a:latin typeface="Cambria Math" panose="02040503050406030204" pitchFamily="18" charset="0"/>
                          <a:ea typeface="Calibri"/>
                          <a:cs typeface="Arial" panose="020B0604020202020204" pitchFamily="34" charset="0"/>
                          <a:sym typeface="Calibri"/>
                        </a:rPr>
                        <m:t>𝑺</m:t>
                      </m:r>
                      <m:d>
                        <m:dPr>
                          <m:begChr m:val="["/>
                          <m:endChr m:val="]"/>
                          <m:ctrlPr>
                            <a:rPr lang="en-US" sz="2844" b="1" i="1">
                              <a:solidFill>
                                <a:schemeClr val="tx1"/>
                              </a:solidFill>
                              <a:latin typeface="Cambria Math" panose="02040503050406030204" pitchFamily="18" charset="0"/>
                              <a:ea typeface="Calibri"/>
                              <a:cs typeface="Arial" panose="020B0604020202020204" pitchFamily="34" charset="0"/>
                              <a:sym typeface="Calibri"/>
                            </a:rPr>
                          </m:ctrlPr>
                        </m:dPr>
                        <m:e>
                          <m:d>
                            <m:dPr>
                              <m:ctrlPr>
                                <a:rPr lang="en-US" sz="2844" b="1" i="1">
                                  <a:solidFill>
                                    <a:schemeClr val="tx1"/>
                                  </a:solidFill>
                                  <a:latin typeface="Cambria Math" panose="02040503050406030204" pitchFamily="18" charset="0"/>
                                  <a:ea typeface="Calibri"/>
                                  <a:cs typeface="Arial" panose="020B0604020202020204" pitchFamily="34" charset="0"/>
                                  <a:sym typeface="Calibri"/>
                                </a:rPr>
                              </m:ctrlPr>
                            </m:dPr>
                            <m:e>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i="1">
                                      <a:solidFill>
                                        <a:schemeClr val="tx1"/>
                                      </a:solidFill>
                                      <a:latin typeface="Cambria Math" panose="02040503050406030204" pitchFamily="18" charset="0"/>
                                      <a:ea typeface="Calibri"/>
                                      <a:cs typeface="Arial" panose="020B0604020202020204" pitchFamily="34" charset="0"/>
                                      <a:sym typeface="Calibri"/>
                                    </a:rPr>
                                    <m:t>𝑷</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𝒄</m:t>
                                  </m:r>
                                </m:sub>
                              </m:sSub>
                              <m:r>
                                <a:rPr lang="en-US" sz="2844" b="1" i="1">
                                  <a:solidFill>
                                    <a:schemeClr val="tx1"/>
                                  </a:solidFill>
                                  <a:latin typeface="Cambria Math" panose="02040503050406030204" pitchFamily="18" charset="0"/>
                                  <a:ea typeface="Calibri"/>
                                  <a:cs typeface="Arial" panose="020B0604020202020204" pitchFamily="34" charset="0"/>
                                  <a:sym typeface="Calibri"/>
                                </a:rPr>
                                <m:t>−</m:t>
                              </m:r>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i="1">
                                      <a:solidFill>
                                        <a:schemeClr val="tx1"/>
                                      </a:solidFill>
                                      <a:latin typeface="Cambria Math" panose="02040503050406030204" pitchFamily="18" charset="0"/>
                                      <a:ea typeface="Calibri"/>
                                      <a:cs typeface="Arial" panose="020B0604020202020204" pitchFamily="34" charset="0"/>
                                      <a:sym typeface="Calibri"/>
                                    </a:rPr>
                                    <m:t>𝑷</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𝒊</m:t>
                                  </m:r>
                                </m:sub>
                              </m:sSub>
                            </m:e>
                          </m:d>
                          <m:r>
                            <a:rPr lang="en-US" sz="2844" b="1" i="1">
                              <a:solidFill>
                                <a:schemeClr val="tx1"/>
                              </a:solidFill>
                              <a:latin typeface="Cambria Math" panose="02040503050406030204" pitchFamily="18" charset="0"/>
                              <a:ea typeface="Calibri"/>
                              <a:cs typeface="Arial" panose="020B0604020202020204" pitchFamily="34" charset="0"/>
                              <a:sym typeface="Calibri"/>
                            </a:rPr>
                            <m:t>−</m:t>
                          </m:r>
                          <m:r>
                            <a:rPr lang="en-US" sz="2844" b="1" i="1">
                              <a:solidFill>
                                <a:schemeClr val="tx1"/>
                              </a:solidFill>
                              <a:latin typeface="Cambria Math" panose="02040503050406030204" pitchFamily="18" charset="0"/>
                              <a:ea typeface="Calibri"/>
                              <a:cs typeface="Arial" panose="020B0604020202020204" pitchFamily="34" charset="0"/>
                              <a:sym typeface="Calibri"/>
                            </a:rPr>
                            <m:t>𝝈</m:t>
                          </m:r>
                          <m:d>
                            <m:dPr>
                              <m:ctrlPr>
                                <a:rPr lang="en-US" sz="2844" b="1" i="1">
                                  <a:solidFill>
                                    <a:schemeClr val="tx1"/>
                                  </a:solidFill>
                                  <a:latin typeface="Cambria Math" panose="02040503050406030204" pitchFamily="18" charset="0"/>
                                  <a:ea typeface="Calibri"/>
                                  <a:cs typeface="Arial" panose="020B0604020202020204" pitchFamily="34" charset="0"/>
                                  <a:sym typeface="Calibri"/>
                                </a:rPr>
                              </m:ctrlPr>
                            </m:dPr>
                            <m:e>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a:solidFill>
                                        <a:schemeClr val="tx1"/>
                                      </a:solidFill>
                                      <a:latin typeface="Cambria Math" panose="02040503050406030204" pitchFamily="18" charset="0"/>
                                      <a:ea typeface="Calibri"/>
                                      <a:cs typeface="Arial" panose="020B0604020202020204" pitchFamily="34" charset="0"/>
                                      <a:sym typeface="Calibri"/>
                                    </a:rPr>
                                    <m:t>𝚷</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𝒄</m:t>
                                  </m:r>
                                </m:sub>
                              </m:sSub>
                              <m:r>
                                <a:rPr lang="en-US" sz="2844" b="1" i="1">
                                  <a:solidFill>
                                    <a:schemeClr val="tx1"/>
                                  </a:solidFill>
                                  <a:latin typeface="Cambria Math" panose="02040503050406030204" pitchFamily="18" charset="0"/>
                                  <a:ea typeface="Calibri"/>
                                  <a:cs typeface="Arial" panose="020B0604020202020204" pitchFamily="34" charset="0"/>
                                  <a:sym typeface="Calibri"/>
                                </a:rPr>
                                <m:t>−</m:t>
                              </m:r>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a:solidFill>
                                        <a:schemeClr val="tx1"/>
                                      </a:solidFill>
                                      <a:latin typeface="Cambria Math" panose="02040503050406030204" pitchFamily="18" charset="0"/>
                                      <a:ea typeface="Calibri"/>
                                      <a:cs typeface="Arial" panose="020B0604020202020204" pitchFamily="34" charset="0"/>
                                      <a:sym typeface="Calibri"/>
                                    </a:rPr>
                                    <m:t>𝚷</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𝒊</m:t>
                                  </m:r>
                                </m:sub>
                              </m:sSub>
                            </m:e>
                          </m:d>
                        </m:e>
                      </m:d>
                    </m:oMath>
                  </m:oMathPara>
                </a14:m>
                <a:endParaRPr lang="en-US" sz="2844" b="1" dirty="0">
                  <a:solidFill>
                    <a:schemeClr val="tx1"/>
                  </a:solidFill>
                  <a:latin typeface="Arial" panose="020B0604020202020204" pitchFamily="34" charset="0"/>
                  <a:ea typeface="Calibri"/>
                  <a:cs typeface="Arial" panose="020B0604020202020204" pitchFamily="34" charset="0"/>
                  <a:sym typeface="Calibri"/>
                </a:endParaRPr>
              </a:p>
            </p:txBody>
          </p:sp>
        </mc:Choice>
        <mc:Fallback>
          <p:sp>
            <p:nvSpPr>
              <p:cNvPr id="17" name="Google Shape;114;p2">
                <a:extLst>
                  <a:ext uri="{FF2B5EF4-FFF2-40B4-BE49-F238E27FC236}">
                    <a16:creationId xmlns:a16="http://schemas.microsoft.com/office/drawing/2014/main" id="{5C609C30-71C9-F18B-B67A-09F52BF55D30}"/>
                  </a:ext>
                </a:extLst>
              </p:cNvPr>
              <p:cNvSpPr>
                <a:spLocks noRot="1" noChangeAspect="1" noMove="1" noResize="1" noEditPoints="1" noAdjustHandles="1" noChangeArrowheads="1" noChangeShapeType="1" noTextEdit="1"/>
              </p:cNvSpPr>
              <p:nvPr/>
            </p:nvSpPr>
            <p:spPr>
              <a:xfrm>
                <a:off x="19496676" y="4744452"/>
                <a:ext cx="9272692" cy="3148820"/>
              </a:xfrm>
              <a:prstGeom prst="rect">
                <a:avLst/>
              </a:prstGeom>
              <a:blipFill>
                <a:blip r:embed="rId9"/>
                <a:stretch>
                  <a:fillRect/>
                </a:stretch>
              </a:blipFill>
              <a:ln>
                <a:noFill/>
              </a:ln>
            </p:spPr>
            <p:txBody>
              <a:bodyPr/>
              <a:lstStyle/>
              <a:p>
                <a:r>
                  <a:rPr lang="en-US">
                    <a:noFill/>
                  </a:rPr>
                  <a:t> </a:t>
                </a:r>
              </a:p>
            </p:txBody>
          </p:sp>
        </mc:Fallback>
      </mc:AlternateContent>
      <p:pic>
        <p:nvPicPr>
          <p:cNvPr id="20" name="Picture 19">
            <a:extLst>
              <a:ext uri="{FF2B5EF4-FFF2-40B4-BE49-F238E27FC236}">
                <a16:creationId xmlns:a16="http://schemas.microsoft.com/office/drawing/2014/main" id="{451FE258-7708-2BF4-FE12-85E357580B54}"/>
              </a:ext>
            </a:extLst>
          </p:cNvPr>
          <p:cNvPicPr>
            <a:picLocks noChangeAspect="1"/>
          </p:cNvPicPr>
          <p:nvPr/>
        </p:nvPicPr>
        <p:blipFill>
          <a:blip r:embed="rId10"/>
          <a:stretch>
            <a:fillRect/>
          </a:stretch>
        </p:blipFill>
        <p:spPr>
          <a:xfrm>
            <a:off x="23026436" y="19434446"/>
            <a:ext cx="1573437" cy="655335"/>
          </a:xfrm>
          <a:prstGeom prst="rect">
            <a:avLst/>
          </a:prstGeom>
        </p:spPr>
      </p:pic>
      <p:pic>
        <p:nvPicPr>
          <p:cNvPr id="2" name="Picture 1" descr="Edema | Concise Medical Knowledge">
            <a:extLst>
              <a:ext uri="{FF2B5EF4-FFF2-40B4-BE49-F238E27FC236}">
                <a16:creationId xmlns:a16="http://schemas.microsoft.com/office/drawing/2014/main" id="{9E564090-8D39-401A-E7F8-8A170F0DBB06}"/>
              </a:ext>
            </a:extLst>
          </p:cNvPr>
          <p:cNvPicPr>
            <a:picLocks noChangeAspect="1"/>
          </p:cNvPicPr>
          <p:nvPr/>
        </p:nvPicPr>
        <p:blipFill>
          <a:blip r:embed="rId11"/>
          <a:stretch>
            <a:fillRect/>
          </a:stretch>
        </p:blipFill>
        <p:spPr>
          <a:xfrm>
            <a:off x="20805013" y="12831807"/>
            <a:ext cx="7147450" cy="4205045"/>
          </a:xfrm>
          <a:prstGeom prst="rect">
            <a:avLst/>
          </a:prstGeom>
        </p:spPr>
      </p:pic>
      <mc:AlternateContent xmlns:mc="http://schemas.openxmlformats.org/markup-compatibility/2006">
        <mc:Choice xmlns:a14="http://schemas.microsoft.com/office/drawing/2010/main" Requires="a14">
          <p:sp>
            <p:nvSpPr>
              <p:cNvPr id="6" name="Google Shape;119;p2">
                <a:extLst>
                  <a:ext uri="{FF2B5EF4-FFF2-40B4-BE49-F238E27FC236}">
                    <a16:creationId xmlns:a16="http://schemas.microsoft.com/office/drawing/2014/main" id="{2F8C11BF-FB29-ED9A-4671-FEE8474CE8AB}"/>
                  </a:ext>
                </a:extLst>
              </p:cNvPr>
              <p:cNvSpPr txBox="1"/>
              <p:nvPr/>
            </p:nvSpPr>
            <p:spPr>
              <a:xfrm>
                <a:off x="4401765" y="19338084"/>
                <a:ext cx="6405815" cy="1451387"/>
              </a:xfrm>
              <a:prstGeom prst="rect">
                <a:avLst/>
              </a:prstGeom>
              <a:noFill/>
              <a:ln>
                <a:noFill/>
              </a:ln>
            </p:spPr>
            <p:txBody>
              <a:bodyPr spcFirstLastPara="1" wrap="square" lIns="81267" tIns="40622" rIns="81267" bIns="40622" anchor="t" anchorCtr="0">
                <a:spAutoFit/>
              </a:bodyPr>
              <a:lstStyle/>
              <a:p>
                <a:pPr lvl="0"/>
                <a14:m>
                  <m:oMath xmlns:m="http://schemas.openxmlformats.org/officeDocument/2006/math">
                    <m:sSub>
                      <m:sSubPr>
                        <m:ctrlPr>
                          <a:rPr lang="en-US" sz="1244" i="1">
                            <a:latin typeface="Cambria Math" panose="02040503050406030204" pitchFamily="18" charset="0"/>
                          </a:rPr>
                        </m:ctrlPr>
                      </m:sSubPr>
                      <m:e>
                        <m:r>
                          <a:rPr lang="en-US" sz="1244" i="1">
                            <a:latin typeface="Cambria Math" panose="02040503050406030204" pitchFamily="18" charset="0"/>
                          </a:rPr>
                          <m:t>𝑙</m:t>
                        </m:r>
                      </m:e>
                      <m:sub>
                        <m:r>
                          <a:rPr lang="en-US" sz="1244" i="1">
                            <a:latin typeface="Cambria Math" panose="02040503050406030204" pitchFamily="18" charset="0"/>
                          </a:rPr>
                          <m:t>𝑖</m:t>
                        </m:r>
                      </m:sub>
                    </m:sSub>
                    <m:r>
                      <a:rPr lang="en-US" sz="1244" i="1">
                        <a:latin typeface="Cambria Math" panose="02040503050406030204" pitchFamily="18" charset="0"/>
                      </a:rPr>
                      <m:t>=</m:t>
                    </m:r>
                  </m:oMath>
                </a14:m>
                <a:r>
                  <a:rPr lang="en-US" sz="1244" dirty="0">
                    <a:latin typeface="Arial" panose="020B0604020202020204" pitchFamily="34" charset="0"/>
                    <a:cs typeface="Arial" panose="020B0604020202020204" pitchFamily="34" charset="0"/>
                  </a:rPr>
                  <a:t> distance of conductivity</a:t>
                </a:r>
              </a:p>
              <a:p>
                <a:pPr lvl="0"/>
                <a14:m>
                  <m:oMathPara xmlns:m="http://schemas.openxmlformats.org/officeDocument/2006/math">
                    <m:oMathParaPr>
                      <m:jc m:val="left"/>
                    </m:oMathParaPr>
                    <m:oMath xmlns:m="http://schemas.openxmlformats.org/officeDocument/2006/math">
                      <m:r>
                        <a:rPr lang="en-US" sz="1244" i="1">
                          <a:latin typeface="Cambria Math" panose="02040503050406030204" pitchFamily="18" charset="0"/>
                        </a:rPr>
                        <m:t>𝛼</m:t>
                      </m:r>
                      <m:r>
                        <a:rPr lang="en-US" sz="1244" i="1">
                          <a:latin typeface="Cambria Math" panose="02040503050406030204" pitchFamily="18" charset="0"/>
                        </a:rPr>
                        <m:t>=</m:t>
                      </m:r>
                      <m:f>
                        <m:fPr>
                          <m:ctrlPr>
                            <a:rPr lang="en-US" sz="1244" i="1">
                              <a:latin typeface="Cambria Math" panose="02040503050406030204" pitchFamily="18" charset="0"/>
                            </a:rPr>
                          </m:ctrlPr>
                        </m:fPr>
                        <m:num>
                          <m:r>
                            <m:rPr>
                              <m:sty m:val="p"/>
                            </m:rPr>
                            <a:rPr lang="en-US" sz="1244">
                              <a:latin typeface="Cambria Math" panose="02040503050406030204" pitchFamily="18" charset="0"/>
                            </a:rPr>
                            <m:t>Κ</m:t>
                          </m:r>
                        </m:num>
                        <m:den>
                          <m:r>
                            <a:rPr lang="en-US" sz="1244" i="1">
                              <a:latin typeface="Cambria Math" panose="02040503050406030204" pitchFamily="18" charset="0"/>
                            </a:rPr>
                            <m:t>𝜌</m:t>
                          </m:r>
                          <m:sSub>
                            <m:sSubPr>
                              <m:ctrlPr>
                                <a:rPr lang="en-US" sz="1244" i="1">
                                  <a:latin typeface="Cambria Math" panose="02040503050406030204" pitchFamily="18" charset="0"/>
                                </a:rPr>
                              </m:ctrlPr>
                            </m:sSubPr>
                            <m:e>
                              <m:r>
                                <a:rPr lang="en-US" sz="1244" i="1">
                                  <a:latin typeface="Cambria Math" panose="02040503050406030204" pitchFamily="18" charset="0"/>
                                </a:rPr>
                                <m:t>𝐶</m:t>
                              </m:r>
                            </m:e>
                            <m:sub>
                              <m:r>
                                <a:rPr lang="en-US" sz="1244" i="1">
                                  <a:latin typeface="Cambria Math" panose="02040503050406030204" pitchFamily="18" charset="0"/>
                                </a:rPr>
                                <m:t>𝑝</m:t>
                              </m:r>
                            </m:sub>
                          </m:sSub>
                        </m:den>
                      </m:f>
                    </m:oMath>
                  </m:oMathPara>
                </a14:m>
                <a:endParaRPr lang="en-US" sz="1244" i="1" dirty="0">
                  <a:latin typeface="Arial" panose="020B0604020202020204" pitchFamily="34" charset="0"/>
                  <a:cs typeface="Arial" panose="020B0604020202020204" pitchFamily="34" charset="0"/>
                </a:endParaRPr>
              </a:p>
              <a:p>
                <a:pPr lvl="0"/>
                <a14:m>
                  <m:oMath xmlns:m="http://schemas.openxmlformats.org/officeDocument/2006/math">
                    <m:r>
                      <a:rPr lang="en-US" sz="1244" i="1">
                        <a:latin typeface="Cambria Math" panose="02040503050406030204" pitchFamily="18" charset="0"/>
                      </a:rPr>
                      <m:t>𝑡</m:t>
                    </m:r>
                    <m:r>
                      <a:rPr lang="en-US" sz="1244" i="1">
                        <a:latin typeface="Cambria Math" panose="02040503050406030204" pitchFamily="18" charset="0"/>
                      </a:rPr>
                      <m:t> = </m:t>
                    </m:r>
                  </m:oMath>
                </a14:m>
                <a:r>
                  <a:rPr lang="en-US" sz="1244" dirty="0">
                    <a:latin typeface="Arial" panose="020B0604020202020204" pitchFamily="34" charset="0"/>
                    <a:cs typeface="Arial" panose="020B0604020202020204" pitchFamily="34" charset="0"/>
                  </a:rPr>
                  <a:t>time</a:t>
                </a:r>
              </a:p>
              <a:p>
                <a:pPr lvl="0"/>
                <a:r>
                  <a:rPr lang="en-US" sz="1244" i="1" dirty="0">
                    <a:latin typeface="Arial" panose="020B0604020202020204" pitchFamily="34" charset="0"/>
                    <a:cs typeface="Arial" panose="020B0604020202020204" pitchFamily="34" charset="0"/>
                  </a:rPr>
                  <a:t> </a:t>
                </a:r>
              </a:p>
              <a:p>
                <a:pPr lvl="0"/>
                <a14:m>
                  <m:oMathPara xmlns:m="http://schemas.openxmlformats.org/officeDocument/2006/math">
                    <m:oMathParaPr>
                      <m:jc m:val="left"/>
                    </m:oMathParaPr>
                    <m:oMath xmlns:m="http://schemas.openxmlformats.org/officeDocument/2006/math">
                      <m:r>
                        <a:rPr lang="en-US" sz="1244" i="1">
                          <a:latin typeface="Cambria Math" panose="02040503050406030204" pitchFamily="18" charset="0"/>
                        </a:rPr>
                        <m:t> </m:t>
                      </m:r>
                    </m:oMath>
                  </m:oMathPara>
                </a14:m>
                <a:endParaRPr lang="en-US" sz="1244" dirty="0">
                  <a:latin typeface="Arial" panose="020B0604020202020204" pitchFamily="34" charset="0"/>
                  <a:cs typeface="Arial" panose="020B0604020202020204" pitchFamily="34" charset="0"/>
                </a:endParaRPr>
              </a:p>
              <a:p>
                <a:pPr lvl="0"/>
                <a:endParaRPr sz="1244" dirty="0">
                  <a:latin typeface="Arial" panose="020B0604020202020204" pitchFamily="34" charset="0"/>
                  <a:cs typeface="Arial" panose="020B0604020202020204" pitchFamily="34" charset="0"/>
                </a:endParaRPr>
              </a:p>
            </p:txBody>
          </p:sp>
        </mc:Choice>
        <mc:Fallback>
          <p:sp>
            <p:nvSpPr>
              <p:cNvPr id="6" name="Google Shape;119;p2">
                <a:extLst>
                  <a:ext uri="{FF2B5EF4-FFF2-40B4-BE49-F238E27FC236}">
                    <a16:creationId xmlns:a16="http://schemas.microsoft.com/office/drawing/2014/main" id="{2F8C11BF-FB29-ED9A-4671-FEE8474CE8AB}"/>
                  </a:ext>
                </a:extLst>
              </p:cNvPr>
              <p:cNvSpPr txBox="1">
                <a:spLocks noRot="1" noChangeAspect="1" noMove="1" noResize="1" noEditPoints="1" noAdjustHandles="1" noChangeArrowheads="1" noChangeShapeType="1" noTextEdit="1"/>
              </p:cNvSpPr>
              <p:nvPr/>
            </p:nvSpPr>
            <p:spPr>
              <a:xfrm>
                <a:off x="4401765" y="19338084"/>
                <a:ext cx="6405815" cy="1451387"/>
              </a:xfrm>
              <a:prstGeom prst="rect">
                <a:avLst/>
              </a:prstGeom>
              <a:blipFill>
                <a:blip r:embed="rId12"/>
                <a:stretch>
                  <a:fillRect/>
                </a:stretch>
              </a:blipFill>
              <a:ln>
                <a:noFill/>
              </a:ln>
            </p:spPr>
            <p:txBody>
              <a:bodyPr/>
              <a:lstStyle/>
              <a:p>
                <a:r>
                  <a:rPr lang="en-US">
                    <a:noFill/>
                  </a:rPr>
                  <a:t> </a:t>
                </a:r>
              </a:p>
            </p:txBody>
          </p:sp>
        </mc:Fallback>
      </mc:AlternateContent>
      <p:pic>
        <p:nvPicPr>
          <p:cNvPr id="8" name="Picture 7">
            <a:extLst>
              <a:ext uri="{FF2B5EF4-FFF2-40B4-BE49-F238E27FC236}">
                <a16:creationId xmlns:a16="http://schemas.microsoft.com/office/drawing/2014/main" id="{EDA43504-3A2A-C200-8D5C-67AF656154A5}"/>
              </a:ext>
            </a:extLst>
          </p:cNvPr>
          <p:cNvPicPr>
            <a:picLocks noChangeAspect="1"/>
          </p:cNvPicPr>
          <p:nvPr/>
        </p:nvPicPr>
        <p:blipFill>
          <a:blip r:embed="rId13"/>
          <a:stretch>
            <a:fillRect/>
          </a:stretch>
        </p:blipFill>
        <p:spPr>
          <a:xfrm>
            <a:off x="513804" y="12493349"/>
            <a:ext cx="10859577" cy="6556045"/>
          </a:xfrm>
          <a:prstGeom prst="rect">
            <a:avLst/>
          </a:prstGeom>
        </p:spPr>
      </p:pic>
      <p:pic>
        <p:nvPicPr>
          <p:cNvPr id="11" name="Picture 10">
            <a:extLst>
              <a:ext uri="{FF2B5EF4-FFF2-40B4-BE49-F238E27FC236}">
                <a16:creationId xmlns:a16="http://schemas.microsoft.com/office/drawing/2014/main" id="{CE918EBD-60F7-8C88-AC09-3A2C60C2D9CC}"/>
              </a:ext>
            </a:extLst>
          </p:cNvPr>
          <p:cNvPicPr>
            <a:picLocks noChangeAspect="1"/>
          </p:cNvPicPr>
          <p:nvPr/>
        </p:nvPicPr>
        <p:blipFill>
          <a:blip r:embed="rId14"/>
          <a:stretch>
            <a:fillRect/>
          </a:stretch>
        </p:blipFill>
        <p:spPr>
          <a:xfrm>
            <a:off x="10025661" y="5015093"/>
            <a:ext cx="3216861" cy="3182910"/>
          </a:xfrm>
          <a:prstGeom prst="rect">
            <a:avLst/>
          </a:prstGeom>
        </p:spPr>
      </p:pic>
      <p:pic>
        <p:nvPicPr>
          <p:cNvPr id="13" name="Picture 12">
            <a:extLst>
              <a:ext uri="{FF2B5EF4-FFF2-40B4-BE49-F238E27FC236}">
                <a16:creationId xmlns:a16="http://schemas.microsoft.com/office/drawing/2014/main" id="{D80C0872-14EB-85C1-B055-89626A4D1F31}"/>
              </a:ext>
            </a:extLst>
          </p:cNvPr>
          <p:cNvPicPr>
            <a:picLocks noChangeAspect="1"/>
          </p:cNvPicPr>
          <p:nvPr/>
        </p:nvPicPr>
        <p:blipFill>
          <a:blip r:embed="rId15"/>
          <a:stretch>
            <a:fillRect/>
          </a:stretch>
        </p:blipFill>
        <p:spPr>
          <a:xfrm>
            <a:off x="9980085" y="8841456"/>
            <a:ext cx="3281466" cy="32264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D6ED55C-2352-88BF-ED3A-A421980541F7}"/>
              </a:ext>
            </a:extLst>
          </p:cNvPr>
          <p:cNvGraphicFramePr>
            <a:graphicFrameLocks/>
          </p:cNvGraphicFramePr>
          <p:nvPr>
            <p:custDataLst>
              <p:tags r:id="rId1"/>
            </p:custDataLst>
            <p:extLst>
              <p:ext uri="{D42A27DB-BD31-4B8C-83A1-F6EECF244321}">
                <p14:modId xmlns:p14="http://schemas.microsoft.com/office/powerpoint/2010/main" val="15807590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6EE74B5-45BE-EC7F-1CDF-5E3EACC3230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51A9394-B4A6-4EA7-0093-8E23A1C064B6}"/>
              </a:ext>
            </a:extLst>
          </p:cNvPr>
          <p:cNvSpPr>
            <a:spLocks noGrp="1"/>
          </p:cNvSpPr>
          <p:nvPr>
            <p:ph type="body" idx="1"/>
          </p:nvPr>
        </p:nvSpPr>
        <p:spPr/>
        <p:txBody>
          <a:bodyPr/>
          <a:lstStyle/>
          <a:p>
            <a:endParaRPr lang="en-US"/>
          </a:p>
        </p:txBody>
      </p:sp>
      <p:sp>
        <p:nvSpPr>
          <p:cNvPr id="5" name="Google Shape;109;p2">
            <a:extLst>
              <a:ext uri="{FF2B5EF4-FFF2-40B4-BE49-F238E27FC236}">
                <a16:creationId xmlns:a16="http://schemas.microsoft.com/office/drawing/2014/main" id="{9B7F652E-0AED-F74E-1189-83A22060DF24}"/>
              </a:ext>
            </a:extLst>
          </p:cNvPr>
          <p:cNvSpPr/>
          <p:nvPr/>
        </p:nvSpPr>
        <p:spPr>
          <a:xfrm>
            <a:off x="513805" y="1737092"/>
            <a:ext cx="28233191" cy="3007360"/>
          </a:xfrm>
          <a:prstGeom prst="rect">
            <a:avLst/>
          </a:prstGeom>
          <a:solidFill>
            <a:srgbClr val="A51417"/>
          </a:solidFill>
          <a:ln>
            <a:noFill/>
          </a:ln>
        </p:spPr>
        <p:txBody>
          <a:bodyPr spcFirstLastPara="1" wrap="square" lIns="81267" tIns="40622" rIns="81267" bIns="40622" anchor="ctr" anchorCtr="0">
            <a:noAutofit/>
          </a:bodyPr>
          <a:lstStyle/>
          <a:p>
            <a:pPr algn="ctr"/>
            <a:endParaRPr sz="4608" dirty="0">
              <a:solidFill>
                <a:schemeClr val="lt1"/>
              </a:solidFill>
              <a:latin typeface="Calibri"/>
              <a:ea typeface="Calibri"/>
              <a:cs typeface="Calibri"/>
              <a:sym typeface="Calibri"/>
            </a:endParaRPr>
          </a:p>
        </p:txBody>
      </p:sp>
      <p:sp>
        <p:nvSpPr>
          <p:cNvPr id="6" name="Google Shape;111;p2">
            <a:extLst>
              <a:ext uri="{FF2B5EF4-FFF2-40B4-BE49-F238E27FC236}">
                <a16:creationId xmlns:a16="http://schemas.microsoft.com/office/drawing/2014/main" id="{62B3C9C7-ECC3-B6A3-AF43-2B497374AE49}"/>
              </a:ext>
            </a:extLst>
          </p:cNvPr>
          <p:cNvSpPr txBox="1"/>
          <p:nvPr/>
        </p:nvSpPr>
        <p:spPr>
          <a:xfrm>
            <a:off x="2793738" y="3696237"/>
            <a:ext cx="23147092" cy="738499"/>
          </a:xfrm>
          <a:prstGeom prst="rect">
            <a:avLst/>
          </a:prstGeom>
          <a:noFill/>
          <a:ln>
            <a:noFill/>
          </a:ln>
        </p:spPr>
        <p:txBody>
          <a:bodyPr spcFirstLastPara="1" wrap="square" lIns="81267" tIns="40622" rIns="81267" bIns="40622" anchor="t" anchorCtr="0">
            <a:spAutoFit/>
          </a:bodyPr>
          <a:lstStyle/>
          <a:p>
            <a:pPr algn="ctr"/>
            <a:r>
              <a:rPr lang="en-US" sz="2133" b="1" dirty="0">
                <a:solidFill>
                  <a:schemeClr val="lt1"/>
                </a:solidFill>
                <a:latin typeface="Source Sans Pro"/>
                <a:ea typeface="Source Sans Pro"/>
                <a:cs typeface="Source Sans Pro"/>
                <a:sym typeface="Source Sans Pro"/>
              </a:rPr>
              <a:t>Jinyao Z. DeSandies, Christopher I. Moore</a:t>
            </a:r>
          </a:p>
          <a:p>
            <a:pPr algn="ctr"/>
            <a:r>
              <a:rPr lang="en-US" sz="2133" b="1" dirty="0">
                <a:solidFill>
                  <a:schemeClr val="lt1"/>
                </a:solidFill>
                <a:latin typeface="Source Sans Pro"/>
                <a:ea typeface="Source Sans Pro"/>
                <a:cs typeface="Source Sans Pro"/>
                <a:sym typeface="Source Sans Pro"/>
              </a:rPr>
              <a:t>Funding provided by National Institute of Neurological Disorders and Stroke for Carney Summer Scholars Program</a:t>
            </a:r>
          </a:p>
        </p:txBody>
      </p:sp>
      <p:sp>
        <p:nvSpPr>
          <p:cNvPr id="7" name="Google Shape;112;p2">
            <a:extLst>
              <a:ext uri="{FF2B5EF4-FFF2-40B4-BE49-F238E27FC236}">
                <a16:creationId xmlns:a16="http://schemas.microsoft.com/office/drawing/2014/main" id="{7A84E7C5-F186-2239-A62F-DFD3EF300551}"/>
              </a:ext>
            </a:extLst>
          </p:cNvPr>
          <p:cNvSpPr/>
          <p:nvPr/>
        </p:nvSpPr>
        <p:spPr>
          <a:xfrm>
            <a:off x="513804" y="4728776"/>
            <a:ext cx="9299412" cy="3334013"/>
          </a:xfrm>
          <a:prstGeom prst="rect">
            <a:avLst/>
          </a:prstGeom>
          <a:solidFill>
            <a:srgbClr val="D9D9D9"/>
          </a:solidFill>
          <a:ln>
            <a:noFill/>
          </a:ln>
        </p:spPr>
        <p:txBody>
          <a:bodyPr spcFirstLastPara="1" wrap="square" lIns="81267" tIns="40622" rIns="81267" bIns="40622" anchor="ctr" anchorCtr="0">
            <a:noAutofit/>
          </a:bodyPr>
          <a:lstStyle/>
          <a:p>
            <a:pPr algn="ctr"/>
            <a:r>
              <a:rPr lang="en-US" sz="2667" dirty="0">
                <a:solidFill>
                  <a:schemeClr val="tx1"/>
                </a:solidFill>
                <a:latin typeface="Calibri"/>
                <a:ea typeface="Calibri"/>
                <a:cs typeface="Calibri"/>
                <a:sym typeface="Calibri"/>
              </a:rPr>
              <a:t>Introduction</a:t>
            </a:r>
          </a:p>
          <a:p>
            <a:pPr algn="ctr"/>
            <a:r>
              <a:rPr lang="en-US" sz="2667" dirty="0">
                <a:solidFill>
                  <a:schemeClr val="tx1"/>
                </a:solidFill>
                <a:latin typeface="Calibri"/>
                <a:ea typeface="Calibri"/>
                <a:cs typeface="Calibri"/>
                <a:sym typeface="Calibri"/>
              </a:rPr>
              <a:t>Using opensource 3D meshing software SALOME and Computational Fluid Dynamics Simulation Software OpenFOAM, a 3D model of the brain simulating temperature and fluid transfers of a neural-capillary system was created. With further work, the Rush model could recreate the exact mechanism of these systems computationally.</a:t>
            </a:r>
          </a:p>
        </p:txBody>
      </p:sp>
      <p:sp>
        <p:nvSpPr>
          <p:cNvPr id="8" name="Google Shape;114;p2">
            <a:extLst>
              <a:ext uri="{FF2B5EF4-FFF2-40B4-BE49-F238E27FC236}">
                <a16:creationId xmlns:a16="http://schemas.microsoft.com/office/drawing/2014/main" id="{02FEE512-49F4-0607-B6EA-EFAA8E0A5A15}"/>
              </a:ext>
            </a:extLst>
          </p:cNvPr>
          <p:cNvSpPr/>
          <p:nvPr/>
        </p:nvSpPr>
        <p:spPr>
          <a:xfrm>
            <a:off x="513804" y="8391379"/>
            <a:ext cx="9299412" cy="4126625"/>
          </a:xfrm>
          <a:prstGeom prst="rect">
            <a:avLst/>
          </a:prstGeom>
          <a:solidFill>
            <a:srgbClr val="D8D8D8"/>
          </a:solidFill>
          <a:ln>
            <a:noFill/>
          </a:ln>
        </p:spPr>
        <p:txBody>
          <a:bodyPr spcFirstLastPara="1" wrap="square" lIns="81267" tIns="40622" rIns="81267" bIns="40622" anchor="ctr" anchorCtr="0">
            <a:noAutofit/>
          </a:bodyPr>
          <a:lstStyle/>
          <a:p>
            <a:pPr algn="ctr"/>
            <a:r>
              <a:rPr lang="en-US" sz="2667" dirty="0"/>
              <a:t>Temperature Change</a:t>
            </a:r>
          </a:p>
          <a:p>
            <a:pPr algn="ctr"/>
            <a:r>
              <a:rPr lang="en-US" sz="2667" dirty="0"/>
              <a:t> </a:t>
            </a:r>
          </a:p>
          <a:p>
            <a:pPr marL="304804" indent="-304804">
              <a:buFont typeface="Arial" panose="020B0604020202020204" pitchFamily="34" charset="0"/>
              <a:buChar char="•"/>
            </a:pPr>
            <a:r>
              <a:rPr lang="en-US" sz="2222" dirty="0"/>
              <a:t>Axons near vasculature should either benefit from being inhibited, or fire more commonly than other neurons. </a:t>
            </a:r>
          </a:p>
          <a:p>
            <a:pPr marL="304804" indent="-304804">
              <a:buFont typeface="Arial" panose="020B0604020202020204" pitchFamily="34" charset="0"/>
              <a:buChar char="•"/>
            </a:pPr>
            <a:r>
              <a:rPr lang="en-US" sz="2222" dirty="0"/>
              <a:t>This wraparound effect was found in 2-Photon Imaging demonstrating action potentials coupled with neural signals.</a:t>
            </a:r>
          </a:p>
          <a:p>
            <a:pPr marL="304804" indent="-304804">
              <a:buFont typeface="Arial" panose="020B0604020202020204" pitchFamily="34" charset="0"/>
              <a:buChar char="•"/>
            </a:pPr>
            <a:r>
              <a:rPr lang="en-US" sz="2222" dirty="0"/>
              <a:t>The characteristic diffusion length formula calculations yield that conduction should travel 10 cm over 20 seconds, which in a micron-level system should mean full mixing</a:t>
            </a:r>
          </a:p>
          <a:p>
            <a:pPr algn="ctr"/>
            <a:endParaRPr sz="2667" dirty="0">
              <a:solidFill>
                <a:schemeClr val="lt1"/>
              </a:solidFill>
              <a:latin typeface="Calibri"/>
              <a:ea typeface="Calibri"/>
              <a:cs typeface="Calibri"/>
              <a:sym typeface="Calibri"/>
            </a:endParaRPr>
          </a:p>
        </p:txBody>
      </p:sp>
      <p:sp>
        <p:nvSpPr>
          <p:cNvPr id="9" name="Google Shape;116;p2">
            <a:extLst>
              <a:ext uri="{FF2B5EF4-FFF2-40B4-BE49-F238E27FC236}">
                <a16:creationId xmlns:a16="http://schemas.microsoft.com/office/drawing/2014/main" id="{6ABB5AC7-2196-4712-0FEF-672A150A0E0E}"/>
              </a:ext>
            </a:extLst>
          </p:cNvPr>
          <p:cNvSpPr/>
          <p:nvPr/>
        </p:nvSpPr>
        <p:spPr>
          <a:xfrm>
            <a:off x="19496676" y="17201148"/>
            <a:ext cx="9764124" cy="1683951"/>
          </a:xfrm>
          <a:prstGeom prst="rect">
            <a:avLst/>
          </a:prstGeom>
          <a:solidFill>
            <a:srgbClr val="D8D8D8"/>
          </a:solidFill>
          <a:ln>
            <a:noFill/>
          </a:ln>
        </p:spPr>
        <p:txBody>
          <a:bodyPr spcFirstLastPara="1" wrap="square" lIns="81267" tIns="40622" rIns="81267" bIns="40622" anchor="ctr" anchorCtr="0">
            <a:noAutofit/>
          </a:bodyPr>
          <a:lstStyle/>
          <a:p>
            <a:pPr lvl="0" algn="ctr"/>
            <a:r>
              <a:rPr lang="en-US" sz="1244" b="1" dirty="0">
                <a:solidFill>
                  <a:schemeClr val="tx1"/>
                </a:solidFill>
                <a:latin typeface="Arial" panose="020B0604020202020204" pitchFamily="34" charset="0"/>
                <a:cs typeface="Arial" panose="020B0604020202020204" pitchFamily="34" charset="0"/>
              </a:rPr>
              <a:t>\</a:t>
            </a:r>
            <a:endParaRPr lang="en-US" sz="1244" dirty="0">
              <a:solidFill>
                <a:schemeClr val="tx1"/>
              </a:solidFill>
              <a:latin typeface="Arial" panose="020B0604020202020204" pitchFamily="34" charset="0"/>
              <a:ea typeface="Calibri"/>
              <a:cs typeface="Arial" panose="020B0604020202020204" pitchFamily="34" charset="0"/>
              <a:sym typeface="Calibri"/>
            </a:endParaRPr>
          </a:p>
          <a:p>
            <a:pPr lvl="0" algn="ctr"/>
            <a:r>
              <a:rPr lang="en-US" sz="2222" dirty="0">
                <a:solidFill>
                  <a:schemeClr val="tx1"/>
                </a:solidFill>
                <a:latin typeface="Arial" panose="020B0604020202020204" pitchFamily="34" charset="0"/>
                <a:ea typeface="Calibri"/>
                <a:cs typeface="Arial" panose="020B0604020202020204" pitchFamily="34" charset="0"/>
                <a:sym typeface="Calibri"/>
              </a:rPr>
              <a:t>The Starling Equation can be qualified as a tight race between the hydrostatic and oncotic pressure. Combined with the fluid dynamics driven by temperature, neural systems can be be designed to exchange neurotransmitters without wired connections</a:t>
            </a:r>
            <a:endParaRPr sz="1244" dirty="0">
              <a:solidFill>
                <a:schemeClr val="tx1"/>
              </a:solidFill>
              <a:latin typeface="Arial" panose="020B0604020202020204" pitchFamily="34" charset="0"/>
              <a:ea typeface="Calibri"/>
              <a:cs typeface="Arial" panose="020B0604020202020204" pitchFamily="34" charset="0"/>
              <a:sym typeface="Calibri"/>
            </a:endParaRPr>
          </a:p>
        </p:txBody>
      </p:sp>
      <p:sp>
        <p:nvSpPr>
          <p:cNvPr id="10" name="Google Shape;117;p2">
            <a:extLst>
              <a:ext uri="{FF2B5EF4-FFF2-40B4-BE49-F238E27FC236}">
                <a16:creationId xmlns:a16="http://schemas.microsoft.com/office/drawing/2014/main" id="{713B516D-EB15-F99E-263D-7CE9CCF07483}"/>
              </a:ext>
            </a:extLst>
          </p:cNvPr>
          <p:cNvSpPr/>
          <p:nvPr/>
        </p:nvSpPr>
        <p:spPr>
          <a:xfrm>
            <a:off x="19496677" y="8150561"/>
            <a:ext cx="9313269" cy="4671156"/>
          </a:xfrm>
          <a:prstGeom prst="rect">
            <a:avLst/>
          </a:prstGeom>
          <a:solidFill>
            <a:srgbClr val="D8D8D8"/>
          </a:solidFill>
          <a:ln>
            <a:noFill/>
          </a:ln>
        </p:spPr>
        <p:txBody>
          <a:bodyPr spcFirstLastPara="1" wrap="square" lIns="81267" tIns="40622" rIns="81267" bIns="40622" anchor="ctr" anchorCtr="0">
            <a:noAutofit/>
          </a:bodyPr>
          <a:lstStyle/>
          <a:p>
            <a:pPr algn="ctr"/>
            <a:r>
              <a:rPr lang="en-US" sz="2667" dirty="0"/>
              <a:t>Liquid Convection</a:t>
            </a:r>
          </a:p>
          <a:p>
            <a:pPr algn="ctr"/>
            <a:r>
              <a:rPr lang="en-US" sz="2667" dirty="0"/>
              <a:t> </a:t>
            </a:r>
          </a:p>
          <a:p>
            <a:pPr marL="304804" indent="-304804">
              <a:buFont typeface="Arial" panose="020B0604020202020204" pitchFamily="34" charset="0"/>
              <a:buChar char="•"/>
            </a:pPr>
            <a:r>
              <a:rPr lang="en-US" sz="2222" dirty="0"/>
              <a:t>Because of temperature differences between the hotter outer shell and cooler inside pipe, the fluid being cools by the pipe rapidly exits downward as they increase in density due to less movement.</a:t>
            </a:r>
          </a:p>
          <a:p>
            <a:pPr marL="304804" indent="-304804">
              <a:buFont typeface="Arial" panose="020B0604020202020204" pitchFamily="34" charset="0"/>
              <a:buChar char="•"/>
            </a:pPr>
            <a:endParaRPr lang="en-US" sz="2222" dirty="0"/>
          </a:p>
          <a:p>
            <a:pPr marL="304804" indent="-304804">
              <a:buFont typeface="Arial" panose="020B0604020202020204" pitchFamily="34" charset="0"/>
              <a:buChar char="•"/>
            </a:pPr>
            <a:r>
              <a:rPr lang="en-US" sz="2222" dirty="0"/>
              <a:t>A potential mechanism for rapid, controllable fluid transfer in Brain. Chemicals within the system can flow in ways to mix into new signaling chemicals </a:t>
            </a:r>
          </a:p>
          <a:p>
            <a:pPr marL="304804" indent="-304804">
              <a:buFont typeface="Arial" panose="020B0604020202020204" pitchFamily="34" charset="0"/>
              <a:buChar char="•"/>
            </a:pPr>
            <a:endParaRPr lang="en-US" sz="2222" dirty="0"/>
          </a:p>
          <a:p>
            <a:pPr marL="304804" indent="-304804">
              <a:buFont typeface="Arial" panose="020B0604020202020204" pitchFamily="34" charset="0"/>
              <a:buChar char="•"/>
            </a:pPr>
            <a:r>
              <a:rPr lang="en-US" sz="2222" dirty="0"/>
              <a:t>Ca and K can be transmitted across systems, as so neurons could fire together without wiring together</a:t>
            </a:r>
            <a:endParaRPr sz="2667" dirty="0">
              <a:solidFill>
                <a:schemeClr val="lt1"/>
              </a:solidFill>
              <a:latin typeface="Calibri"/>
              <a:ea typeface="Calibri"/>
              <a:cs typeface="Calibri"/>
              <a:sym typeface="Calibri"/>
            </a:endParaRPr>
          </a:p>
        </p:txBody>
      </p:sp>
      <p:sp>
        <p:nvSpPr>
          <p:cNvPr id="11" name="Google Shape;118;p2">
            <a:extLst>
              <a:ext uri="{FF2B5EF4-FFF2-40B4-BE49-F238E27FC236}">
                <a16:creationId xmlns:a16="http://schemas.microsoft.com/office/drawing/2014/main" id="{91BA283E-EC49-9B0F-E51C-1846A5AE5185}"/>
              </a:ext>
            </a:extLst>
          </p:cNvPr>
          <p:cNvSpPr/>
          <p:nvPr/>
        </p:nvSpPr>
        <p:spPr>
          <a:xfrm>
            <a:off x="513805" y="19213689"/>
            <a:ext cx="28296143" cy="1096851"/>
          </a:xfrm>
          <a:prstGeom prst="rect">
            <a:avLst/>
          </a:prstGeom>
          <a:solidFill>
            <a:srgbClr val="F2F2F2"/>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2" name="Google Shape;119;p2">
            <a:extLst>
              <a:ext uri="{FF2B5EF4-FFF2-40B4-BE49-F238E27FC236}">
                <a16:creationId xmlns:a16="http://schemas.microsoft.com/office/drawing/2014/main" id="{440E34C3-7398-236A-D405-111BF3C35DAE}"/>
              </a:ext>
            </a:extLst>
          </p:cNvPr>
          <p:cNvSpPr txBox="1"/>
          <p:nvPr/>
        </p:nvSpPr>
        <p:spPr>
          <a:xfrm>
            <a:off x="665546" y="19328391"/>
            <a:ext cx="6405815" cy="847888"/>
          </a:xfrm>
          <a:prstGeom prst="rect">
            <a:avLst/>
          </a:prstGeom>
          <a:noFill/>
          <a:ln>
            <a:noFill/>
          </a:ln>
        </p:spPr>
        <p:txBody>
          <a:bodyPr spcFirstLastPara="1" wrap="square" lIns="81267" tIns="40622" rIns="81267" bIns="40622" anchor="t" anchorCtr="0">
            <a:spAutoFit/>
          </a:bodyPr>
          <a:lstStyle/>
          <a:p>
            <a:pPr lvl="0"/>
            <a:r>
              <a:rPr lang="en-US" sz="1244" dirty="0"/>
              <a:t>Pc − Pi = hydrostatic pressure gradient</a:t>
            </a:r>
          </a:p>
          <a:p>
            <a:pPr lvl="0"/>
            <a:r>
              <a:rPr lang="el-GR" sz="1244" dirty="0"/>
              <a:t>Π</a:t>
            </a:r>
            <a:r>
              <a:rPr lang="en-US" sz="1244" dirty="0"/>
              <a:t>c − </a:t>
            </a:r>
            <a:r>
              <a:rPr lang="el-GR" sz="1244" dirty="0"/>
              <a:t>Π</a:t>
            </a:r>
            <a:r>
              <a:rPr lang="en-US" sz="1244" dirty="0" err="1"/>
              <a:t>i</a:t>
            </a:r>
            <a:r>
              <a:rPr lang="en-US" sz="1244" dirty="0"/>
              <a:t> = oncotic pressure gradient</a:t>
            </a:r>
          </a:p>
          <a:p>
            <a:pPr lvl="0"/>
            <a:r>
              <a:rPr lang="en-US" sz="1244" dirty="0" err="1"/>
              <a:t>LpS</a:t>
            </a:r>
            <a:r>
              <a:rPr lang="en-US" sz="1244" dirty="0"/>
              <a:t> = capillary filtration coefficient</a:t>
            </a:r>
          </a:p>
          <a:p>
            <a:pPr lvl="0"/>
            <a:r>
              <a:rPr lang="el-GR" sz="1244" dirty="0"/>
              <a:t>σ = </a:t>
            </a:r>
            <a:r>
              <a:rPr lang="en-US" sz="1244" dirty="0"/>
              <a:t>reflection (protein permeability) coefficient</a:t>
            </a:r>
            <a:endParaRPr sz="1244" dirty="0"/>
          </a:p>
        </p:txBody>
      </p:sp>
      <p:sp>
        <p:nvSpPr>
          <p:cNvPr id="13" name="Google Shape;120;p2">
            <a:extLst>
              <a:ext uri="{FF2B5EF4-FFF2-40B4-BE49-F238E27FC236}">
                <a16:creationId xmlns:a16="http://schemas.microsoft.com/office/drawing/2014/main" id="{9CF20BFB-B940-49F5-D5EC-9B6677E2B05D}"/>
              </a:ext>
            </a:extLst>
          </p:cNvPr>
          <p:cNvSpPr txBox="1"/>
          <p:nvPr/>
        </p:nvSpPr>
        <p:spPr>
          <a:xfrm>
            <a:off x="25412518" y="19502395"/>
            <a:ext cx="3273636" cy="464963"/>
          </a:xfrm>
          <a:prstGeom prst="rect">
            <a:avLst/>
          </a:prstGeom>
          <a:noFill/>
          <a:ln>
            <a:noFill/>
          </a:ln>
        </p:spPr>
        <p:txBody>
          <a:bodyPr spcFirstLastPara="1" wrap="square" lIns="81267" tIns="40622" rIns="81267" bIns="40622" anchor="t" anchorCtr="0">
            <a:spAutoFit/>
          </a:bodyPr>
          <a:lstStyle/>
          <a:p>
            <a:r>
              <a:rPr lang="en-US" sz="1244" dirty="0">
                <a:solidFill>
                  <a:schemeClr val="dk1"/>
                </a:solidFill>
                <a:latin typeface="Source Sans Pro"/>
                <a:ea typeface="Source Sans Pro"/>
                <a:cs typeface="Source Sans Pro"/>
                <a:sym typeface="Source Sans Pro"/>
              </a:rPr>
              <a:t>Special Thanks to Spike Lab, Dept. Neuroscience, Pomona College, Claremont CA</a:t>
            </a:r>
          </a:p>
        </p:txBody>
      </p:sp>
      <p:sp>
        <p:nvSpPr>
          <p:cNvPr id="14" name="Google Shape;121;p2">
            <a:extLst>
              <a:ext uri="{FF2B5EF4-FFF2-40B4-BE49-F238E27FC236}">
                <a16:creationId xmlns:a16="http://schemas.microsoft.com/office/drawing/2014/main" id="{CA3D71E7-251D-D828-8C16-236214999863}"/>
              </a:ext>
            </a:extLst>
          </p:cNvPr>
          <p:cNvSpPr/>
          <p:nvPr/>
        </p:nvSpPr>
        <p:spPr>
          <a:xfrm>
            <a:off x="22801869" y="19371734"/>
            <a:ext cx="2489851" cy="805511"/>
          </a:xfrm>
          <a:prstGeom prst="rect">
            <a:avLst/>
          </a:prstGeom>
          <a:solidFill>
            <a:srgbClr val="BFBFBF"/>
          </a:solidFill>
          <a:ln>
            <a:noFill/>
          </a:ln>
        </p:spPr>
        <p:txBody>
          <a:bodyPr spcFirstLastPara="1" wrap="square" lIns="81267" tIns="40622" rIns="81267" bIns="40622" anchor="ctr" anchorCtr="0">
            <a:noAutofit/>
          </a:bodyPr>
          <a:lstStyle/>
          <a:p>
            <a:pPr algn="ctr"/>
            <a:endParaRPr sz="1244">
              <a:solidFill>
                <a:schemeClr val="lt1"/>
              </a:solidFill>
              <a:latin typeface="Calibri"/>
              <a:ea typeface="Calibri"/>
              <a:cs typeface="Calibri"/>
              <a:sym typeface="Calibri"/>
            </a:endParaRPr>
          </a:p>
        </p:txBody>
      </p:sp>
      <p:pic>
        <p:nvPicPr>
          <p:cNvPr id="15" name="Picture 14">
            <a:extLst>
              <a:ext uri="{FF2B5EF4-FFF2-40B4-BE49-F238E27FC236}">
                <a16:creationId xmlns:a16="http://schemas.microsoft.com/office/drawing/2014/main" id="{9423B8C9-C773-FCE5-E710-1389299A2622}"/>
              </a:ext>
            </a:extLst>
          </p:cNvPr>
          <p:cNvPicPr>
            <a:picLocks noChangeAspect="1"/>
          </p:cNvPicPr>
          <p:nvPr/>
        </p:nvPicPr>
        <p:blipFill>
          <a:blip r:embed="rId5"/>
          <a:stretch>
            <a:fillRect/>
          </a:stretch>
        </p:blipFill>
        <p:spPr>
          <a:xfrm>
            <a:off x="25538643" y="1834140"/>
            <a:ext cx="1579638" cy="2683988"/>
          </a:xfrm>
          <a:prstGeom prst="rect">
            <a:avLst/>
          </a:prstGeom>
        </p:spPr>
      </p:pic>
      <p:sp>
        <p:nvSpPr>
          <p:cNvPr id="16" name="Google Shape;90;p1">
            <a:extLst>
              <a:ext uri="{FF2B5EF4-FFF2-40B4-BE49-F238E27FC236}">
                <a16:creationId xmlns:a16="http://schemas.microsoft.com/office/drawing/2014/main" id="{0C4D49C4-4D1F-BCDD-DDB0-8DC0AE0A69EF}"/>
              </a:ext>
            </a:extLst>
          </p:cNvPr>
          <p:cNvSpPr txBox="1"/>
          <p:nvPr/>
        </p:nvSpPr>
        <p:spPr>
          <a:xfrm>
            <a:off x="1069858" y="2596650"/>
            <a:ext cx="4180031" cy="1723641"/>
          </a:xfrm>
          <a:prstGeom prst="rect">
            <a:avLst/>
          </a:prstGeom>
          <a:noFill/>
          <a:ln>
            <a:noFill/>
          </a:ln>
        </p:spPr>
        <p:txBody>
          <a:bodyPr spcFirstLastPara="1" wrap="square" lIns="81267" tIns="40622" rIns="81267" bIns="40622" anchor="t" anchorCtr="0">
            <a:spAutoFit/>
          </a:bodyPr>
          <a:lstStyle/>
          <a:p>
            <a:pPr algn="ctr"/>
            <a:r>
              <a:rPr lang="en-US" sz="3556" dirty="0">
                <a:solidFill>
                  <a:schemeClr val="lt1"/>
                </a:solidFill>
                <a:latin typeface="Source Sans Pro"/>
                <a:ea typeface="Source Sans Pro"/>
                <a:cs typeface="Source Sans Pro"/>
                <a:sym typeface="Source Sans Pro"/>
              </a:rPr>
              <a:t>Carney Center For Brain Science</a:t>
            </a:r>
          </a:p>
          <a:p>
            <a:pPr algn="ctr"/>
            <a:r>
              <a:rPr lang="en-US" sz="3556" dirty="0">
                <a:solidFill>
                  <a:schemeClr val="lt1"/>
                </a:solidFill>
                <a:latin typeface="Source Sans Pro"/>
                <a:ea typeface="Source Sans Pro"/>
                <a:cs typeface="Source Sans Pro"/>
                <a:sym typeface="Source Sans Pro"/>
              </a:rPr>
              <a:t>SREIP for VLANS</a:t>
            </a:r>
            <a:endParaRPr sz="3556" dirty="0">
              <a:solidFill>
                <a:schemeClr val="dk1"/>
              </a:solidFill>
              <a:latin typeface="Source Sans Pro"/>
              <a:ea typeface="Source Sans Pro"/>
              <a:cs typeface="Source Sans Pro"/>
              <a:sym typeface="Source Sans Pro"/>
            </a:endParaRPr>
          </a:p>
        </p:txBody>
      </p:sp>
      <p:sp>
        <p:nvSpPr>
          <p:cNvPr id="17" name="Google Shape;91;p1">
            <a:extLst>
              <a:ext uri="{FF2B5EF4-FFF2-40B4-BE49-F238E27FC236}">
                <a16:creationId xmlns:a16="http://schemas.microsoft.com/office/drawing/2014/main" id="{45A0ECBD-01B8-7604-6D8D-4B8BF4D942D6}"/>
              </a:ext>
            </a:extLst>
          </p:cNvPr>
          <p:cNvSpPr txBox="1"/>
          <p:nvPr/>
        </p:nvSpPr>
        <p:spPr>
          <a:xfrm>
            <a:off x="5624832" y="2158028"/>
            <a:ext cx="18649329" cy="1586808"/>
          </a:xfrm>
          <a:prstGeom prst="rect">
            <a:avLst/>
          </a:prstGeom>
          <a:noFill/>
          <a:ln>
            <a:noFill/>
          </a:ln>
        </p:spPr>
        <p:txBody>
          <a:bodyPr spcFirstLastPara="1" wrap="square" lIns="81267" tIns="40622" rIns="81267" bIns="40622" anchor="t" anchorCtr="0">
            <a:spAutoFit/>
          </a:bodyPr>
          <a:lstStyle/>
          <a:p>
            <a:pPr algn="ctr"/>
            <a:r>
              <a:rPr lang="en-US" sz="4267" b="1" dirty="0">
                <a:solidFill>
                  <a:schemeClr val="lt1"/>
                </a:solidFill>
                <a:latin typeface="Source Sans Pro"/>
                <a:ea typeface="Source Sans Pro"/>
                <a:cs typeface="Source Sans Pro"/>
                <a:sym typeface="Source Sans Pro"/>
              </a:rPr>
              <a:t>Rush: A 3d Computational Fluid Model of Neuro-Vascular Coupling as a mechanism for Heat Management and Biochemical Computing</a:t>
            </a:r>
          </a:p>
          <a:p>
            <a:pPr algn="ctr"/>
            <a:endParaRPr sz="1244" dirty="0"/>
          </a:p>
        </p:txBody>
      </p:sp>
      <p:pic>
        <p:nvPicPr>
          <p:cNvPr id="18" name="Picture 17">
            <a:extLst>
              <a:ext uri="{FF2B5EF4-FFF2-40B4-BE49-F238E27FC236}">
                <a16:creationId xmlns:a16="http://schemas.microsoft.com/office/drawing/2014/main" id="{B0FBD035-8FE0-5827-F39C-E26F812CABA0}"/>
              </a:ext>
            </a:extLst>
          </p:cNvPr>
          <p:cNvPicPr>
            <a:picLocks noChangeAspect="1"/>
          </p:cNvPicPr>
          <p:nvPr/>
        </p:nvPicPr>
        <p:blipFill>
          <a:blip r:embed="rId6"/>
          <a:srcRect l="22397" r="22341" b="1622"/>
          <a:stretch>
            <a:fillRect/>
          </a:stretch>
        </p:blipFill>
        <p:spPr>
          <a:xfrm>
            <a:off x="11809874" y="12436405"/>
            <a:ext cx="7526111" cy="6551527"/>
          </a:xfrm>
          <a:prstGeom prst="rect">
            <a:avLst/>
          </a:prstGeom>
        </p:spPr>
      </p:pic>
      <p:pic>
        <p:nvPicPr>
          <p:cNvPr id="19" name="Picture 18">
            <a:extLst>
              <a:ext uri="{FF2B5EF4-FFF2-40B4-BE49-F238E27FC236}">
                <a16:creationId xmlns:a16="http://schemas.microsoft.com/office/drawing/2014/main" id="{817D244A-2987-B2F8-ECA7-7E659B3E2C28}"/>
              </a:ext>
            </a:extLst>
          </p:cNvPr>
          <p:cNvPicPr>
            <a:picLocks noChangeAspect="1"/>
          </p:cNvPicPr>
          <p:nvPr/>
        </p:nvPicPr>
        <p:blipFill>
          <a:blip r:embed="rId7"/>
          <a:srcRect l="46592" t="24784" r="20642" b="9003"/>
          <a:stretch>
            <a:fillRect/>
          </a:stretch>
        </p:blipFill>
        <p:spPr>
          <a:xfrm>
            <a:off x="13519571" y="5015094"/>
            <a:ext cx="5816414" cy="7068835"/>
          </a:xfrm>
          <a:prstGeom prst="rect">
            <a:avLst/>
          </a:prstGeom>
        </p:spPr>
      </p:pic>
      <mc:AlternateContent xmlns:mc="http://schemas.openxmlformats.org/markup-compatibility/2006">
        <mc:Choice xmlns:a14="http://schemas.microsoft.com/office/drawing/2010/main" Requires="a14">
          <p:sp>
            <p:nvSpPr>
              <p:cNvPr id="20" name="Google Shape;114;p2">
                <a:extLst>
                  <a:ext uri="{FF2B5EF4-FFF2-40B4-BE49-F238E27FC236}">
                    <a16:creationId xmlns:a16="http://schemas.microsoft.com/office/drawing/2014/main" id="{CE65BDCD-DC63-0308-7CB8-26FF313C5360}"/>
                  </a:ext>
                </a:extLst>
              </p:cNvPr>
              <p:cNvSpPr/>
              <p:nvPr/>
            </p:nvSpPr>
            <p:spPr>
              <a:xfrm>
                <a:off x="19496676" y="4744452"/>
                <a:ext cx="9272692" cy="3148820"/>
              </a:xfrm>
              <a:prstGeom prst="rect">
                <a:avLst/>
              </a:prstGeom>
              <a:solidFill>
                <a:srgbClr val="D8D8D8"/>
              </a:solidFill>
              <a:ln>
                <a:noFill/>
              </a:ln>
            </p:spPr>
            <p:txBody>
              <a:bodyPr spcFirstLastPara="1" wrap="square" lIns="81267" tIns="40622" rIns="81267" bIns="40622" anchor="ctr" anchorCtr="0">
                <a:noAutofit/>
              </a:bodyPr>
              <a:lstStyle/>
              <a:p>
                <a:pPr lvl="0" algn="ctr"/>
                <a:r>
                  <a:rPr lang="en-US" sz="2844" b="1" dirty="0">
                    <a:solidFill>
                      <a:schemeClr val="tx1"/>
                    </a:solidFill>
                    <a:latin typeface="Arial" panose="020B0604020202020204" pitchFamily="34" charset="0"/>
                    <a:cs typeface="Arial" panose="020B0604020202020204" pitchFamily="34" charset="0"/>
                  </a:rPr>
                  <a:t>Equations of interest</a:t>
                </a:r>
              </a:p>
              <a:p>
                <a:pPr algn="ctr"/>
                <a:r>
                  <a:rPr lang="en-US" sz="2844" dirty="0">
                    <a:solidFill>
                      <a:schemeClr val="tx1"/>
                    </a:solidFill>
                    <a:latin typeface="Arial" panose="020B0604020202020204" pitchFamily="34" charset="0"/>
                    <a:cs typeface="Arial" panose="020B0604020202020204" pitchFamily="34" charset="0"/>
                  </a:rPr>
                  <a:t>Characteristic Diffusion Length</a:t>
                </a:r>
              </a:p>
              <a:p>
                <a:pPr algn="ctr"/>
                <a14:m>
                  <m:oMathPara xmlns:m="http://schemas.openxmlformats.org/officeDocument/2006/math">
                    <m:oMathParaPr>
                      <m:jc m:val="centerGroup"/>
                    </m:oMathParaPr>
                    <m:oMath xmlns:m="http://schemas.openxmlformats.org/officeDocument/2006/math">
                      <m:sSub>
                        <m:sSubPr>
                          <m:ctrlPr>
                            <a:rPr lang="en-US" sz="2844" b="1" i="1">
                              <a:solidFill>
                                <a:schemeClr val="tx1"/>
                              </a:solidFill>
                              <a:latin typeface="Cambria Math" panose="02040503050406030204" pitchFamily="18" charset="0"/>
                              <a:cs typeface="Arial" panose="020B0604020202020204" pitchFamily="34" charset="0"/>
                            </a:rPr>
                          </m:ctrlPr>
                        </m:sSubPr>
                        <m:e>
                          <m:r>
                            <a:rPr lang="en-US" sz="2844" b="1" i="1">
                              <a:solidFill>
                                <a:schemeClr val="tx1"/>
                              </a:solidFill>
                              <a:latin typeface="Cambria Math" panose="02040503050406030204" pitchFamily="18" charset="0"/>
                              <a:cs typeface="Arial" panose="020B0604020202020204" pitchFamily="34" charset="0"/>
                            </a:rPr>
                            <m:t>𝒍</m:t>
                          </m:r>
                        </m:e>
                        <m:sub>
                          <m:r>
                            <a:rPr lang="en-US" sz="2844" b="1" i="1">
                              <a:solidFill>
                                <a:schemeClr val="tx1"/>
                              </a:solidFill>
                              <a:latin typeface="Cambria Math" panose="02040503050406030204" pitchFamily="18" charset="0"/>
                              <a:cs typeface="Arial" panose="020B0604020202020204" pitchFamily="34" charset="0"/>
                            </a:rPr>
                            <m:t>𝒊</m:t>
                          </m:r>
                        </m:sub>
                      </m:sSub>
                      <m:r>
                        <a:rPr lang="en-US" sz="2844" b="1" i="1">
                          <a:solidFill>
                            <a:schemeClr val="tx1"/>
                          </a:solidFill>
                          <a:latin typeface="Cambria Math" panose="02040503050406030204" pitchFamily="18" charset="0"/>
                          <a:cs typeface="Arial" panose="020B0604020202020204" pitchFamily="34" charset="0"/>
                        </a:rPr>
                        <m:t>=</m:t>
                      </m:r>
                      <m:rad>
                        <m:radPr>
                          <m:degHide m:val="on"/>
                          <m:ctrlPr>
                            <a:rPr lang="en-US" sz="2844" b="1" i="1">
                              <a:solidFill>
                                <a:schemeClr val="tx1"/>
                              </a:solidFill>
                              <a:latin typeface="Cambria Math" panose="02040503050406030204" pitchFamily="18" charset="0"/>
                              <a:cs typeface="Arial" panose="020B0604020202020204" pitchFamily="34" charset="0"/>
                            </a:rPr>
                          </m:ctrlPr>
                        </m:radPr>
                        <m:deg/>
                        <m:e>
                          <m:r>
                            <a:rPr lang="en-US" sz="2844" b="1" i="1">
                              <a:solidFill>
                                <a:schemeClr val="tx1"/>
                              </a:solidFill>
                              <a:latin typeface="Cambria Math" panose="02040503050406030204" pitchFamily="18" charset="0"/>
                              <a:cs typeface="Arial" panose="020B0604020202020204" pitchFamily="34" charset="0"/>
                            </a:rPr>
                            <m:t>𝟒</m:t>
                          </m:r>
                          <m:r>
                            <a:rPr lang="en-US" sz="2844" b="1" i="1">
                              <a:solidFill>
                                <a:schemeClr val="tx1"/>
                              </a:solidFill>
                              <a:latin typeface="Cambria Math" panose="02040503050406030204" pitchFamily="18" charset="0"/>
                              <a:cs typeface="Arial" panose="020B0604020202020204" pitchFamily="34" charset="0"/>
                            </a:rPr>
                            <m:t>𝜶</m:t>
                          </m:r>
                          <m:r>
                            <a:rPr lang="en-US" sz="2844" b="1" i="1">
                              <a:solidFill>
                                <a:schemeClr val="tx1"/>
                              </a:solidFill>
                              <a:latin typeface="Cambria Math" panose="02040503050406030204" pitchFamily="18" charset="0"/>
                              <a:cs typeface="Arial" panose="020B0604020202020204" pitchFamily="34" charset="0"/>
                            </a:rPr>
                            <m:t>𝒕</m:t>
                          </m:r>
                        </m:e>
                      </m:rad>
                    </m:oMath>
                  </m:oMathPara>
                </a14:m>
                <a:endParaRPr lang="en-US" sz="2844" b="1" dirty="0">
                  <a:solidFill>
                    <a:schemeClr val="tx1"/>
                  </a:solidFill>
                  <a:latin typeface="Arial" panose="020B0604020202020204" pitchFamily="34" charset="0"/>
                  <a:cs typeface="Arial" panose="020B0604020202020204" pitchFamily="34" charset="0"/>
                </a:endParaRPr>
              </a:p>
              <a:p>
                <a:pPr algn="ctr"/>
                <a:endParaRPr lang="en-US" sz="2844" b="1" dirty="0">
                  <a:solidFill>
                    <a:schemeClr val="tx1"/>
                  </a:solidFill>
                  <a:latin typeface="Arial" panose="020B0604020202020204" pitchFamily="34" charset="0"/>
                  <a:cs typeface="Arial" panose="020B0604020202020204" pitchFamily="34" charset="0"/>
                </a:endParaRPr>
              </a:p>
              <a:p>
                <a:pPr lvl="0" algn="ctr"/>
                <a:r>
                  <a:rPr lang="en-US" sz="2844" dirty="0">
                    <a:solidFill>
                      <a:schemeClr val="tx1"/>
                    </a:solidFill>
                    <a:latin typeface="Arial" panose="020B0604020202020204" pitchFamily="34" charset="0"/>
                    <a:cs typeface="Arial" panose="020B0604020202020204" pitchFamily="34" charset="0"/>
                  </a:rPr>
                  <a:t>Starling Equation</a:t>
                </a:r>
              </a:p>
              <a:p>
                <a:pPr lvl="0" algn="ctr"/>
                <a14:m>
                  <m:oMathPara xmlns:m="http://schemas.openxmlformats.org/officeDocument/2006/math">
                    <m:oMathParaPr>
                      <m:jc m:val="centerGroup"/>
                    </m:oMathParaPr>
                    <m:oMath xmlns:m="http://schemas.openxmlformats.org/officeDocument/2006/math">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i="1">
                              <a:solidFill>
                                <a:schemeClr val="tx1"/>
                              </a:solidFill>
                              <a:latin typeface="Cambria Math" panose="02040503050406030204" pitchFamily="18" charset="0"/>
                              <a:ea typeface="Calibri"/>
                              <a:cs typeface="Arial" panose="020B0604020202020204" pitchFamily="34" charset="0"/>
                              <a:sym typeface="Calibri"/>
                            </a:rPr>
                            <m:t>𝑱</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𝒗</m:t>
                          </m:r>
                        </m:sub>
                      </m:sSub>
                      <m:r>
                        <a:rPr lang="en-US" sz="2844" b="1" i="1">
                          <a:solidFill>
                            <a:schemeClr val="tx1"/>
                          </a:solidFill>
                          <a:latin typeface="Cambria Math" panose="02040503050406030204" pitchFamily="18" charset="0"/>
                          <a:ea typeface="Calibri"/>
                          <a:cs typeface="Arial" panose="020B0604020202020204" pitchFamily="34" charset="0"/>
                          <a:sym typeface="Calibri"/>
                        </a:rPr>
                        <m:t>=</m:t>
                      </m:r>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i="1">
                              <a:solidFill>
                                <a:schemeClr val="tx1"/>
                              </a:solidFill>
                              <a:latin typeface="Cambria Math" panose="02040503050406030204" pitchFamily="18" charset="0"/>
                              <a:ea typeface="Calibri"/>
                              <a:cs typeface="Arial" panose="020B0604020202020204" pitchFamily="34" charset="0"/>
                              <a:sym typeface="Calibri"/>
                            </a:rPr>
                            <m:t>𝑳</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𝒑</m:t>
                          </m:r>
                        </m:sub>
                      </m:sSub>
                      <m:r>
                        <a:rPr lang="en-US" sz="2844" b="1" i="1">
                          <a:solidFill>
                            <a:schemeClr val="tx1"/>
                          </a:solidFill>
                          <a:latin typeface="Cambria Math" panose="02040503050406030204" pitchFamily="18" charset="0"/>
                          <a:ea typeface="Calibri"/>
                          <a:cs typeface="Arial" panose="020B0604020202020204" pitchFamily="34" charset="0"/>
                          <a:sym typeface="Calibri"/>
                        </a:rPr>
                        <m:t>𝑺</m:t>
                      </m:r>
                      <m:d>
                        <m:dPr>
                          <m:begChr m:val="["/>
                          <m:endChr m:val="]"/>
                          <m:ctrlPr>
                            <a:rPr lang="en-US" sz="2844" b="1" i="1">
                              <a:solidFill>
                                <a:schemeClr val="tx1"/>
                              </a:solidFill>
                              <a:latin typeface="Cambria Math" panose="02040503050406030204" pitchFamily="18" charset="0"/>
                              <a:ea typeface="Calibri"/>
                              <a:cs typeface="Arial" panose="020B0604020202020204" pitchFamily="34" charset="0"/>
                              <a:sym typeface="Calibri"/>
                            </a:rPr>
                          </m:ctrlPr>
                        </m:dPr>
                        <m:e>
                          <m:d>
                            <m:dPr>
                              <m:ctrlPr>
                                <a:rPr lang="en-US" sz="2844" b="1" i="1">
                                  <a:solidFill>
                                    <a:schemeClr val="tx1"/>
                                  </a:solidFill>
                                  <a:latin typeface="Cambria Math" panose="02040503050406030204" pitchFamily="18" charset="0"/>
                                  <a:ea typeface="Calibri"/>
                                  <a:cs typeface="Arial" panose="020B0604020202020204" pitchFamily="34" charset="0"/>
                                  <a:sym typeface="Calibri"/>
                                </a:rPr>
                              </m:ctrlPr>
                            </m:dPr>
                            <m:e>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i="1">
                                      <a:solidFill>
                                        <a:schemeClr val="tx1"/>
                                      </a:solidFill>
                                      <a:latin typeface="Cambria Math" panose="02040503050406030204" pitchFamily="18" charset="0"/>
                                      <a:ea typeface="Calibri"/>
                                      <a:cs typeface="Arial" panose="020B0604020202020204" pitchFamily="34" charset="0"/>
                                      <a:sym typeface="Calibri"/>
                                    </a:rPr>
                                    <m:t>𝑷</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𝒄</m:t>
                                  </m:r>
                                </m:sub>
                              </m:sSub>
                              <m:r>
                                <a:rPr lang="en-US" sz="2844" b="1" i="1">
                                  <a:solidFill>
                                    <a:schemeClr val="tx1"/>
                                  </a:solidFill>
                                  <a:latin typeface="Cambria Math" panose="02040503050406030204" pitchFamily="18" charset="0"/>
                                  <a:ea typeface="Calibri"/>
                                  <a:cs typeface="Arial" panose="020B0604020202020204" pitchFamily="34" charset="0"/>
                                  <a:sym typeface="Calibri"/>
                                </a:rPr>
                                <m:t>−</m:t>
                              </m:r>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i="1">
                                      <a:solidFill>
                                        <a:schemeClr val="tx1"/>
                                      </a:solidFill>
                                      <a:latin typeface="Cambria Math" panose="02040503050406030204" pitchFamily="18" charset="0"/>
                                      <a:ea typeface="Calibri"/>
                                      <a:cs typeface="Arial" panose="020B0604020202020204" pitchFamily="34" charset="0"/>
                                      <a:sym typeface="Calibri"/>
                                    </a:rPr>
                                    <m:t>𝑷</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𝒊</m:t>
                                  </m:r>
                                </m:sub>
                              </m:sSub>
                            </m:e>
                          </m:d>
                          <m:r>
                            <a:rPr lang="en-US" sz="2844" b="1" i="1">
                              <a:solidFill>
                                <a:schemeClr val="tx1"/>
                              </a:solidFill>
                              <a:latin typeface="Cambria Math" panose="02040503050406030204" pitchFamily="18" charset="0"/>
                              <a:ea typeface="Calibri"/>
                              <a:cs typeface="Arial" panose="020B0604020202020204" pitchFamily="34" charset="0"/>
                              <a:sym typeface="Calibri"/>
                            </a:rPr>
                            <m:t>−</m:t>
                          </m:r>
                          <m:r>
                            <a:rPr lang="en-US" sz="2844" b="1" i="1">
                              <a:solidFill>
                                <a:schemeClr val="tx1"/>
                              </a:solidFill>
                              <a:latin typeface="Cambria Math" panose="02040503050406030204" pitchFamily="18" charset="0"/>
                              <a:ea typeface="Calibri"/>
                              <a:cs typeface="Arial" panose="020B0604020202020204" pitchFamily="34" charset="0"/>
                              <a:sym typeface="Calibri"/>
                            </a:rPr>
                            <m:t>𝝈</m:t>
                          </m:r>
                          <m:d>
                            <m:dPr>
                              <m:ctrlPr>
                                <a:rPr lang="en-US" sz="2844" b="1" i="1">
                                  <a:solidFill>
                                    <a:schemeClr val="tx1"/>
                                  </a:solidFill>
                                  <a:latin typeface="Cambria Math" panose="02040503050406030204" pitchFamily="18" charset="0"/>
                                  <a:ea typeface="Calibri"/>
                                  <a:cs typeface="Arial" panose="020B0604020202020204" pitchFamily="34" charset="0"/>
                                  <a:sym typeface="Calibri"/>
                                </a:rPr>
                              </m:ctrlPr>
                            </m:dPr>
                            <m:e>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a:solidFill>
                                        <a:schemeClr val="tx1"/>
                                      </a:solidFill>
                                      <a:latin typeface="Cambria Math" panose="02040503050406030204" pitchFamily="18" charset="0"/>
                                      <a:ea typeface="Calibri"/>
                                      <a:cs typeface="Arial" panose="020B0604020202020204" pitchFamily="34" charset="0"/>
                                      <a:sym typeface="Calibri"/>
                                    </a:rPr>
                                    <m:t>𝚷</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𝒄</m:t>
                                  </m:r>
                                </m:sub>
                              </m:sSub>
                              <m:r>
                                <a:rPr lang="en-US" sz="2844" b="1" i="1">
                                  <a:solidFill>
                                    <a:schemeClr val="tx1"/>
                                  </a:solidFill>
                                  <a:latin typeface="Cambria Math" panose="02040503050406030204" pitchFamily="18" charset="0"/>
                                  <a:ea typeface="Calibri"/>
                                  <a:cs typeface="Arial" panose="020B0604020202020204" pitchFamily="34" charset="0"/>
                                  <a:sym typeface="Calibri"/>
                                </a:rPr>
                                <m:t>−</m:t>
                              </m:r>
                              <m:sSub>
                                <m:sSubPr>
                                  <m:ctrlPr>
                                    <a:rPr lang="en-US" sz="2844" b="1" i="1">
                                      <a:solidFill>
                                        <a:schemeClr val="tx1"/>
                                      </a:solidFill>
                                      <a:latin typeface="Cambria Math" panose="02040503050406030204" pitchFamily="18" charset="0"/>
                                      <a:ea typeface="Calibri"/>
                                      <a:cs typeface="Arial" panose="020B0604020202020204" pitchFamily="34" charset="0"/>
                                      <a:sym typeface="Calibri"/>
                                    </a:rPr>
                                  </m:ctrlPr>
                                </m:sSubPr>
                                <m:e>
                                  <m:r>
                                    <a:rPr lang="en-US" sz="2844" b="1">
                                      <a:solidFill>
                                        <a:schemeClr val="tx1"/>
                                      </a:solidFill>
                                      <a:latin typeface="Cambria Math" panose="02040503050406030204" pitchFamily="18" charset="0"/>
                                      <a:ea typeface="Calibri"/>
                                      <a:cs typeface="Arial" panose="020B0604020202020204" pitchFamily="34" charset="0"/>
                                      <a:sym typeface="Calibri"/>
                                    </a:rPr>
                                    <m:t>𝚷</m:t>
                                  </m:r>
                                </m:e>
                                <m:sub>
                                  <m:r>
                                    <a:rPr lang="en-US" sz="2844" b="1" i="1">
                                      <a:solidFill>
                                        <a:schemeClr val="tx1"/>
                                      </a:solidFill>
                                      <a:latin typeface="Cambria Math" panose="02040503050406030204" pitchFamily="18" charset="0"/>
                                      <a:ea typeface="Calibri"/>
                                      <a:cs typeface="Arial" panose="020B0604020202020204" pitchFamily="34" charset="0"/>
                                      <a:sym typeface="Calibri"/>
                                    </a:rPr>
                                    <m:t>𝒊</m:t>
                                  </m:r>
                                </m:sub>
                              </m:sSub>
                            </m:e>
                          </m:d>
                        </m:e>
                      </m:d>
                    </m:oMath>
                  </m:oMathPara>
                </a14:m>
                <a:endParaRPr lang="en-US" sz="2844" b="1" dirty="0">
                  <a:solidFill>
                    <a:schemeClr val="tx1"/>
                  </a:solidFill>
                  <a:latin typeface="Arial" panose="020B0604020202020204" pitchFamily="34" charset="0"/>
                  <a:ea typeface="Calibri"/>
                  <a:cs typeface="Arial" panose="020B0604020202020204" pitchFamily="34" charset="0"/>
                  <a:sym typeface="Calibri"/>
                </a:endParaRPr>
              </a:p>
            </p:txBody>
          </p:sp>
        </mc:Choice>
        <mc:Fallback>
          <p:sp>
            <p:nvSpPr>
              <p:cNvPr id="20" name="Google Shape;114;p2">
                <a:extLst>
                  <a:ext uri="{FF2B5EF4-FFF2-40B4-BE49-F238E27FC236}">
                    <a16:creationId xmlns:a16="http://schemas.microsoft.com/office/drawing/2014/main" id="{CE65BDCD-DC63-0308-7CB8-26FF313C5360}"/>
                  </a:ext>
                </a:extLst>
              </p:cNvPr>
              <p:cNvSpPr>
                <a:spLocks noRot="1" noChangeAspect="1" noMove="1" noResize="1" noEditPoints="1" noAdjustHandles="1" noChangeArrowheads="1" noChangeShapeType="1" noTextEdit="1"/>
              </p:cNvSpPr>
              <p:nvPr/>
            </p:nvSpPr>
            <p:spPr>
              <a:xfrm>
                <a:off x="19496676" y="4744452"/>
                <a:ext cx="9272692" cy="3148820"/>
              </a:xfrm>
              <a:prstGeom prst="rect">
                <a:avLst/>
              </a:prstGeom>
              <a:blipFill>
                <a:blip r:embed="rId8"/>
                <a:stretch>
                  <a:fillRect/>
                </a:stretch>
              </a:blipFill>
              <a:ln>
                <a:noFill/>
              </a:ln>
            </p:spPr>
            <p:txBody>
              <a:bodyPr/>
              <a:lstStyle/>
              <a:p>
                <a:r>
                  <a:rPr lang="en-US">
                    <a:noFill/>
                  </a:rPr>
                  <a:t> </a:t>
                </a:r>
              </a:p>
            </p:txBody>
          </p:sp>
        </mc:Fallback>
      </mc:AlternateContent>
      <p:pic>
        <p:nvPicPr>
          <p:cNvPr id="21" name="Picture 20">
            <a:extLst>
              <a:ext uri="{FF2B5EF4-FFF2-40B4-BE49-F238E27FC236}">
                <a16:creationId xmlns:a16="http://schemas.microsoft.com/office/drawing/2014/main" id="{B8DBCE0D-0517-870A-AD73-5123A4CC985A}"/>
              </a:ext>
            </a:extLst>
          </p:cNvPr>
          <p:cNvPicPr>
            <a:picLocks noChangeAspect="1"/>
          </p:cNvPicPr>
          <p:nvPr/>
        </p:nvPicPr>
        <p:blipFill>
          <a:blip r:embed="rId9"/>
          <a:stretch>
            <a:fillRect/>
          </a:stretch>
        </p:blipFill>
        <p:spPr>
          <a:xfrm>
            <a:off x="23026436" y="19434446"/>
            <a:ext cx="1573437" cy="655335"/>
          </a:xfrm>
          <a:prstGeom prst="rect">
            <a:avLst/>
          </a:prstGeom>
        </p:spPr>
      </p:pic>
      <p:pic>
        <p:nvPicPr>
          <p:cNvPr id="22" name="Picture 21" descr="Edema | Concise Medical Knowledge">
            <a:extLst>
              <a:ext uri="{FF2B5EF4-FFF2-40B4-BE49-F238E27FC236}">
                <a16:creationId xmlns:a16="http://schemas.microsoft.com/office/drawing/2014/main" id="{17DCCA67-2EAD-9768-20C4-E284A98A84C5}"/>
              </a:ext>
            </a:extLst>
          </p:cNvPr>
          <p:cNvPicPr>
            <a:picLocks noChangeAspect="1"/>
          </p:cNvPicPr>
          <p:nvPr/>
        </p:nvPicPr>
        <p:blipFill>
          <a:blip r:embed="rId10"/>
          <a:stretch>
            <a:fillRect/>
          </a:stretch>
        </p:blipFill>
        <p:spPr>
          <a:xfrm>
            <a:off x="20805013" y="12831807"/>
            <a:ext cx="7147450" cy="4205045"/>
          </a:xfrm>
          <a:prstGeom prst="rect">
            <a:avLst/>
          </a:prstGeom>
        </p:spPr>
      </p:pic>
      <mc:AlternateContent xmlns:mc="http://schemas.openxmlformats.org/markup-compatibility/2006">
        <mc:Choice xmlns:a14="http://schemas.microsoft.com/office/drawing/2010/main" Requires="a14">
          <p:sp>
            <p:nvSpPr>
              <p:cNvPr id="23" name="Google Shape;119;p2">
                <a:extLst>
                  <a:ext uri="{FF2B5EF4-FFF2-40B4-BE49-F238E27FC236}">
                    <a16:creationId xmlns:a16="http://schemas.microsoft.com/office/drawing/2014/main" id="{0161C417-208C-94B0-8D01-EB20EA9043B4}"/>
                  </a:ext>
                </a:extLst>
              </p:cNvPr>
              <p:cNvSpPr txBox="1"/>
              <p:nvPr/>
            </p:nvSpPr>
            <p:spPr>
              <a:xfrm>
                <a:off x="4401765" y="19338084"/>
                <a:ext cx="6405815" cy="1451387"/>
              </a:xfrm>
              <a:prstGeom prst="rect">
                <a:avLst/>
              </a:prstGeom>
              <a:noFill/>
              <a:ln>
                <a:noFill/>
              </a:ln>
            </p:spPr>
            <p:txBody>
              <a:bodyPr spcFirstLastPara="1" wrap="square" lIns="81267" tIns="40622" rIns="81267" bIns="40622" anchor="t" anchorCtr="0">
                <a:spAutoFit/>
              </a:bodyPr>
              <a:lstStyle/>
              <a:p>
                <a:pPr lvl="0"/>
                <a14:m>
                  <m:oMath xmlns:m="http://schemas.openxmlformats.org/officeDocument/2006/math">
                    <m:sSub>
                      <m:sSubPr>
                        <m:ctrlPr>
                          <a:rPr lang="en-US" sz="1244" i="1">
                            <a:latin typeface="Cambria Math" panose="02040503050406030204" pitchFamily="18" charset="0"/>
                          </a:rPr>
                        </m:ctrlPr>
                      </m:sSubPr>
                      <m:e>
                        <m:r>
                          <a:rPr lang="en-US" sz="1244" i="1">
                            <a:latin typeface="Cambria Math" panose="02040503050406030204" pitchFamily="18" charset="0"/>
                          </a:rPr>
                          <m:t>𝑙</m:t>
                        </m:r>
                      </m:e>
                      <m:sub>
                        <m:r>
                          <a:rPr lang="en-US" sz="1244" i="1">
                            <a:latin typeface="Cambria Math" panose="02040503050406030204" pitchFamily="18" charset="0"/>
                          </a:rPr>
                          <m:t>𝑖</m:t>
                        </m:r>
                      </m:sub>
                    </m:sSub>
                    <m:r>
                      <a:rPr lang="en-US" sz="1244" i="1">
                        <a:latin typeface="Cambria Math" panose="02040503050406030204" pitchFamily="18" charset="0"/>
                      </a:rPr>
                      <m:t>=</m:t>
                    </m:r>
                  </m:oMath>
                </a14:m>
                <a:r>
                  <a:rPr lang="en-US" sz="1244" dirty="0">
                    <a:latin typeface="Arial" panose="020B0604020202020204" pitchFamily="34" charset="0"/>
                    <a:cs typeface="Arial" panose="020B0604020202020204" pitchFamily="34" charset="0"/>
                  </a:rPr>
                  <a:t> distance of conductivity</a:t>
                </a:r>
              </a:p>
              <a:p>
                <a:pPr lvl="0"/>
                <a14:m>
                  <m:oMathPara xmlns:m="http://schemas.openxmlformats.org/officeDocument/2006/math">
                    <m:oMathParaPr>
                      <m:jc m:val="left"/>
                    </m:oMathParaPr>
                    <m:oMath xmlns:m="http://schemas.openxmlformats.org/officeDocument/2006/math">
                      <m:r>
                        <a:rPr lang="en-US" sz="1244" i="1">
                          <a:latin typeface="Cambria Math" panose="02040503050406030204" pitchFamily="18" charset="0"/>
                        </a:rPr>
                        <m:t>𝛼</m:t>
                      </m:r>
                      <m:r>
                        <a:rPr lang="en-US" sz="1244" i="1">
                          <a:latin typeface="Cambria Math" panose="02040503050406030204" pitchFamily="18" charset="0"/>
                        </a:rPr>
                        <m:t>=</m:t>
                      </m:r>
                      <m:f>
                        <m:fPr>
                          <m:ctrlPr>
                            <a:rPr lang="en-US" sz="1244" i="1">
                              <a:latin typeface="Cambria Math" panose="02040503050406030204" pitchFamily="18" charset="0"/>
                            </a:rPr>
                          </m:ctrlPr>
                        </m:fPr>
                        <m:num>
                          <m:r>
                            <m:rPr>
                              <m:sty m:val="p"/>
                            </m:rPr>
                            <a:rPr lang="en-US" sz="1244">
                              <a:latin typeface="Cambria Math" panose="02040503050406030204" pitchFamily="18" charset="0"/>
                            </a:rPr>
                            <m:t>Κ</m:t>
                          </m:r>
                        </m:num>
                        <m:den>
                          <m:r>
                            <a:rPr lang="en-US" sz="1244" i="1">
                              <a:latin typeface="Cambria Math" panose="02040503050406030204" pitchFamily="18" charset="0"/>
                            </a:rPr>
                            <m:t>𝜌</m:t>
                          </m:r>
                          <m:sSub>
                            <m:sSubPr>
                              <m:ctrlPr>
                                <a:rPr lang="en-US" sz="1244" i="1">
                                  <a:latin typeface="Cambria Math" panose="02040503050406030204" pitchFamily="18" charset="0"/>
                                </a:rPr>
                              </m:ctrlPr>
                            </m:sSubPr>
                            <m:e>
                              <m:r>
                                <a:rPr lang="en-US" sz="1244" i="1">
                                  <a:latin typeface="Cambria Math" panose="02040503050406030204" pitchFamily="18" charset="0"/>
                                </a:rPr>
                                <m:t>𝐶</m:t>
                              </m:r>
                            </m:e>
                            <m:sub>
                              <m:r>
                                <a:rPr lang="en-US" sz="1244" i="1">
                                  <a:latin typeface="Cambria Math" panose="02040503050406030204" pitchFamily="18" charset="0"/>
                                </a:rPr>
                                <m:t>𝑝</m:t>
                              </m:r>
                            </m:sub>
                          </m:sSub>
                        </m:den>
                      </m:f>
                    </m:oMath>
                  </m:oMathPara>
                </a14:m>
                <a:endParaRPr lang="en-US" sz="1244" i="1" dirty="0">
                  <a:latin typeface="Arial" panose="020B0604020202020204" pitchFamily="34" charset="0"/>
                  <a:cs typeface="Arial" panose="020B0604020202020204" pitchFamily="34" charset="0"/>
                </a:endParaRPr>
              </a:p>
              <a:p>
                <a:pPr lvl="0"/>
                <a14:m>
                  <m:oMath xmlns:m="http://schemas.openxmlformats.org/officeDocument/2006/math">
                    <m:r>
                      <a:rPr lang="en-US" sz="1244" i="1">
                        <a:latin typeface="Cambria Math" panose="02040503050406030204" pitchFamily="18" charset="0"/>
                      </a:rPr>
                      <m:t>𝑡</m:t>
                    </m:r>
                    <m:r>
                      <a:rPr lang="en-US" sz="1244" i="1">
                        <a:latin typeface="Cambria Math" panose="02040503050406030204" pitchFamily="18" charset="0"/>
                      </a:rPr>
                      <m:t> = </m:t>
                    </m:r>
                  </m:oMath>
                </a14:m>
                <a:r>
                  <a:rPr lang="en-US" sz="1244" dirty="0">
                    <a:latin typeface="Arial" panose="020B0604020202020204" pitchFamily="34" charset="0"/>
                    <a:cs typeface="Arial" panose="020B0604020202020204" pitchFamily="34" charset="0"/>
                  </a:rPr>
                  <a:t>time</a:t>
                </a:r>
              </a:p>
              <a:p>
                <a:pPr lvl="0"/>
                <a:r>
                  <a:rPr lang="en-US" sz="1244" i="1" dirty="0">
                    <a:latin typeface="Arial" panose="020B0604020202020204" pitchFamily="34" charset="0"/>
                    <a:cs typeface="Arial" panose="020B0604020202020204" pitchFamily="34" charset="0"/>
                  </a:rPr>
                  <a:t> </a:t>
                </a:r>
              </a:p>
              <a:p>
                <a:pPr lvl="0"/>
                <a14:m>
                  <m:oMathPara xmlns:m="http://schemas.openxmlformats.org/officeDocument/2006/math">
                    <m:oMathParaPr>
                      <m:jc m:val="left"/>
                    </m:oMathParaPr>
                    <m:oMath xmlns:m="http://schemas.openxmlformats.org/officeDocument/2006/math">
                      <m:r>
                        <a:rPr lang="en-US" sz="1244" i="1">
                          <a:latin typeface="Cambria Math" panose="02040503050406030204" pitchFamily="18" charset="0"/>
                        </a:rPr>
                        <m:t> </m:t>
                      </m:r>
                    </m:oMath>
                  </m:oMathPara>
                </a14:m>
                <a:endParaRPr lang="en-US" sz="1244" dirty="0">
                  <a:latin typeface="Arial" panose="020B0604020202020204" pitchFamily="34" charset="0"/>
                  <a:cs typeface="Arial" panose="020B0604020202020204" pitchFamily="34" charset="0"/>
                </a:endParaRPr>
              </a:p>
              <a:p>
                <a:pPr lvl="0"/>
                <a:endParaRPr sz="1244" dirty="0">
                  <a:latin typeface="Arial" panose="020B0604020202020204" pitchFamily="34" charset="0"/>
                  <a:cs typeface="Arial" panose="020B0604020202020204" pitchFamily="34" charset="0"/>
                </a:endParaRPr>
              </a:p>
            </p:txBody>
          </p:sp>
        </mc:Choice>
        <mc:Fallback>
          <p:sp>
            <p:nvSpPr>
              <p:cNvPr id="23" name="Google Shape;119;p2">
                <a:extLst>
                  <a:ext uri="{FF2B5EF4-FFF2-40B4-BE49-F238E27FC236}">
                    <a16:creationId xmlns:a16="http://schemas.microsoft.com/office/drawing/2014/main" id="{0161C417-208C-94B0-8D01-EB20EA9043B4}"/>
                  </a:ext>
                </a:extLst>
              </p:cNvPr>
              <p:cNvSpPr txBox="1">
                <a:spLocks noRot="1" noChangeAspect="1" noMove="1" noResize="1" noEditPoints="1" noAdjustHandles="1" noChangeArrowheads="1" noChangeShapeType="1" noTextEdit="1"/>
              </p:cNvSpPr>
              <p:nvPr/>
            </p:nvSpPr>
            <p:spPr>
              <a:xfrm>
                <a:off x="4401765" y="19338084"/>
                <a:ext cx="6405815" cy="1451387"/>
              </a:xfrm>
              <a:prstGeom prst="rect">
                <a:avLst/>
              </a:prstGeom>
              <a:blipFill>
                <a:blip r:embed="rId11"/>
                <a:stretch>
                  <a:fillRect/>
                </a:stretch>
              </a:blipFill>
              <a:ln>
                <a:noFill/>
              </a:ln>
            </p:spPr>
            <p:txBody>
              <a:bodyPr/>
              <a:lstStyle/>
              <a:p>
                <a:r>
                  <a:rPr lang="en-US">
                    <a:noFill/>
                  </a:rPr>
                  <a:t> </a:t>
                </a:r>
              </a:p>
            </p:txBody>
          </p:sp>
        </mc:Fallback>
      </mc:AlternateContent>
      <p:pic>
        <p:nvPicPr>
          <p:cNvPr id="24" name="Picture 23">
            <a:extLst>
              <a:ext uri="{FF2B5EF4-FFF2-40B4-BE49-F238E27FC236}">
                <a16:creationId xmlns:a16="http://schemas.microsoft.com/office/drawing/2014/main" id="{CE717BAF-1720-1199-7C35-A75483AEC31E}"/>
              </a:ext>
            </a:extLst>
          </p:cNvPr>
          <p:cNvPicPr>
            <a:picLocks noChangeAspect="1"/>
          </p:cNvPicPr>
          <p:nvPr/>
        </p:nvPicPr>
        <p:blipFill>
          <a:blip r:embed="rId12"/>
          <a:stretch>
            <a:fillRect/>
          </a:stretch>
        </p:blipFill>
        <p:spPr>
          <a:xfrm>
            <a:off x="513804" y="12493349"/>
            <a:ext cx="10859577" cy="6556045"/>
          </a:xfrm>
          <a:prstGeom prst="rect">
            <a:avLst/>
          </a:prstGeom>
        </p:spPr>
      </p:pic>
      <p:pic>
        <p:nvPicPr>
          <p:cNvPr id="25" name="Picture 24">
            <a:extLst>
              <a:ext uri="{FF2B5EF4-FFF2-40B4-BE49-F238E27FC236}">
                <a16:creationId xmlns:a16="http://schemas.microsoft.com/office/drawing/2014/main" id="{095DF333-E95B-D63B-582F-5CF88EDBF3A8}"/>
              </a:ext>
            </a:extLst>
          </p:cNvPr>
          <p:cNvPicPr>
            <a:picLocks noChangeAspect="1"/>
          </p:cNvPicPr>
          <p:nvPr/>
        </p:nvPicPr>
        <p:blipFill>
          <a:blip r:embed="rId13"/>
          <a:stretch>
            <a:fillRect/>
          </a:stretch>
        </p:blipFill>
        <p:spPr>
          <a:xfrm>
            <a:off x="10025661" y="5015093"/>
            <a:ext cx="3216861" cy="3182910"/>
          </a:xfrm>
          <a:prstGeom prst="rect">
            <a:avLst/>
          </a:prstGeom>
        </p:spPr>
      </p:pic>
      <p:pic>
        <p:nvPicPr>
          <p:cNvPr id="26" name="Picture 25">
            <a:extLst>
              <a:ext uri="{FF2B5EF4-FFF2-40B4-BE49-F238E27FC236}">
                <a16:creationId xmlns:a16="http://schemas.microsoft.com/office/drawing/2014/main" id="{9BADECBD-40BF-B26C-8B10-8ED8ED31C68C}"/>
              </a:ext>
            </a:extLst>
          </p:cNvPr>
          <p:cNvPicPr>
            <a:picLocks noChangeAspect="1"/>
          </p:cNvPicPr>
          <p:nvPr/>
        </p:nvPicPr>
        <p:blipFill>
          <a:blip r:embed="rId14"/>
          <a:stretch>
            <a:fillRect/>
          </a:stretch>
        </p:blipFill>
        <p:spPr>
          <a:xfrm>
            <a:off x="9980085" y="8841456"/>
            <a:ext cx="3281466" cy="3226469"/>
          </a:xfrm>
          <a:prstGeom prst="rect">
            <a:avLst/>
          </a:prstGeom>
        </p:spPr>
      </p:pic>
    </p:spTree>
    <p:extLst>
      <p:ext uri="{BB962C8B-B14F-4D97-AF65-F5344CB8AC3E}">
        <p14:creationId xmlns:p14="http://schemas.microsoft.com/office/powerpoint/2010/main" val="3376643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320420D0-2BEB-1D6C-03D7-E874C8C53B6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26DA4EC-36FB-5776-6BC3-A38280F23D53}"/>
              </a:ext>
            </a:extLst>
          </p:cNvPr>
          <p:cNvGraphicFramePr>
            <a:graphicFrameLocks/>
          </p:cNvGraphicFramePr>
          <p:nvPr>
            <p:custDataLst>
              <p:tags r:id="rId1"/>
            </p:custDataLst>
            <p:extLst>
              <p:ext uri="{D42A27DB-BD31-4B8C-83A1-F6EECF244321}">
                <p14:modId xmlns:p14="http://schemas.microsoft.com/office/powerpoint/2010/main" val="33128902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09" name="Google Shape;109;p2">
            <a:extLst>
              <a:ext uri="{FF2B5EF4-FFF2-40B4-BE49-F238E27FC236}">
                <a16:creationId xmlns:a16="http://schemas.microsoft.com/office/drawing/2014/main" id="{F6E7CD75-351F-FAFF-5F14-5DBBC94563E4}"/>
              </a:ext>
            </a:extLst>
          </p:cNvPr>
          <p:cNvSpPr/>
          <p:nvPr/>
        </p:nvSpPr>
        <p:spPr>
          <a:xfrm>
            <a:off x="513805" y="1737092"/>
            <a:ext cx="28233191" cy="3007360"/>
          </a:xfrm>
          <a:prstGeom prst="rect">
            <a:avLst/>
          </a:prstGeom>
          <a:solidFill>
            <a:srgbClr val="A51417"/>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B3BFB964-D181-0600-5739-A3EE90D9F2EF}"/>
              </a:ext>
            </a:extLst>
          </p:cNvPr>
          <p:cNvSpPr txBox="1"/>
          <p:nvPr/>
        </p:nvSpPr>
        <p:spPr>
          <a:xfrm>
            <a:off x="2793738" y="3696237"/>
            <a:ext cx="23147092" cy="738499"/>
          </a:xfrm>
          <a:prstGeom prst="rect">
            <a:avLst/>
          </a:prstGeom>
          <a:noFill/>
          <a:ln>
            <a:noFill/>
          </a:ln>
        </p:spPr>
        <p:txBody>
          <a:bodyPr spcFirstLastPara="1" wrap="square" lIns="81267" tIns="40622" rIns="81267" bIns="40622" anchor="t" anchorCtr="0">
            <a:spAutoFit/>
          </a:bodyPr>
          <a:lstStyle/>
          <a:p>
            <a:pPr algn="ctr"/>
            <a:r>
              <a:rPr lang="en-US" sz="2133" b="1" dirty="0">
                <a:solidFill>
                  <a:schemeClr val="lt1"/>
                </a:solidFill>
                <a:latin typeface="Source Sans Pro"/>
                <a:ea typeface="Source Sans Pro"/>
                <a:cs typeface="Source Sans Pro"/>
                <a:sym typeface="Source Sans Pro"/>
              </a:rPr>
              <a:t>Jinyao Z. DeSandies, Christopher I. Moore</a:t>
            </a:r>
          </a:p>
          <a:p>
            <a:pPr algn="ctr"/>
            <a:r>
              <a:rPr lang="en-US" sz="2133" b="1" dirty="0">
                <a:solidFill>
                  <a:schemeClr val="lt1"/>
                </a:solidFill>
                <a:latin typeface="Source Sans Pro"/>
                <a:ea typeface="Source Sans Pro"/>
                <a:cs typeface="Source Sans Pro"/>
                <a:sym typeface="Source Sans Pro"/>
              </a:rPr>
              <a:t>Funding provided by National Institute of Neurological Disorders and Stroke for Carney Summer Scholars Program</a:t>
            </a:r>
          </a:p>
        </p:txBody>
      </p:sp>
      <p:sp>
        <p:nvSpPr>
          <p:cNvPr id="112" name="Google Shape;112;p2">
            <a:extLst>
              <a:ext uri="{FF2B5EF4-FFF2-40B4-BE49-F238E27FC236}">
                <a16:creationId xmlns:a16="http://schemas.microsoft.com/office/drawing/2014/main" id="{C4FA33D5-E707-8B30-693E-88A26FA121B8}"/>
              </a:ext>
            </a:extLst>
          </p:cNvPr>
          <p:cNvSpPr/>
          <p:nvPr/>
        </p:nvSpPr>
        <p:spPr>
          <a:xfrm>
            <a:off x="513804" y="5151395"/>
            <a:ext cx="14116596" cy="13638004"/>
          </a:xfrm>
          <a:prstGeom prst="rect">
            <a:avLst/>
          </a:prstGeom>
          <a:solidFill>
            <a:srgbClr val="D9D9D9"/>
          </a:solidFill>
          <a:ln>
            <a:noFill/>
          </a:ln>
        </p:spPr>
        <p:txBody>
          <a:bodyPr spcFirstLastPara="1" wrap="square" lIns="81267" tIns="40622" rIns="81267" bIns="40622" anchor="ctr" anchorCtr="0">
            <a:noAutofit/>
          </a:bodyPr>
          <a:lstStyle/>
          <a:p>
            <a:pPr marL="609608" indent="-609608">
              <a:buFont typeface="Arial" panose="020B0604020202020204" pitchFamily="34" charset="0"/>
              <a:buChar char="•"/>
            </a:pPr>
            <a:r>
              <a:rPr lang="en-US" sz="4445" dirty="0">
                <a:solidFill>
                  <a:schemeClr val="tx1"/>
                </a:solidFill>
                <a:latin typeface="Calibri"/>
                <a:ea typeface="Calibri"/>
                <a:cs typeface="Calibri"/>
                <a:sym typeface="Calibri"/>
              </a:rPr>
              <a:t>Relationship between the neural and vascular system </a:t>
            </a:r>
          </a:p>
          <a:p>
            <a:pPr marL="609608" indent="-609608">
              <a:buFont typeface="Arial" panose="020B0604020202020204" pitchFamily="34" charset="0"/>
              <a:buChar char="•"/>
            </a:pPr>
            <a:r>
              <a:rPr lang="en-US" sz="4445" dirty="0">
                <a:solidFill>
                  <a:schemeClr val="tx1"/>
                </a:solidFill>
                <a:latin typeface="Calibri"/>
                <a:ea typeface="Calibri"/>
                <a:cs typeface="Calibri"/>
                <a:sym typeface="Calibri"/>
              </a:rPr>
              <a:t>conventional hypotheses focus on metabolic delivery;</a:t>
            </a:r>
          </a:p>
          <a:p>
            <a:pPr marL="609608" indent="-609608">
              <a:buFont typeface="Arial" panose="020B0604020202020204" pitchFamily="34" charset="0"/>
              <a:buChar char="•"/>
            </a:pPr>
            <a:r>
              <a:rPr lang="en-US" sz="4445" dirty="0">
                <a:solidFill>
                  <a:schemeClr val="tx1"/>
                </a:solidFill>
                <a:latin typeface="Calibri"/>
                <a:ea typeface="Calibri"/>
                <a:cs typeface="Calibri"/>
                <a:sym typeface="Calibri"/>
              </a:rPr>
              <a:t> The vascular system’s design is optimized for many other functions (Wilson and Matschinsky 2020). </a:t>
            </a:r>
          </a:p>
          <a:p>
            <a:pPr marL="609608" indent="-609608">
              <a:buFont typeface="Arial" panose="020B0604020202020204" pitchFamily="34" charset="0"/>
              <a:buChar char="•"/>
            </a:pPr>
            <a:r>
              <a:rPr lang="en-US" sz="4445" dirty="0">
                <a:solidFill>
                  <a:schemeClr val="tx1"/>
                </a:solidFill>
                <a:latin typeface="Calibri"/>
                <a:ea typeface="Calibri"/>
                <a:cs typeface="Calibri"/>
                <a:sym typeface="Calibri"/>
              </a:rPr>
              <a:t>Selective brain cooling, Information processing, and Chemical computing (Moore and Cao 2008)(Chakravarthy et al. 2026). </a:t>
            </a:r>
          </a:p>
          <a:p>
            <a:pPr marL="609608" indent="-609608">
              <a:buFont typeface="Arial" panose="020B0604020202020204" pitchFamily="34" charset="0"/>
              <a:buChar char="•"/>
            </a:pPr>
            <a:r>
              <a:rPr lang="en-US" sz="4445" dirty="0">
                <a:solidFill>
                  <a:schemeClr val="tx1"/>
                </a:solidFill>
                <a:latin typeface="Calibri"/>
                <a:ea typeface="Calibri"/>
                <a:cs typeface="Calibri"/>
                <a:sym typeface="Calibri"/>
              </a:rPr>
              <a:t>Opensource 3D meshing software SALOME and Computational Fluid Dynamics Simulation Software OpenFOAM, </a:t>
            </a:r>
          </a:p>
          <a:p>
            <a:pPr marL="609608" indent="-609608">
              <a:buFont typeface="Arial" panose="020B0604020202020204" pitchFamily="34" charset="0"/>
              <a:buChar char="•"/>
            </a:pPr>
            <a:r>
              <a:rPr lang="en-US" sz="4445" dirty="0">
                <a:solidFill>
                  <a:schemeClr val="tx1"/>
                </a:solidFill>
                <a:latin typeface="Calibri"/>
                <a:ea typeface="Calibri"/>
                <a:cs typeface="Calibri"/>
                <a:sym typeface="Calibri"/>
              </a:rPr>
              <a:t>A 3D model of the brain simulating temperature and fluid transfers of a neural-capillary system was created. </a:t>
            </a:r>
          </a:p>
          <a:p>
            <a:pPr marL="609608" indent="-609608">
              <a:buFont typeface="Arial" panose="020B0604020202020204" pitchFamily="34" charset="0"/>
              <a:buChar char="•"/>
            </a:pPr>
            <a:r>
              <a:rPr lang="en-US" sz="4445" dirty="0">
                <a:solidFill>
                  <a:schemeClr val="tx1"/>
                </a:solidFill>
                <a:latin typeface="Calibri"/>
                <a:ea typeface="Calibri"/>
                <a:cs typeface="Calibri"/>
                <a:sym typeface="Calibri"/>
              </a:rPr>
              <a:t>Verifies the other hypotheses and, with further work, could recreate the exact mechanism of these systems computationally.</a:t>
            </a:r>
          </a:p>
          <a:p>
            <a:pPr marL="609608" indent="-609608">
              <a:buFont typeface="Arial" panose="020B0604020202020204" pitchFamily="34" charset="0"/>
              <a:buChar char="•"/>
            </a:pPr>
            <a:endParaRPr lang="en-US" sz="4445" dirty="0">
              <a:solidFill>
                <a:schemeClr val="tx1"/>
              </a:solidFill>
              <a:latin typeface="Calibri"/>
              <a:ea typeface="Calibri"/>
              <a:cs typeface="Calibri"/>
              <a:sym typeface="Calibri"/>
            </a:endParaRPr>
          </a:p>
          <a:p>
            <a:pPr marL="609608" indent="-609608">
              <a:buFont typeface="Arial" panose="020B0604020202020204" pitchFamily="34" charset="0"/>
              <a:buChar char="•"/>
            </a:pPr>
            <a:endParaRPr sz="4445" dirty="0">
              <a:solidFill>
                <a:schemeClr val="tx1"/>
              </a:solidFill>
              <a:latin typeface="Calibri"/>
              <a:ea typeface="Calibri"/>
              <a:cs typeface="Calibri"/>
              <a:sym typeface="Calibri"/>
            </a:endParaRPr>
          </a:p>
        </p:txBody>
      </p:sp>
      <p:sp>
        <p:nvSpPr>
          <p:cNvPr id="118" name="Google Shape;118;p2">
            <a:extLst>
              <a:ext uri="{FF2B5EF4-FFF2-40B4-BE49-F238E27FC236}">
                <a16:creationId xmlns:a16="http://schemas.microsoft.com/office/drawing/2014/main" id="{0B0C5C2F-FAFE-37DE-5293-63F95A1ED4A6}"/>
              </a:ext>
            </a:extLst>
          </p:cNvPr>
          <p:cNvSpPr/>
          <p:nvPr/>
        </p:nvSpPr>
        <p:spPr>
          <a:xfrm>
            <a:off x="513805" y="19213689"/>
            <a:ext cx="28296143" cy="1096851"/>
          </a:xfrm>
          <a:prstGeom prst="rect">
            <a:avLst/>
          </a:prstGeom>
          <a:solidFill>
            <a:srgbClr val="F2F2F2"/>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20" name="Google Shape;120;p2">
            <a:extLst>
              <a:ext uri="{FF2B5EF4-FFF2-40B4-BE49-F238E27FC236}">
                <a16:creationId xmlns:a16="http://schemas.microsoft.com/office/drawing/2014/main" id="{A0D12F8C-02F0-4133-E30C-0E4674554421}"/>
              </a:ext>
            </a:extLst>
          </p:cNvPr>
          <p:cNvSpPr txBox="1"/>
          <p:nvPr/>
        </p:nvSpPr>
        <p:spPr>
          <a:xfrm>
            <a:off x="25412518" y="19502395"/>
            <a:ext cx="3273636" cy="464963"/>
          </a:xfrm>
          <a:prstGeom prst="rect">
            <a:avLst/>
          </a:prstGeom>
          <a:noFill/>
          <a:ln>
            <a:noFill/>
          </a:ln>
        </p:spPr>
        <p:txBody>
          <a:bodyPr spcFirstLastPara="1" wrap="square" lIns="81267" tIns="40622" rIns="81267" bIns="40622" anchor="t" anchorCtr="0">
            <a:spAutoFit/>
          </a:bodyPr>
          <a:lstStyle/>
          <a:p>
            <a:r>
              <a:rPr lang="en-US" sz="1244" dirty="0">
                <a:solidFill>
                  <a:schemeClr val="dk1"/>
                </a:solidFill>
                <a:latin typeface="Source Sans Pro"/>
                <a:ea typeface="Source Sans Pro"/>
                <a:cs typeface="Source Sans Pro"/>
                <a:sym typeface="Source Sans Pro"/>
              </a:rPr>
              <a:t>Special Thanks to Spike Lab, Dept. Neuroscience, Pomona College, Claremont CA</a:t>
            </a:r>
          </a:p>
        </p:txBody>
      </p:sp>
      <p:sp>
        <p:nvSpPr>
          <p:cNvPr id="121" name="Google Shape;121;p2">
            <a:extLst>
              <a:ext uri="{FF2B5EF4-FFF2-40B4-BE49-F238E27FC236}">
                <a16:creationId xmlns:a16="http://schemas.microsoft.com/office/drawing/2014/main" id="{C93E238E-8DA6-3CCE-91B9-909A4573F11D}"/>
              </a:ext>
            </a:extLst>
          </p:cNvPr>
          <p:cNvSpPr/>
          <p:nvPr/>
        </p:nvSpPr>
        <p:spPr>
          <a:xfrm>
            <a:off x="22801869" y="19371734"/>
            <a:ext cx="2489851" cy="805511"/>
          </a:xfrm>
          <a:prstGeom prst="rect">
            <a:avLst/>
          </a:prstGeom>
          <a:solidFill>
            <a:srgbClr val="BFBFBF"/>
          </a:solidFill>
          <a:ln>
            <a:noFill/>
          </a:ln>
        </p:spPr>
        <p:txBody>
          <a:bodyPr spcFirstLastPara="1" wrap="square" lIns="81267" tIns="40622" rIns="81267" bIns="40622" anchor="ctr" anchorCtr="0">
            <a:noAutofit/>
          </a:bodyPr>
          <a:lstStyle/>
          <a:p>
            <a:pPr algn="ctr"/>
            <a:endParaRPr sz="1244">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03303E6A-A67C-515E-5617-58C3D95B8EC6}"/>
              </a:ext>
            </a:extLst>
          </p:cNvPr>
          <p:cNvPicPr>
            <a:picLocks noChangeAspect="1"/>
          </p:cNvPicPr>
          <p:nvPr/>
        </p:nvPicPr>
        <p:blipFill>
          <a:blip r:embed="rId6"/>
          <a:stretch>
            <a:fillRect/>
          </a:stretch>
        </p:blipFill>
        <p:spPr>
          <a:xfrm>
            <a:off x="25538643" y="1834140"/>
            <a:ext cx="1579638" cy="2683988"/>
          </a:xfrm>
          <a:prstGeom prst="rect">
            <a:avLst/>
          </a:prstGeom>
        </p:spPr>
      </p:pic>
      <p:sp>
        <p:nvSpPr>
          <p:cNvPr id="4" name="Google Shape;90;p1">
            <a:extLst>
              <a:ext uri="{FF2B5EF4-FFF2-40B4-BE49-F238E27FC236}">
                <a16:creationId xmlns:a16="http://schemas.microsoft.com/office/drawing/2014/main" id="{D7270BC8-8BBA-38D6-C739-117748F95F5F}"/>
              </a:ext>
            </a:extLst>
          </p:cNvPr>
          <p:cNvSpPr txBox="1"/>
          <p:nvPr/>
        </p:nvSpPr>
        <p:spPr>
          <a:xfrm>
            <a:off x="1069858" y="2596650"/>
            <a:ext cx="4180031" cy="1723641"/>
          </a:xfrm>
          <a:prstGeom prst="rect">
            <a:avLst/>
          </a:prstGeom>
          <a:noFill/>
          <a:ln>
            <a:noFill/>
          </a:ln>
        </p:spPr>
        <p:txBody>
          <a:bodyPr spcFirstLastPara="1" wrap="square" lIns="81267" tIns="40622" rIns="81267" bIns="40622" anchor="t" anchorCtr="0">
            <a:spAutoFit/>
          </a:bodyPr>
          <a:lstStyle/>
          <a:p>
            <a:pPr algn="ctr"/>
            <a:r>
              <a:rPr lang="en-US" sz="3556" dirty="0">
                <a:solidFill>
                  <a:schemeClr val="lt1"/>
                </a:solidFill>
                <a:latin typeface="Source Sans Pro"/>
                <a:ea typeface="Source Sans Pro"/>
                <a:cs typeface="Source Sans Pro"/>
                <a:sym typeface="Source Sans Pro"/>
              </a:rPr>
              <a:t>Carney Center For Brain Science</a:t>
            </a:r>
          </a:p>
          <a:p>
            <a:pPr algn="ctr"/>
            <a:r>
              <a:rPr lang="en-US" sz="3556" dirty="0">
                <a:solidFill>
                  <a:schemeClr val="lt1"/>
                </a:solidFill>
                <a:latin typeface="Source Sans Pro"/>
                <a:ea typeface="Source Sans Pro"/>
                <a:cs typeface="Source Sans Pro"/>
                <a:sym typeface="Source Sans Pro"/>
              </a:rPr>
              <a:t>SREIP for VLANS</a:t>
            </a:r>
            <a:endParaRPr sz="3556" dirty="0">
              <a:solidFill>
                <a:schemeClr val="dk1"/>
              </a:solidFill>
              <a:latin typeface="Source Sans Pro"/>
              <a:ea typeface="Source Sans Pro"/>
              <a:cs typeface="Source Sans Pro"/>
              <a:sym typeface="Source Sans Pro"/>
            </a:endParaRPr>
          </a:p>
        </p:txBody>
      </p:sp>
      <p:sp>
        <p:nvSpPr>
          <p:cNvPr id="5" name="Google Shape;91;p1">
            <a:extLst>
              <a:ext uri="{FF2B5EF4-FFF2-40B4-BE49-F238E27FC236}">
                <a16:creationId xmlns:a16="http://schemas.microsoft.com/office/drawing/2014/main" id="{AB70EEE3-015B-1245-F6DA-0EA837D6F771}"/>
              </a:ext>
            </a:extLst>
          </p:cNvPr>
          <p:cNvSpPr txBox="1"/>
          <p:nvPr/>
        </p:nvSpPr>
        <p:spPr>
          <a:xfrm>
            <a:off x="5624832" y="2158028"/>
            <a:ext cx="18649329" cy="738692"/>
          </a:xfrm>
          <a:prstGeom prst="rect">
            <a:avLst/>
          </a:prstGeom>
          <a:noFill/>
          <a:ln>
            <a:noFill/>
          </a:ln>
        </p:spPr>
        <p:txBody>
          <a:bodyPr spcFirstLastPara="1" wrap="square" lIns="81267" tIns="40622" rIns="81267" bIns="40622" anchor="t" anchorCtr="0">
            <a:spAutoFit/>
          </a:bodyPr>
          <a:lstStyle/>
          <a:p>
            <a:pPr algn="ctr"/>
            <a:r>
              <a:rPr lang="en-US" sz="4267" b="1" dirty="0">
                <a:solidFill>
                  <a:schemeClr val="lt1"/>
                </a:solidFill>
                <a:latin typeface="Source Sans Pro"/>
                <a:ea typeface="Source Sans Pro"/>
                <a:cs typeface="Source Sans Pro"/>
                <a:sym typeface="Source Sans Pro"/>
              </a:rPr>
              <a:t>Introduction</a:t>
            </a:r>
            <a:endParaRPr sz="1244" dirty="0"/>
          </a:p>
        </p:txBody>
      </p:sp>
      <p:pic>
        <p:nvPicPr>
          <p:cNvPr id="20" name="Picture 19">
            <a:extLst>
              <a:ext uri="{FF2B5EF4-FFF2-40B4-BE49-F238E27FC236}">
                <a16:creationId xmlns:a16="http://schemas.microsoft.com/office/drawing/2014/main" id="{6F268366-9A08-8343-35B2-311342973678}"/>
              </a:ext>
            </a:extLst>
          </p:cNvPr>
          <p:cNvPicPr>
            <a:picLocks noChangeAspect="1"/>
          </p:cNvPicPr>
          <p:nvPr/>
        </p:nvPicPr>
        <p:blipFill>
          <a:blip r:embed="rId7"/>
          <a:stretch>
            <a:fillRect/>
          </a:stretch>
        </p:blipFill>
        <p:spPr>
          <a:xfrm>
            <a:off x="23026436" y="19434446"/>
            <a:ext cx="1573437" cy="655335"/>
          </a:xfrm>
          <a:prstGeom prst="rect">
            <a:avLst/>
          </a:prstGeom>
        </p:spPr>
      </p:pic>
      <p:pic>
        <p:nvPicPr>
          <p:cNvPr id="2" name="Picture 1">
            <a:extLst>
              <a:ext uri="{FF2B5EF4-FFF2-40B4-BE49-F238E27FC236}">
                <a16:creationId xmlns:a16="http://schemas.microsoft.com/office/drawing/2014/main" id="{CC111157-766F-69F3-D0F7-C422FCF88B0E}"/>
              </a:ext>
            </a:extLst>
          </p:cNvPr>
          <p:cNvPicPr>
            <a:picLocks noChangeAspect="1"/>
          </p:cNvPicPr>
          <p:nvPr/>
        </p:nvPicPr>
        <p:blipFill>
          <a:blip r:embed="rId8"/>
          <a:stretch>
            <a:fillRect/>
          </a:stretch>
        </p:blipFill>
        <p:spPr>
          <a:xfrm>
            <a:off x="15332548" y="5844039"/>
            <a:ext cx="13353606" cy="11584069"/>
          </a:xfrm>
          <a:prstGeom prst="rect">
            <a:avLst/>
          </a:prstGeom>
        </p:spPr>
      </p:pic>
    </p:spTree>
    <p:extLst>
      <p:ext uri="{BB962C8B-B14F-4D97-AF65-F5344CB8AC3E}">
        <p14:creationId xmlns:p14="http://schemas.microsoft.com/office/powerpoint/2010/main" val="4192690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8AA61346-9715-E4EF-E61B-27697B558DF0}"/>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4AEC8922-A487-46F0-CBCD-07777E0F6C35}"/>
              </a:ext>
            </a:extLst>
          </p:cNvPr>
          <p:cNvSpPr/>
          <p:nvPr/>
        </p:nvSpPr>
        <p:spPr>
          <a:xfrm>
            <a:off x="513805" y="1737092"/>
            <a:ext cx="28233191" cy="3007360"/>
          </a:xfrm>
          <a:prstGeom prst="rect">
            <a:avLst/>
          </a:prstGeom>
          <a:solidFill>
            <a:srgbClr val="A51417"/>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FD27A580-AA4D-76B6-33FD-B3E887A28FA7}"/>
              </a:ext>
            </a:extLst>
          </p:cNvPr>
          <p:cNvSpPr txBox="1"/>
          <p:nvPr/>
        </p:nvSpPr>
        <p:spPr>
          <a:xfrm>
            <a:off x="2793738" y="3696237"/>
            <a:ext cx="23147092" cy="738499"/>
          </a:xfrm>
          <a:prstGeom prst="rect">
            <a:avLst/>
          </a:prstGeom>
          <a:noFill/>
          <a:ln>
            <a:noFill/>
          </a:ln>
        </p:spPr>
        <p:txBody>
          <a:bodyPr spcFirstLastPara="1" wrap="square" lIns="81267" tIns="40622" rIns="81267" bIns="40622" anchor="t" anchorCtr="0">
            <a:spAutoFit/>
          </a:bodyPr>
          <a:lstStyle/>
          <a:p>
            <a:pPr algn="ctr"/>
            <a:r>
              <a:rPr lang="en-US" sz="2133" b="1" dirty="0">
                <a:solidFill>
                  <a:schemeClr val="lt1"/>
                </a:solidFill>
                <a:latin typeface="Source Sans Pro"/>
                <a:ea typeface="Source Sans Pro"/>
                <a:cs typeface="Source Sans Pro"/>
                <a:sym typeface="Source Sans Pro"/>
              </a:rPr>
              <a:t>Jinyao Z. DeSandies, Christopher I. Moore</a:t>
            </a:r>
          </a:p>
          <a:p>
            <a:pPr algn="ctr"/>
            <a:r>
              <a:rPr lang="en-US" sz="2133" b="1" dirty="0">
                <a:solidFill>
                  <a:schemeClr val="lt1"/>
                </a:solidFill>
                <a:latin typeface="Source Sans Pro"/>
                <a:ea typeface="Source Sans Pro"/>
                <a:cs typeface="Source Sans Pro"/>
                <a:sym typeface="Source Sans Pro"/>
              </a:rPr>
              <a:t>Funding provided by National Institute of Neurological Disorders and Stroke for Carney Summer Scholars Program</a:t>
            </a:r>
          </a:p>
        </p:txBody>
      </p:sp>
      <p:sp>
        <p:nvSpPr>
          <p:cNvPr id="118" name="Google Shape;118;p2">
            <a:extLst>
              <a:ext uri="{FF2B5EF4-FFF2-40B4-BE49-F238E27FC236}">
                <a16:creationId xmlns:a16="http://schemas.microsoft.com/office/drawing/2014/main" id="{37CA7479-3AFB-4BCC-4984-D3B687EE0851}"/>
              </a:ext>
            </a:extLst>
          </p:cNvPr>
          <p:cNvSpPr/>
          <p:nvPr/>
        </p:nvSpPr>
        <p:spPr>
          <a:xfrm>
            <a:off x="513805" y="19213689"/>
            <a:ext cx="28296143" cy="1096851"/>
          </a:xfrm>
          <a:prstGeom prst="rect">
            <a:avLst/>
          </a:prstGeom>
          <a:solidFill>
            <a:srgbClr val="F2F2F2"/>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20" name="Google Shape;120;p2">
            <a:extLst>
              <a:ext uri="{FF2B5EF4-FFF2-40B4-BE49-F238E27FC236}">
                <a16:creationId xmlns:a16="http://schemas.microsoft.com/office/drawing/2014/main" id="{864D0C5D-5891-6E08-462C-0A4F3DA14769}"/>
              </a:ext>
            </a:extLst>
          </p:cNvPr>
          <p:cNvSpPr txBox="1"/>
          <p:nvPr/>
        </p:nvSpPr>
        <p:spPr>
          <a:xfrm>
            <a:off x="25412518" y="19502395"/>
            <a:ext cx="3273636" cy="464963"/>
          </a:xfrm>
          <a:prstGeom prst="rect">
            <a:avLst/>
          </a:prstGeom>
          <a:noFill/>
          <a:ln>
            <a:noFill/>
          </a:ln>
        </p:spPr>
        <p:txBody>
          <a:bodyPr spcFirstLastPara="1" wrap="square" lIns="81267" tIns="40622" rIns="81267" bIns="40622" anchor="t" anchorCtr="0">
            <a:spAutoFit/>
          </a:bodyPr>
          <a:lstStyle/>
          <a:p>
            <a:r>
              <a:rPr lang="en-US" sz="1244" dirty="0">
                <a:solidFill>
                  <a:schemeClr val="dk1"/>
                </a:solidFill>
                <a:latin typeface="Source Sans Pro"/>
                <a:ea typeface="Source Sans Pro"/>
                <a:cs typeface="Source Sans Pro"/>
                <a:sym typeface="Source Sans Pro"/>
              </a:rPr>
              <a:t>Special Thanks to Spike Lab, Dept. Neuroscience, Pomona College, Claremont CA</a:t>
            </a:r>
          </a:p>
        </p:txBody>
      </p:sp>
      <p:sp>
        <p:nvSpPr>
          <p:cNvPr id="121" name="Google Shape;121;p2">
            <a:extLst>
              <a:ext uri="{FF2B5EF4-FFF2-40B4-BE49-F238E27FC236}">
                <a16:creationId xmlns:a16="http://schemas.microsoft.com/office/drawing/2014/main" id="{CD635945-7923-F95D-7C11-FEDBA4FD807B}"/>
              </a:ext>
            </a:extLst>
          </p:cNvPr>
          <p:cNvSpPr/>
          <p:nvPr/>
        </p:nvSpPr>
        <p:spPr>
          <a:xfrm>
            <a:off x="22801869" y="19371734"/>
            <a:ext cx="2489851" cy="805511"/>
          </a:xfrm>
          <a:prstGeom prst="rect">
            <a:avLst/>
          </a:prstGeom>
          <a:solidFill>
            <a:srgbClr val="BFBFBF"/>
          </a:solidFill>
          <a:ln>
            <a:noFill/>
          </a:ln>
        </p:spPr>
        <p:txBody>
          <a:bodyPr spcFirstLastPara="1" wrap="square" lIns="81267" tIns="40622" rIns="81267" bIns="40622" anchor="ctr" anchorCtr="0">
            <a:noAutofit/>
          </a:bodyPr>
          <a:lstStyle/>
          <a:p>
            <a:pPr algn="ctr"/>
            <a:endParaRPr sz="1244">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8F3302F-3EB8-0F05-86B9-EDE10AB56AA1}"/>
              </a:ext>
            </a:extLst>
          </p:cNvPr>
          <p:cNvPicPr>
            <a:picLocks noChangeAspect="1"/>
          </p:cNvPicPr>
          <p:nvPr/>
        </p:nvPicPr>
        <p:blipFill>
          <a:blip r:embed="rId3"/>
          <a:stretch>
            <a:fillRect/>
          </a:stretch>
        </p:blipFill>
        <p:spPr>
          <a:xfrm>
            <a:off x="25538643" y="1834140"/>
            <a:ext cx="1579638" cy="2683988"/>
          </a:xfrm>
          <a:prstGeom prst="rect">
            <a:avLst/>
          </a:prstGeom>
        </p:spPr>
      </p:pic>
      <p:sp>
        <p:nvSpPr>
          <p:cNvPr id="4" name="Google Shape;90;p1">
            <a:extLst>
              <a:ext uri="{FF2B5EF4-FFF2-40B4-BE49-F238E27FC236}">
                <a16:creationId xmlns:a16="http://schemas.microsoft.com/office/drawing/2014/main" id="{961BBF25-2F1D-A7F1-8FFB-CD3E6733B483}"/>
              </a:ext>
            </a:extLst>
          </p:cNvPr>
          <p:cNvSpPr txBox="1"/>
          <p:nvPr/>
        </p:nvSpPr>
        <p:spPr>
          <a:xfrm>
            <a:off x="1069858" y="2596650"/>
            <a:ext cx="4180031" cy="1723641"/>
          </a:xfrm>
          <a:prstGeom prst="rect">
            <a:avLst/>
          </a:prstGeom>
          <a:noFill/>
          <a:ln>
            <a:noFill/>
          </a:ln>
        </p:spPr>
        <p:txBody>
          <a:bodyPr spcFirstLastPara="1" wrap="square" lIns="81267" tIns="40622" rIns="81267" bIns="40622" anchor="t" anchorCtr="0">
            <a:spAutoFit/>
          </a:bodyPr>
          <a:lstStyle/>
          <a:p>
            <a:pPr algn="ctr"/>
            <a:r>
              <a:rPr lang="en-US" sz="3556" dirty="0">
                <a:solidFill>
                  <a:schemeClr val="lt1"/>
                </a:solidFill>
                <a:latin typeface="Source Sans Pro"/>
                <a:ea typeface="Source Sans Pro"/>
                <a:cs typeface="Source Sans Pro"/>
                <a:sym typeface="Source Sans Pro"/>
              </a:rPr>
              <a:t>Carney Center For Brain Science</a:t>
            </a:r>
          </a:p>
          <a:p>
            <a:pPr algn="ctr"/>
            <a:r>
              <a:rPr lang="en-US" sz="3556" dirty="0">
                <a:solidFill>
                  <a:schemeClr val="lt1"/>
                </a:solidFill>
                <a:latin typeface="Source Sans Pro"/>
                <a:ea typeface="Source Sans Pro"/>
                <a:cs typeface="Source Sans Pro"/>
                <a:sym typeface="Source Sans Pro"/>
              </a:rPr>
              <a:t>SREIP for VLANS</a:t>
            </a:r>
            <a:endParaRPr sz="3556" dirty="0">
              <a:solidFill>
                <a:schemeClr val="dk1"/>
              </a:solidFill>
              <a:latin typeface="Source Sans Pro"/>
              <a:ea typeface="Source Sans Pro"/>
              <a:cs typeface="Source Sans Pro"/>
              <a:sym typeface="Source Sans Pro"/>
            </a:endParaRPr>
          </a:p>
        </p:txBody>
      </p:sp>
      <p:sp>
        <p:nvSpPr>
          <p:cNvPr id="5" name="Google Shape;91;p1">
            <a:extLst>
              <a:ext uri="{FF2B5EF4-FFF2-40B4-BE49-F238E27FC236}">
                <a16:creationId xmlns:a16="http://schemas.microsoft.com/office/drawing/2014/main" id="{2BC29A77-C567-3613-D2BD-E1B51242968D}"/>
              </a:ext>
            </a:extLst>
          </p:cNvPr>
          <p:cNvSpPr txBox="1"/>
          <p:nvPr/>
        </p:nvSpPr>
        <p:spPr>
          <a:xfrm>
            <a:off x="5624832" y="2158028"/>
            <a:ext cx="18649329" cy="738692"/>
          </a:xfrm>
          <a:prstGeom prst="rect">
            <a:avLst/>
          </a:prstGeom>
          <a:noFill/>
          <a:ln>
            <a:noFill/>
          </a:ln>
        </p:spPr>
        <p:txBody>
          <a:bodyPr spcFirstLastPara="1" wrap="square" lIns="81267" tIns="40622" rIns="81267" bIns="40622" anchor="t" anchorCtr="0">
            <a:spAutoFit/>
          </a:bodyPr>
          <a:lstStyle/>
          <a:p>
            <a:pPr algn="ctr"/>
            <a:r>
              <a:rPr lang="en-US" sz="4267" b="1" dirty="0">
                <a:solidFill>
                  <a:schemeClr val="lt1"/>
                </a:solidFill>
                <a:latin typeface="Source Sans Pro"/>
                <a:ea typeface="Source Sans Pro"/>
                <a:cs typeface="Source Sans Pro"/>
                <a:sym typeface="Source Sans Pro"/>
              </a:rPr>
              <a:t>Model Parameters</a:t>
            </a:r>
            <a:endParaRPr sz="1244" dirty="0"/>
          </a:p>
        </p:txBody>
      </p:sp>
      <p:pic>
        <p:nvPicPr>
          <p:cNvPr id="20" name="Picture 19">
            <a:extLst>
              <a:ext uri="{FF2B5EF4-FFF2-40B4-BE49-F238E27FC236}">
                <a16:creationId xmlns:a16="http://schemas.microsoft.com/office/drawing/2014/main" id="{7651F5C3-099A-6D81-40D6-A2FA84A90EF5}"/>
              </a:ext>
            </a:extLst>
          </p:cNvPr>
          <p:cNvPicPr>
            <a:picLocks noChangeAspect="1"/>
          </p:cNvPicPr>
          <p:nvPr/>
        </p:nvPicPr>
        <p:blipFill>
          <a:blip r:embed="rId4"/>
          <a:stretch>
            <a:fillRect/>
          </a:stretch>
        </p:blipFill>
        <p:spPr>
          <a:xfrm>
            <a:off x="23026436" y="19434446"/>
            <a:ext cx="1573437" cy="655335"/>
          </a:xfrm>
          <a:prstGeom prst="rect">
            <a:avLst/>
          </a:prstGeom>
        </p:spPr>
      </p:pic>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FFAEA76B-3C95-47F5-C84B-275A60038857}"/>
                  </a:ext>
                </a:extLst>
              </p:cNvPr>
              <p:cNvGraphicFramePr>
                <a:graphicFrameLocks noGrp="1"/>
              </p:cNvGraphicFramePr>
              <p:nvPr>
                <p:extLst>
                  <p:ext uri="{D42A27DB-BD31-4B8C-83A1-F6EECF244321}">
                    <p14:modId xmlns:p14="http://schemas.microsoft.com/office/powerpoint/2010/main" val="954996704"/>
                  </p:ext>
                </p:extLst>
              </p:nvPr>
            </p:nvGraphicFramePr>
            <p:xfrm>
              <a:off x="513804" y="5511512"/>
              <a:ext cx="28233192" cy="14322785"/>
            </p:xfrm>
            <a:graphic>
              <a:graphicData uri="http://schemas.openxmlformats.org/drawingml/2006/table">
                <a:tbl>
                  <a:tblPr firstRow="1" firstCol="1" bandRow="1">
                    <a:tableStyleId>{21E4AEA4-8DFA-4A89-87EB-49C32662AFE0}</a:tableStyleId>
                  </a:tblPr>
                  <a:tblGrid>
                    <a:gridCol w="7058298">
                      <a:extLst>
                        <a:ext uri="{9D8B030D-6E8A-4147-A177-3AD203B41FA5}">
                          <a16:colId xmlns:a16="http://schemas.microsoft.com/office/drawing/2014/main" val="953460433"/>
                        </a:ext>
                      </a:extLst>
                    </a:gridCol>
                    <a:gridCol w="7058298">
                      <a:extLst>
                        <a:ext uri="{9D8B030D-6E8A-4147-A177-3AD203B41FA5}">
                          <a16:colId xmlns:a16="http://schemas.microsoft.com/office/drawing/2014/main" val="1521028775"/>
                        </a:ext>
                      </a:extLst>
                    </a:gridCol>
                    <a:gridCol w="7058298">
                      <a:extLst>
                        <a:ext uri="{9D8B030D-6E8A-4147-A177-3AD203B41FA5}">
                          <a16:colId xmlns:a16="http://schemas.microsoft.com/office/drawing/2014/main" val="3181102905"/>
                        </a:ext>
                      </a:extLst>
                    </a:gridCol>
                    <a:gridCol w="7058298">
                      <a:extLst>
                        <a:ext uri="{9D8B030D-6E8A-4147-A177-3AD203B41FA5}">
                          <a16:colId xmlns:a16="http://schemas.microsoft.com/office/drawing/2014/main" val="3782335290"/>
                        </a:ext>
                      </a:extLst>
                    </a:gridCol>
                  </a:tblGrid>
                  <a:tr h="587474">
                    <a:tc>
                      <a:txBody>
                        <a:bodyPr/>
                        <a:lstStyle/>
                        <a:p>
                          <a:pPr marL="0" marR="0">
                            <a:lnSpc>
                              <a:spcPct val="115000"/>
                            </a:lnSpc>
                            <a:spcAft>
                              <a:spcPts val="800"/>
                            </a:spcAft>
                            <a:buNone/>
                          </a:pPr>
                          <a:r>
                            <a:rPr lang="en-US" sz="3600" kern="0" dirty="0">
                              <a:solidFill>
                                <a:schemeClr val="bg1"/>
                              </a:solidFill>
                              <a:effectLst/>
                            </a:rPr>
                            <a:t> </a:t>
                          </a:r>
                          <a:endParaRPr lang="en-US" sz="3600" kern="100" dirty="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a:solidFill>
                                <a:schemeClr val="bg1"/>
                              </a:solidFill>
                              <a:effectLst/>
                            </a:rPr>
                            <a:t>Purpose</a:t>
                          </a:r>
                          <a:endParaRPr lang="en-US" sz="36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dirty="0">
                              <a:solidFill>
                                <a:schemeClr val="bg1"/>
                              </a:solidFill>
                              <a:effectLst/>
                            </a:rPr>
                            <a:t>Value</a:t>
                          </a:r>
                          <a:endParaRPr lang="en-US" sz="3600" kern="100" dirty="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a:solidFill>
                                <a:schemeClr val="bg1"/>
                              </a:solidFill>
                              <a:effectLst/>
                            </a:rPr>
                            <a:t>Unit</a:t>
                          </a:r>
                          <a:endParaRPr lang="en-US" sz="36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extLst>
                      <a:ext uri="{0D108BD9-81ED-4DB2-BD59-A6C34878D82A}">
                        <a16:rowId xmlns:a16="http://schemas.microsoft.com/office/drawing/2014/main" val="1660098327"/>
                      </a:ext>
                    </a:extLst>
                  </a:tr>
                  <a:tr h="2225180">
                    <a:tc>
                      <a:txBody>
                        <a:bodyPr/>
                        <a:lstStyle/>
                        <a:p>
                          <a:pPr marL="0" marR="0">
                            <a:lnSpc>
                              <a:spcPct val="115000"/>
                            </a:lnSpc>
                            <a:spcAft>
                              <a:spcPts val="800"/>
                            </a:spcAft>
                            <a:buNone/>
                          </a:pPr>
                          <a:r>
                            <a:rPr lang="en-US" sz="3600" kern="0" dirty="0">
                              <a:solidFill>
                                <a:schemeClr val="bg1"/>
                              </a:solidFill>
                              <a:effectLst/>
                            </a:rPr>
                            <a:t>Temperature</a:t>
                          </a:r>
                          <a:endParaRPr lang="en-US" sz="3600" kern="100" dirty="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dirty="0">
                              <a:solidFill>
                                <a:schemeClr val="tx1"/>
                              </a:solidFill>
                              <a:effectLst/>
                            </a:rPr>
                            <a:t>Required to calculate heat transfer, set as constant for simulation convenience</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nSpc>
                              <a:spcPct val="115000"/>
                            </a:lnSpc>
                            <a:spcAft>
                              <a:spcPts val="800"/>
                            </a:spcAft>
                            <a:buNone/>
                          </a:pPr>
                          <a:r>
                            <a:rPr lang="en-US" sz="3600" kern="0" dirty="0">
                              <a:solidFill>
                                <a:schemeClr val="tx1"/>
                              </a:solidFill>
                              <a:effectLst/>
                            </a:rPr>
                            <a:t>Blood: </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311.65</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CSF:314.65</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gn="ctr">
                            <a:lnSpc>
                              <a:spcPct val="115000"/>
                            </a:lnSpc>
                            <a:spcAft>
                              <a:spcPts val="800"/>
                            </a:spcAft>
                            <a:buNone/>
                          </a:pPr>
                          <a:r>
                            <a:rPr lang="en-US" sz="3600" kern="0" dirty="0">
                              <a:solidFill>
                                <a:schemeClr val="tx1"/>
                              </a:solidFill>
                              <a:effectLst/>
                            </a:rPr>
                            <a:t> K</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extLst>
                      <a:ext uri="{0D108BD9-81ED-4DB2-BD59-A6C34878D82A}">
                        <a16:rowId xmlns:a16="http://schemas.microsoft.com/office/drawing/2014/main" val="2535967288"/>
                      </a:ext>
                    </a:extLst>
                  </a:tr>
                  <a:tr h="3125561">
                    <a:tc>
                      <a:txBody>
                        <a:bodyPr/>
                        <a:lstStyle/>
                        <a:p>
                          <a:pPr marL="0" marR="0">
                            <a:lnSpc>
                              <a:spcPct val="115000"/>
                            </a:lnSpc>
                            <a:spcAft>
                              <a:spcPts val="800"/>
                            </a:spcAft>
                            <a:buNone/>
                          </a:pPr>
                          <a:r>
                            <a:rPr lang="en-US" sz="3600" kern="0">
                              <a:solidFill>
                                <a:schemeClr val="bg1"/>
                              </a:solidFill>
                              <a:effectLst/>
                            </a:rPr>
                            <a:t>Heat Capacity</a:t>
                          </a:r>
                          <a:endParaRPr lang="en-US" sz="36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dirty="0">
                              <a:solidFill>
                                <a:schemeClr val="tx1"/>
                              </a:solidFill>
                              <a:effectLst/>
                            </a:rPr>
                            <a:t>A measure of how much heat a parcel can carry specifically how much temperature a capillary system can remove</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nSpc>
                              <a:spcPct val="115000"/>
                            </a:lnSpc>
                            <a:spcAft>
                              <a:spcPts val="800"/>
                            </a:spcAft>
                            <a:buNone/>
                          </a:pPr>
                          <a:r>
                            <a:rPr lang="en-US" sz="3600" kern="0" dirty="0">
                              <a:solidFill>
                                <a:schemeClr val="tx1"/>
                              </a:solidFill>
                              <a:effectLst/>
                            </a:rPr>
                            <a:t>Blood:</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1005</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CSF:</a:t>
                          </a:r>
                        </a:p>
                        <a:p>
                          <a:pPr marL="0" marR="0">
                            <a:lnSpc>
                              <a:spcPct val="115000"/>
                            </a:lnSpc>
                            <a:spcAft>
                              <a:spcPts val="800"/>
                            </a:spcAft>
                            <a:buNone/>
                          </a:pPr>
                          <a:r>
                            <a:rPr lang="en-US" sz="3600" kern="0" dirty="0">
                              <a:solidFill>
                                <a:schemeClr val="tx1"/>
                              </a:solidFill>
                              <a:effectLst/>
                            </a:rPr>
                            <a:t>1005</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gn="ctr">
                            <a:lnSpc>
                              <a:spcPct val="115000"/>
                            </a:lnSpc>
                            <a:spcAft>
                              <a:spcPts val="800"/>
                            </a:spcAft>
                            <a:buNone/>
                          </a:pPr>
                          <a:r>
                            <a:rPr lang="en-US" sz="3600" kern="0" dirty="0">
                              <a:solidFill>
                                <a:schemeClr val="tx1"/>
                              </a:solidFill>
                              <a:effectLst/>
                            </a:rPr>
                            <a:t> J/(kg*k)</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extLst>
                      <a:ext uri="{0D108BD9-81ED-4DB2-BD59-A6C34878D82A}">
                        <a16:rowId xmlns:a16="http://schemas.microsoft.com/office/drawing/2014/main" val="2965524512"/>
                      </a:ext>
                    </a:extLst>
                  </a:tr>
                  <a:tr h="2762917">
                    <a:tc>
                      <a:txBody>
                        <a:bodyPr/>
                        <a:lstStyle/>
                        <a:p>
                          <a:pPr marL="0" marR="0">
                            <a:lnSpc>
                              <a:spcPct val="115000"/>
                            </a:lnSpc>
                            <a:spcAft>
                              <a:spcPts val="800"/>
                            </a:spcAft>
                            <a:buNone/>
                          </a:pPr>
                          <a:r>
                            <a:rPr lang="en-US" sz="3600" kern="0">
                              <a:solidFill>
                                <a:schemeClr val="bg1"/>
                              </a:solidFill>
                              <a:effectLst/>
                            </a:rPr>
                            <a:t>Pressure</a:t>
                          </a:r>
                          <a:endParaRPr lang="en-US" sz="36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dirty="0">
                              <a:solidFill>
                                <a:schemeClr val="tx1"/>
                              </a:solidFill>
                              <a:effectLst/>
                            </a:rPr>
                            <a:t>Pressure governs how fluids flow- both speed, structure, and rate of plasma escape</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nSpc>
                              <a:spcPct val="115000"/>
                            </a:lnSpc>
                            <a:spcAft>
                              <a:spcPts val="800"/>
                            </a:spcAft>
                            <a:buNone/>
                          </a:pPr>
                          <a:r>
                            <a:rPr lang="en-US" sz="3600" kern="0" dirty="0">
                              <a:solidFill>
                                <a:schemeClr val="tx1"/>
                              </a:solidFill>
                              <a:effectLst/>
                            </a:rPr>
                            <a:t>Blood:</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1e5</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CSF:</a:t>
                          </a:r>
                        </a:p>
                        <a:p>
                          <a:pPr marL="0" marR="0">
                            <a:lnSpc>
                              <a:spcPct val="115000"/>
                            </a:lnSpc>
                            <a:spcAft>
                              <a:spcPts val="800"/>
                            </a:spcAft>
                            <a:buNone/>
                          </a:pPr>
                          <a:r>
                            <a:rPr lang="en-US" sz="3600" kern="0" dirty="0">
                              <a:solidFill>
                                <a:schemeClr val="tx1"/>
                              </a:solidFill>
                              <a:effectLst/>
                            </a:rPr>
                            <a:t>1e5</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gn="ctr">
                            <a:lnSpc>
                              <a:spcPct val="115000"/>
                            </a:lnSpc>
                            <a:spcAft>
                              <a:spcPts val="800"/>
                            </a:spcAft>
                            <a:buNone/>
                          </a:pPr>
                          <a:r>
                            <a:rPr lang="en-US" sz="3600" kern="0" dirty="0">
                              <a:solidFill>
                                <a:schemeClr val="tx1"/>
                              </a:solidFill>
                              <a:effectLst/>
                            </a:rPr>
                            <a:t> </a:t>
                          </a:r>
                          <a14:m>
                            <m:oMath xmlns:m="http://schemas.openxmlformats.org/officeDocument/2006/math">
                              <m:r>
                                <a:rPr lang="en-US" sz="3600" kern="0" dirty="0" smtClean="0">
                                  <a:solidFill>
                                    <a:schemeClr val="tx1"/>
                                  </a:solidFill>
                                  <a:effectLst/>
                                  <a:latin typeface="Cambria Math" panose="02040503050406030204" pitchFamily="18" charset="0"/>
                                </a:rPr>
                                <m:t>𝑁</m:t>
                              </m:r>
                              <m:r>
                                <m:rPr>
                                  <m:lit/>
                                </m:rPr>
                                <a:rPr lang="en-US" sz="3600" kern="0" dirty="0" smtClean="0">
                                  <a:solidFill>
                                    <a:schemeClr val="tx1"/>
                                  </a:solidFill>
                                  <a:effectLst/>
                                  <a:latin typeface="Cambria Math" panose="02040503050406030204" pitchFamily="18" charset="0"/>
                                </a:rPr>
                                <m:t>/</m:t>
                              </m:r>
                              <m:sSup>
                                <m:sSupPr>
                                  <m:ctrlPr>
                                    <a:rPr lang="en-US" sz="3600" i="1" kern="0" dirty="0" smtClean="0">
                                      <a:solidFill>
                                        <a:schemeClr val="tx1"/>
                                      </a:solidFill>
                                      <a:effectLst/>
                                      <a:latin typeface="Cambria Math" panose="02040503050406030204" pitchFamily="18" charset="0"/>
                                    </a:rPr>
                                  </m:ctrlPr>
                                </m:sSupPr>
                                <m:e>
                                  <m:r>
                                    <a:rPr lang="en-US" sz="3600" kern="0" dirty="0" smtClean="0">
                                      <a:solidFill>
                                        <a:schemeClr val="tx1"/>
                                      </a:solidFill>
                                      <a:effectLst/>
                                      <a:latin typeface="Cambria Math" panose="02040503050406030204" pitchFamily="18" charset="0"/>
                                    </a:rPr>
                                    <m:t>𝑚</m:t>
                                  </m:r>
                                </m:e>
                                <m:sup>
                                  <m:r>
                                    <a:rPr lang="en-US" sz="3600" kern="0" dirty="0" smtClean="0">
                                      <a:solidFill>
                                        <a:schemeClr val="tx1"/>
                                      </a:solidFill>
                                      <a:effectLst/>
                                      <a:latin typeface="Cambria Math" panose="02040503050406030204" pitchFamily="18" charset="0"/>
                                    </a:rPr>
                                    <m:t>2</m:t>
                                  </m:r>
                                </m:sup>
                              </m:sSup>
                            </m:oMath>
                          </a14:m>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extLst>
                      <a:ext uri="{0D108BD9-81ED-4DB2-BD59-A6C34878D82A}">
                        <a16:rowId xmlns:a16="http://schemas.microsoft.com/office/drawing/2014/main" val="3154826381"/>
                      </a:ext>
                    </a:extLst>
                  </a:tr>
                  <a:tr h="2762917">
                    <a:tc>
                      <a:txBody>
                        <a:bodyPr/>
                        <a:lstStyle/>
                        <a:p>
                          <a:pPr marL="0" marR="0">
                            <a:lnSpc>
                              <a:spcPct val="115000"/>
                            </a:lnSpc>
                            <a:spcAft>
                              <a:spcPts val="800"/>
                            </a:spcAft>
                            <a:buNone/>
                          </a:pPr>
                          <a:r>
                            <a:rPr lang="en-US" sz="3600" kern="0" dirty="0">
                              <a:solidFill>
                                <a:schemeClr val="bg1"/>
                              </a:solidFill>
                              <a:effectLst/>
                            </a:rPr>
                            <a:t>Velocity</a:t>
                          </a:r>
                          <a:endParaRPr lang="en-US" sz="3600" kern="100" dirty="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dirty="0">
                              <a:solidFill>
                                <a:schemeClr val="tx1"/>
                              </a:solidFill>
                              <a:effectLst/>
                            </a:rPr>
                            <a:t>This represents the flow rate of the vascular system, and therefore how quickly the system can remove heat</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nSpc>
                              <a:spcPct val="115000"/>
                            </a:lnSpc>
                            <a:spcAft>
                              <a:spcPts val="800"/>
                            </a:spcAft>
                            <a:buNone/>
                          </a:pPr>
                          <a:r>
                            <a:rPr lang="en-US" sz="3600" kern="0" dirty="0">
                              <a:solidFill>
                                <a:schemeClr val="tx1"/>
                              </a:solidFill>
                              <a:effectLst/>
                            </a:rPr>
                            <a:t>Blood:</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0.001</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CSF:</a:t>
                          </a:r>
                        </a:p>
                        <a:p>
                          <a:pPr marL="0" marR="0">
                            <a:lnSpc>
                              <a:spcPct val="115000"/>
                            </a:lnSpc>
                            <a:spcAft>
                              <a:spcPts val="800"/>
                            </a:spcAft>
                            <a:buNone/>
                          </a:pPr>
                          <a:r>
                            <a:rPr lang="en-US" sz="3600" kern="0" dirty="0">
                              <a:solidFill>
                                <a:schemeClr val="tx1"/>
                              </a:solidFill>
                              <a:effectLst/>
                            </a:rPr>
                            <a:t>0.00</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gn="ctr">
                            <a:lnSpc>
                              <a:spcPct val="115000"/>
                            </a:lnSpc>
                            <a:spcAft>
                              <a:spcPts val="800"/>
                            </a:spcAft>
                            <a:buNone/>
                          </a:pPr>
                          <a:r>
                            <a:rPr lang="en-US" sz="3600" kern="0" dirty="0">
                              <a:solidFill>
                                <a:schemeClr val="tx1"/>
                              </a:solidFill>
                              <a:effectLst/>
                            </a:rPr>
                            <a:t> </a:t>
                          </a:r>
                          <a14:m>
                            <m:oMath xmlns:m="http://schemas.openxmlformats.org/officeDocument/2006/math">
                              <m:r>
                                <a:rPr lang="en-US" sz="3600" kern="0" dirty="0" smtClean="0">
                                  <a:solidFill>
                                    <a:schemeClr val="tx1"/>
                                  </a:solidFill>
                                  <a:effectLst/>
                                  <a:latin typeface="Cambria Math" panose="02040503050406030204" pitchFamily="18" charset="0"/>
                                </a:rPr>
                                <m:t>𝑚</m:t>
                              </m:r>
                              <m:sSup>
                                <m:sSupPr>
                                  <m:ctrlPr>
                                    <a:rPr lang="en-US" sz="3600" i="1" kern="0" dirty="0" smtClean="0">
                                      <a:solidFill>
                                        <a:schemeClr val="tx1"/>
                                      </a:solidFill>
                                      <a:effectLst/>
                                      <a:latin typeface="Cambria Math" panose="02040503050406030204" pitchFamily="18" charset="0"/>
                                    </a:rPr>
                                  </m:ctrlPr>
                                </m:sSupPr>
                                <m:e>
                                  <m:r>
                                    <a:rPr lang="en-US" sz="3600" kern="0" dirty="0" smtClean="0">
                                      <a:solidFill>
                                        <a:schemeClr val="tx1"/>
                                      </a:solidFill>
                                      <a:effectLst/>
                                      <a:latin typeface="Cambria Math" panose="02040503050406030204" pitchFamily="18" charset="0"/>
                                    </a:rPr>
                                    <m:t>𝑠</m:t>
                                  </m:r>
                                </m:e>
                                <m:sup>
                                  <m:r>
                                    <a:rPr lang="en-US" sz="3600" kern="0" dirty="0" smtClean="0">
                                      <a:solidFill>
                                        <a:schemeClr val="tx1"/>
                                      </a:solidFill>
                                      <a:effectLst/>
                                      <a:latin typeface="Cambria Math" panose="02040503050406030204" pitchFamily="18" charset="0"/>
                                    </a:rPr>
                                    <m:t>−</m:t>
                                  </m:r>
                                  <m:r>
                                    <a:rPr lang="en-US" sz="3600" b="0" kern="0" dirty="0" smtClean="0">
                                      <a:solidFill>
                                        <a:schemeClr val="tx1"/>
                                      </a:solidFill>
                                      <a:effectLst/>
                                      <a:latin typeface="Cambria Math" panose="02040503050406030204" pitchFamily="18" charset="0"/>
                                    </a:rPr>
                                    <m:t>3</m:t>
                                  </m:r>
                                </m:sup>
                              </m:sSup>
                            </m:oMath>
                          </a14:m>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extLst>
                      <a:ext uri="{0D108BD9-81ED-4DB2-BD59-A6C34878D82A}">
                        <a16:rowId xmlns:a16="http://schemas.microsoft.com/office/drawing/2014/main" val="4230115838"/>
                      </a:ext>
                    </a:extLst>
                  </a:tr>
                  <a:tr h="2762917">
                    <a:tc>
                      <a:txBody>
                        <a:bodyPr/>
                        <a:lstStyle/>
                        <a:p>
                          <a:pPr marL="0" marR="0">
                            <a:lnSpc>
                              <a:spcPct val="115000"/>
                            </a:lnSpc>
                            <a:spcAft>
                              <a:spcPts val="800"/>
                            </a:spcAft>
                            <a:buNone/>
                          </a:pPr>
                          <a:r>
                            <a:rPr lang="en-US" sz="3600" kern="0" dirty="0">
                              <a:solidFill>
                                <a:schemeClr val="bg1"/>
                              </a:solidFill>
                              <a:effectLst/>
                            </a:rPr>
                            <a:t>density</a:t>
                          </a:r>
                          <a:endParaRPr lang="en-US" sz="3600" kern="100" dirty="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a:solidFill>
                                <a:schemeClr val="tx1"/>
                              </a:solidFill>
                              <a:effectLst/>
                            </a:rPr>
                            <a:t>Determines how much fluid can fit in a certain amount of space, and therefore how much it can carry.</a:t>
                          </a:r>
                          <a:endParaRPr lang="en-US" sz="3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nSpc>
                              <a:spcPct val="115000"/>
                            </a:lnSpc>
                            <a:spcAft>
                              <a:spcPts val="800"/>
                            </a:spcAft>
                            <a:buNone/>
                          </a:pPr>
                          <a:r>
                            <a:rPr lang="en-US" sz="3600" kern="0" dirty="0">
                              <a:solidFill>
                                <a:schemeClr val="tx1"/>
                              </a:solidFill>
                              <a:effectLst/>
                            </a:rPr>
                            <a:t>Blood:</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1000</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CSF:</a:t>
                          </a:r>
                        </a:p>
                        <a:p>
                          <a:pPr marL="0" marR="0">
                            <a:lnSpc>
                              <a:spcPct val="115000"/>
                            </a:lnSpc>
                            <a:spcAft>
                              <a:spcPts val="800"/>
                            </a:spcAft>
                            <a:buNone/>
                          </a:pPr>
                          <a:r>
                            <a:rPr lang="en-US" sz="3600" kern="0" dirty="0">
                              <a:solidFill>
                                <a:schemeClr val="tx1"/>
                              </a:solidFill>
                              <a:effectLst/>
                            </a:rPr>
                            <a:t>1000</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en-US" sz="3600" b="0" kern="100" dirty="0" smtClean="0">
                                    <a:solidFill>
                                      <a:schemeClr val="tx1"/>
                                    </a:solidFill>
                                    <a:effectLst/>
                                    <a:latin typeface="Cambria Math" panose="02040503050406030204" pitchFamily="18" charset="0"/>
                                  </a:rPr>
                                  <m:t>𝑘𝑔</m:t>
                                </m:r>
                                <m:sSup>
                                  <m:sSupPr>
                                    <m:ctrlPr>
                                      <a:rPr lang="en-US" sz="3600" b="0" i="1" kern="100" dirty="0" smtClean="0">
                                        <a:solidFill>
                                          <a:schemeClr val="tx1"/>
                                        </a:solidFill>
                                        <a:effectLst/>
                                        <a:latin typeface="Cambria Math" panose="02040503050406030204" pitchFamily="18" charset="0"/>
                                      </a:rPr>
                                    </m:ctrlPr>
                                  </m:sSupPr>
                                  <m:e>
                                    <m:r>
                                      <a:rPr lang="en-US" sz="3600" b="0" kern="100" dirty="0" smtClean="0">
                                        <a:solidFill>
                                          <a:schemeClr val="tx1"/>
                                        </a:solidFill>
                                        <a:effectLst/>
                                        <a:latin typeface="Cambria Math" panose="02040503050406030204" pitchFamily="18" charset="0"/>
                                      </a:rPr>
                                      <m:t>𝑚</m:t>
                                    </m:r>
                                  </m:e>
                                  <m:sup>
                                    <m:r>
                                      <a:rPr lang="en-US" sz="3600" b="0" kern="100" dirty="0" smtClean="0">
                                        <a:solidFill>
                                          <a:schemeClr val="tx1"/>
                                        </a:solidFill>
                                        <a:effectLst/>
                                        <a:latin typeface="Cambria Math" panose="02040503050406030204" pitchFamily="18" charset="0"/>
                                      </a:rPr>
                                      <m:t>−3</m:t>
                                    </m:r>
                                  </m:sup>
                                </m:sSup>
                              </m:oMath>
                            </m:oMathPara>
                          </a14:m>
                          <a:endParaRPr sz="1100"/>
                        </a:p>
                      </a:txBody>
                      <a:tcPr marL="60960" marR="60960" marT="0" marB="0">
                        <a:solidFill>
                          <a:srgbClr val="DB9892"/>
                        </a:solidFill>
                      </a:tcPr>
                    </a:tc>
                    <a:extLst>
                      <a:ext uri="{0D108BD9-81ED-4DB2-BD59-A6C34878D82A}">
                        <a16:rowId xmlns:a16="http://schemas.microsoft.com/office/drawing/2014/main" val="3464666473"/>
                      </a:ext>
                    </a:extLst>
                  </a:tr>
                </a:tbl>
              </a:graphicData>
            </a:graphic>
          </p:graphicFrame>
        </mc:Choice>
        <mc:Fallback>
          <p:graphicFrame>
            <p:nvGraphicFramePr>
              <p:cNvPr id="7" name="Table 6">
                <a:extLst>
                  <a:ext uri="{FF2B5EF4-FFF2-40B4-BE49-F238E27FC236}">
                    <a16:creationId xmlns:a16="http://schemas.microsoft.com/office/drawing/2014/main" id="{FFAEA76B-3C95-47F5-C84B-275A60038857}"/>
                  </a:ext>
                </a:extLst>
              </p:cNvPr>
              <p:cNvGraphicFramePr>
                <a:graphicFrameLocks noGrp="1"/>
              </p:cNvGraphicFramePr>
              <p:nvPr>
                <p:extLst>
                  <p:ext uri="{D42A27DB-BD31-4B8C-83A1-F6EECF244321}">
                    <p14:modId xmlns:p14="http://schemas.microsoft.com/office/powerpoint/2010/main" val="954996704"/>
                  </p:ext>
                </p:extLst>
              </p:nvPr>
            </p:nvGraphicFramePr>
            <p:xfrm>
              <a:off x="513804" y="5511512"/>
              <a:ext cx="28233192" cy="14322785"/>
            </p:xfrm>
            <a:graphic>
              <a:graphicData uri="http://schemas.openxmlformats.org/drawingml/2006/table">
                <a:tbl>
                  <a:tblPr firstRow="1" firstCol="1" bandRow="1">
                    <a:tableStyleId>{21E4AEA4-8DFA-4A89-87EB-49C32662AFE0}</a:tableStyleId>
                  </a:tblPr>
                  <a:tblGrid>
                    <a:gridCol w="7058298">
                      <a:extLst>
                        <a:ext uri="{9D8B030D-6E8A-4147-A177-3AD203B41FA5}">
                          <a16:colId xmlns:a16="http://schemas.microsoft.com/office/drawing/2014/main" val="953460433"/>
                        </a:ext>
                      </a:extLst>
                    </a:gridCol>
                    <a:gridCol w="7058298">
                      <a:extLst>
                        <a:ext uri="{9D8B030D-6E8A-4147-A177-3AD203B41FA5}">
                          <a16:colId xmlns:a16="http://schemas.microsoft.com/office/drawing/2014/main" val="1521028775"/>
                        </a:ext>
                      </a:extLst>
                    </a:gridCol>
                    <a:gridCol w="7058298">
                      <a:extLst>
                        <a:ext uri="{9D8B030D-6E8A-4147-A177-3AD203B41FA5}">
                          <a16:colId xmlns:a16="http://schemas.microsoft.com/office/drawing/2014/main" val="3181102905"/>
                        </a:ext>
                      </a:extLst>
                    </a:gridCol>
                    <a:gridCol w="7058298">
                      <a:extLst>
                        <a:ext uri="{9D8B030D-6E8A-4147-A177-3AD203B41FA5}">
                          <a16:colId xmlns:a16="http://schemas.microsoft.com/office/drawing/2014/main" val="3782335290"/>
                        </a:ext>
                      </a:extLst>
                    </a:gridCol>
                  </a:tblGrid>
                  <a:tr h="594805">
                    <a:tc>
                      <a:txBody>
                        <a:bodyPr/>
                        <a:lstStyle/>
                        <a:p>
                          <a:pPr marL="0" marR="0">
                            <a:lnSpc>
                              <a:spcPct val="115000"/>
                            </a:lnSpc>
                            <a:spcAft>
                              <a:spcPts val="800"/>
                            </a:spcAft>
                            <a:buNone/>
                          </a:pPr>
                          <a:r>
                            <a:rPr lang="en-US" sz="3600" kern="0" dirty="0">
                              <a:solidFill>
                                <a:schemeClr val="bg1"/>
                              </a:solidFill>
                              <a:effectLst/>
                            </a:rPr>
                            <a:t> </a:t>
                          </a:r>
                          <a:endParaRPr lang="en-US" sz="3600" kern="100" dirty="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a:solidFill>
                                <a:schemeClr val="bg1"/>
                              </a:solidFill>
                              <a:effectLst/>
                            </a:rPr>
                            <a:t>Purpose</a:t>
                          </a:r>
                          <a:endParaRPr lang="en-US" sz="36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dirty="0">
                              <a:solidFill>
                                <a:schemeClr val="bg1"/>
                              </a:solidFill>
                              <a:effectLst/>
                            </a:rPr>
                            <a:t>Value</a:t>
                          </a:r>
                          <a:endParaRPr lang="en-US" sz="3600" kern="100" dirty="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a:solidFill>
                                <a:schemeClr val="bg1"/>
                              </a:solidFill>
                              <a:effectLst/>
                            </a:rPr>
                            <a:t>Unit</a:t>
                          </a:r>
                          <a:endParaRPr lang="en-US" sz="36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extLst>
                      <a:ext uri="{0D108BD9-81ED-4DB2-BD59-A6C34878D82A}">
                        <a16:rowId xmlns:a16="http://schemas.microsoft.com/office/drawing/2014/main" val="1660098327"/>
                      </a:ext>
                    </a:extLst>
                  </a:tr>
                  <a:tr h="2225180">
                    <a:tc>
                      <a:txBody>
                        <a:bodyPr/>
                        <a:lstStyle/>
                        <a:p>
                          <a:pPr marL="0" marR="0">
                            <a:lnSpc>
                              <a:spcPct val="115000"/>
                            </a:lnSpc>
                            <a:spcAft>
                              <a:spcPts val="800"/>
                            </a:spcAft>
                            <a:buNone/>
                          </a:pPr>
                          <a:r>
                            <a:rPr lang="en-US" sz="3600" kern="0" dirty="0">
                              <a:solidFill>
                                <a:schemeClr val="bg1"/>
                              </a:solidFill>
                              <a:effectLst/>
                            </a:rPr>
                            <a:t>Temperature</a:t>
                          </a:r>
                          <a:endParaRPr lang="en-US" sz="3600" kern="100" dirty="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dirty="0">
                              <a:solidFill>
                                <a:schemeClr val="tx1"/>
                              </a:solidFill>
                              <a:effectLst/>
                            </a:rPr>
                            <a:t>Required to calculate heat transfer, set as constant for simulation convenience</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nSpc>
                              <a:spcPct val="115000"/>
                            </a:lnSpc>
                            <a:spcAft>
                              <a:spcPts val="800"/>
                            </a:spcAft>
                            <a:buNone/>
                          </a:pPr>
                          <a:r>
                            <a:rPr lang="en-US" sz="3600" kern="0" dirty="0">
                              <a:solidFill>
                                <a:schemeClr val="tx1"/>
                              </a:solidFill>
                              <a:effectLst/>
                            </a:rPr>
                            <a:t>Blood: </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311.65</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CSF:314.65</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gn="ctr">
                            <a:lnSpc>
                              <a:spcPct val="115000"/>
                            </a:lnSpc>
                            <a:spcAft>
                              <a:spcPts val="800"/>
                            </a:spcAft>
                            <a:buNone/>
                          </a:pPr>
                          <a:r>
                            <a:rPr lang="en-US" sz="3600" kern="0" dirty="0">
                              <a:solidFill>
                                <a:schemeClr val="tx1"/>
                              </a:solidFill>
                              <a:effectLst/>
                            </a:rPr>
                            <a:t> K</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extLst>
                      <a:ext uri="{0D108BD9-81ED-4DB2-BD59-A6C34878D82A}">
                        <a16:rowId xmlns:a16="http://schemas.microsoft.com/office/drawing/2014/main" val="2535967288"/>
                      </a:ext>
                    </a:extLst>
                  </a:tr>
                  <a:tr h="3125561">
                    <a:tc>
                      <a:txBody>
                        <a:bodyPr/>
                        <a:lstStyle/>
                        <a:p>
                          <a:pPr marL="0" marR="0">
                            <a:lnSpc>
                              <a:spcPct val="115000"/>
                            </a:lnSpc>
                            <a:spcAft>
                              <a:spcPts val="800"/>
                            </a:spcAft>
                            <a:buNone/>
                          </a:pPr>
                          <a:r>
                            <a:rPr lang="en-US" sz="3600" kern="0">
                              <a:solidFill>
                                <a:schemeClr val="bg1"/>
                              </a:solidFill>
                              <a:effectLst/>
                            </a:rPr>
                            <a:t>Heat Capacity</a:t>
                          </a:r>
                          <a:endParaRPr lang="en-US" sz="36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dirty="0">
                              <a:solidFill>
                                <a:schemeClr val="tx1"/>
                              </a:solidFill>
                              <a:effectLst/>
                            </a:rPr>
                            <a:t>A measure of how much heat a parcel can carry specifically how much temperature a capillary system can remove</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nSpc>
                              <a:spcPct val="115000"/>
                            </a:lnSpc>
                            <a:spcAft>
                              <a:spcPts val="800"/>
                            </a:spcAft>
                            <a:buNone/>
                          </a:pPr>
                          <a:r>
                            <a:rPr lang="en-US" sz="3600" kern="0" dirty="0">
                              <a:solidFill>
                                <a:schemeClr val="tx1"/>
                              </a:solidFill>
                              <a:effectLst/>
                            </a:rPr>
                            <a:t>Blood:</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1005</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CSF:</a:t>
                          </a:r>
                        </a:p>
                        <a:p>
                          <a:pPr marL="0" marR="0">
                            <a:lnSpc>
                              <a:spcPct val="115000"/>
                            </a:lnSpc>
                            <a:spcAft>
                              <a:spcPts val="800"/>
                            </a:spcAft>
                            <a:buNone/>
                          </a:pPr>
                          <a:r>
                            <a:rPr lang="en-US" sz="3600" kern="0" dirty="0">
                              <a:solidFill>
                                <a:schemeClr val="tx1"/>
                              </a:solidFill>
                              <a:effectLst/>
                            </a:rPr>
                            <a:t>1005</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gn="ctr">
                            <a:lnSpc>
                              <a:spcPct val="115000"/>
                            </a:lnSpc>
                            <a:spcAft>
                              <a:spcPts val="800"/>
                            </a:spcAft>
                            <a:buNone/>
                          </a:pPr>
                          <a:r>
                            <a:rPr lang="en-US" sz="3600" kern="0" dirty="0">
                              <a:solidFill>
                                <a:schemeClr val="tx1"/>
                              </a:solidFill>
                              <a:effectLst/>
                            </a:rPr>
                            <a:t> J/(kg*k)</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extLst>
                      <a:ext uri="{0D108BD9-81ED-4DB2-BD59-A6C34878D82A}">
                        <a16:rowId xmlns:a16="http://schemas.microsoft.com/office/drawing/2014/main" val="2965524512"/>
                      </a:ext>
                    </a:extLst>
                  </a:tr>
                  <a:tr h="2792413">
                    <a:tc>
                      <a:txBody>
                        <a:bodyPr/>
                        <a:lstStyle/>
                        <a:p>
                          <a:pPr marL="0" marR="0">
                            <a:lnSpc>
                              <a:spcPct val="115000"/>
                            </a:lnSpc>
                            <a:spcAft>
                              <a:spcPts val="800"/>
                            </a:spcAft>
                            <a:buNone/>
                          </a:pPr>
                          <a:r>
                            <a:rPr lang="en-US" sz="3600" kern="0">
                              <a:solidFill>
                                <a:schemeClr val="bg1"/>
                              </a:solidFill>
                              <a:effectLst/>
                            </a:rPr>
                            <a:t>Pressure</a:t>
                          </a:r>
                          <a:endParaRPr lang="en-US" sz="36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dirty="0">
                              <a:solidFill>
                                <a:schemeClr val="tx1"/>
                              </a:solidFill>
                              <a:effectLst/>
                            </a:rPr>
                            <a:t>Pressure governs how fluids flow- both speed, structure, and rate of plasma escape</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nSpc>
                              <a:spcPct val="115000"/>
                            </a:lnSpc>
                            <a:spcAft>
                              <a:spcPts val="800"/>
                            </a:spcAft>
                            <a:buNone/>
                          </a:pPr>
                          <a:r>
                            <a:rPr lang="en-US" sz="3600" kern="0" dirty="0">
                              <a:solidFill>
                                <a:schemeClr val="tx1"/>
                              </a:solidFill>
                              <a:effectLst/>
                            </a:rPr>
                            <a:t>Blood:</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1e5</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CSF:</a:t>
                          </a:r>
                        </a:p>
                        <a:p>
                          <a:pPr marL="0" marR="0">
                            <a:lnSpc>
                              <a:spcPct val="115000"/>
                            </a:lnSpc>
                            <a:spcAft>
                              <a:spcPts val="800"/>
                            </a:spcAft>
                            <a:buNone/>
                          </a:pPr>
                          <a:r>
                            <a:rPr lang="en-US" sz="3600" kern="0" dirty="0">
                              <a:solidFill>
                                <a:schemeClr val="tx1"/>
                              </a:solidFill>
                              <a:effectLst/>
                            </a:rPr>
                            <a:t>1e5</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endParaRPr lang="en-US"/>
                        </a:p>
                      </a:txBody>
                      <a:tcPr marL="60960" marR="60960" marT="0" marB="0">
                        <a:blipFill>
                          <a:blip r:embed="rId5"/>
                          <a:stretch>
                            <a:fillRect l="-300180" t="-217273" r="-360" b="-209091"/>
                          </a:stretch>
                        </a:blipFill>
                      </a:tcPr>
                    </a:tc>
                    <a:extLst>
                      <a:ext uri="{0D108BD9-81ED-4DB2-BD59-A6C34878D82A}">
                        <a16:rowId xmlns:a16="http://schemas.microsoft.com/office/drawing/2014/main" val="3154826381"/>
                      </a:ext>
                    </a:extLst>
                  </a:tr>
                  <a:tr h="2792413">
                    <a:tc>
                      <a:txBody>
                        <a:bodyPr/>
                        <a:lstStyle/>
                        <a:p>
                          <a:pPr marL="0" marR="0">
                            <a:lnSpc>
                              <a:spcPct val="115000"/>
                            </a:lnSpc>
                            <a:spcAft>
                              <a:spcPts val="800"/>
                            </a:spcAft>
                            <a:buNone/>
                          </a:pPr>
                          <a:r>
                            <a:rPr lang="en-US" sz="3600" kern="0" dirty="0">
                              <a:solidFill>
                                <a:schemeClr val="bg1"/>
                              </a:solidFill>
                              <a:effectLst/>
                            </a:rPr>
                            <a:t>Velocity</a:t>
                          </a:r>
                          <a:endParaRPr lang="en-US" sz="3600" kern="100" dirty="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dirty="0">
                              <a:solidFill>
                                <a:schemeClr val="tx1"/>
                              </a:solidFill>
                              <a:effectLst/>
                            </a:rPr>
                            <a:t>This represents the flow rate of the vascular system, and therefore how quickly the system can remove heat</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nSpc>
                              <a:spcPct val="115000"/>
                            </a:lnSpc>
                            <a:spcAft>
                              <a:spcPts val="800"/>
                            </a:spcAft>
                            <a:buNone/>
                          </a:pPr>
                          <a:r>
                            <a:rPr lang="en-US" sz="3600" kern="0" dirty="0">
                              <a:solidFill>
                                <a:schemeClr val="tx1"/>
                              </a:solidFill>
                              <a:effectLst/>
                            </a:rPr>
                            <a:t>Blood:</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0.001</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CSF:</a:t>
                          </a:r>
                        </a:p>
                        <a:p>
                          <a:pPr marL="0" marR="0">
                            <a:lnSpc>
                              <a:spcPct val="115000"/>
                            </a:lnSpc>
                            <a:spcAft>
                              <a:spcPts val="800"/>
                            </a:spcAft>
                            <a:buNone/>
                          </a:pPr>
                          <a:r>
                            <a:rPr lang="en-US" sz="3600" kern="0" dirty="0">
                              <a:solidFill>
                                <a:schemeClr val="tx1"/>
                              </a:solidFill>
                              <a:effectLst/>
                            </a:rPr>
                            <a:t>0.00</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endParaRPr lang="en-US"/>
                        </a:p>
                      </a:txBody>
                      <a:tcPr marL="60960" marR="60960" marT="0" marB="0">
                        <a:blipFill>
                          <a:blip r:embed="rId5"/>
                          <a:stretch>
                            <a:fillRect l="-300180" t="-317273" r="-360" b="-109091"/>
                          </a:stretch>
                        </a:blipFill>
                      </a:tcPr>
                    </a:tc>
                    <a:extLst>
                      <a:ext uri="{0D108BD9-81ED-4DB2-BD59-A6C34878D82A}">
                        <a16:rowId xmlns:a16="http://schemas.microsoft.com/office/drawing/2014/main" val="4230115838"/>
                      </a:ext>
                    </a:extLst>
                  </a:tr>
                  <a:tr h="2792413">
                    <a:tc>
                      <a:txBody>
                        <a:bodyPr/>
                        <a:lstStyle/>
                        <a:p>
                          <a:pPr marL="0" marR="0">
                            <a:lnSpc>
                              <a:spcPct val="115000"/>
                            </a:lnSpc>
                            <a:spcAft>
                              <a:spcPts val="800"/>
                            </a:spcAft>
                            <a:buNone/>
                          </a:pPr>
                          <a:r>
                            <a:rPr lang="en-US" sz="3600" kern="0" dirty="0">
                              <a:solidFill>
                                <a:schemeClr val="bg1"/>
                              </a:solidFill>
                              <a:effectLst/>
                            </a:rPr>
                            <a:t>density</a:t>
                          </a:r>
                          <a:endParaRPr lang="en-US" sz="3600" kern="100" dirty="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A51114"/>
                        </a:solidFill>
                      </a:tcPr>
                    </a:tc>
                    <a:tc>
                      <a:txBody>
                        <a:bodyPr/>
                        <a:lstStyle/>
                        <a:p>
                          <a:pPr marL="0" marR="0">
                            <a:lnSpc>
                              <a:spcPct val="115000"/>
                            </a:lnSpc>
                            <a:spcAft>
                              <a:spcPts val="800"/>
                            </a:spcAft>
                            <a:buNone/>
                          </a:pPr>
                          <a:r>
                            <a:rPr lang="en-US" sz="3600" kern="0">
                              <a:solidFill>
                                <a:schemeClr val="tx1"/>
                              </a:solidFill>
                              <a:effectLst/>
                            </a:rPr>
                            <a:t>Determines how much fluid can fit in a certain amount of space, and therefore how much it can carry.</a:t>
                          </a:r>
                          <a:endParaRPr lang="en-US" sz="3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pPr marL="0" marR="0">
                            <a:lnSpc>
                              <a:spcPct val="115000"/>
                            </a:lnSpc>
                            <a:spcAft>
                              <a:spcPts val="800"/>
                            </a:spcAft>
                            <a:buNone/>
                          </a:pPr>
                          <a:r>
                            <a:rPr lang="en-US" sz="3600" kern="0" dirty="0">
                              <a:solidFill>
                                <a:schemeClr val="tx1"/>
                              </a:solidFill>
                              <a:effectLst/>
                            </a:rPr>
                            <a:t>Blood:</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1000</a:t>
                          </a:r>
                          <a:endParaRPr lang="en-US" sz="3600" kern="100" dirty="0">
                            <a:solidFill>
                              <a:schemeClr val="tx1"/>
                            </a:solidFill>
                            <a:effectLst/>
                          </a:endParaRPr>
                        </a:p>
                        <a:p>
                          <a:pPr marL="0" marR="0">
                            <a:lnSpc>
                              <a:spcPct val="115000"/>
                            </a:lnSpc>
                            <a:spcAft>
                              <a:spcPts val="800"/>
                            </a:spcAft>
                            <a:buNone/>
                          </a:pPr>
                          <a:r>
                            <a:rPr lang="en-US" sz="3600" kern="0" dirty="0">
                              <a:solidFill>
                                <a:schemeClr val="tx1"/>
                              </a:solidFill>
                              <a:effectLst/>
                            </a:rPr>
                            <a:t>CSF:</a:t>
                          </a:r>
                        </a:p>
                        <a:p>
                          <a:pPr marL="0" marR="0">
                            <a:lnSpc>
                              <a:spcPct val="115000"/>
                            </a:lnSpc>
                            <a:spcAft>
                              <a:spcPts val="800"/>
                            </a:spcAft>
                            <a:buNone/>
                          </a:pPr>
                          <a:r>
                            <a:rPr lang="en-US" sz="3600" kern="0" dirty="0">
                              <a:solidFill>
                                <a:schemeClr val="tx1"/>
                              </a:solidFill>
                              <a:effectLst/>
                            </a:rPr>
                            <a:t>1000</a:t>
                          </a:r>
                          <a:endParaRPr lang="en-US" sz="3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0960" marR="60960" marT="0" marB="0">
                        <a:solidFill>
                          <a:srgbClr val="DB9892"/>
                        </a:solidFill>
                      </a:tcPr>
                    </a:tc>
                    <a:tc>
                      <a:txBody>
                        <a:bodyPr/>
                        <a:lstStyle/>
                        <a:p>
                          <a:endParaRPr lang="en-US"/>
                        </a:p>
                      </a:txBody>
                      <a:tcPr marL="60960" marR="60960" marT="0" marB="0">
                        <a:blipFill>
                          <a:blip r:embed="rId5"/>
                          <a:stretch>
                            <a:fillRect l="-300180" t="-417273" r="-360" b="-9091"/>
                          </a:stretch>
                        </a:blipFill>
                      </a:tcPr>
                    </a:tc>
                    <a:extLst>
                      <a:ext uri="{0D108BD9-81ED-4DB2-BD59-A6C34878D82A}">
                        <a16:rowId xmlns:a16="http://schemas.microsoft.com/office/drawing/2014/main" val="3464666473"/>
                      </a:ext>
                    </a:extLst>
                  </a:tr>
                </a:tbl>
              </a:graphicData>
            </a:graphic>
          </p:graphicFrame>
        </mc:Fallback>
      </mc:AlternateContent>
    </p:spTree>
    <p:extLst>
      <p:ext uri="{BB962C8B-B14F-4D97-AF65-F5344CB8AC3E}">
        <p14:creationId xmlns:p14="http://schemas.microsoft.com/office/powerpoint/2010/main" val="159119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6F1D427-E35A-A5D7-DFF9-50999CA9F1ED}"/>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DAA04DC-A840-7941-43AD-B934E312DC6A}"/>
              </a:ext>
            </a:extLst>
          </p:cNvPr>
          <p:cNvGraphicFramePr>
            <a:graphicFrameLocks noChangeAspect="1"/>
          </p:cNvGraphicFramePr>
          <p:nvPr>
            <p:custDataLst>
              <p:tags r:id="rId1"/>
            </p:custDataLst>
            <p:extLst>
              <p:ext uri="{D42A27DB-BD31-4B8C-83A1-F6EECF244321}">
                <p14:modId xmlns:p14="http://schemas.microsoft.com/office/powerpoint/2010/main" val="30257484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09" name="Google Shape;109;p2">
            <a:extLst>
              <a:ext uri="{FF2B5EF4-FFF2-40B4-BE49-F238E27FC236}">
                <a16:creationId xmlns:a16="http://schemas.microsoft.com/office/drawing/2014/main" id="{9B3F7E51-B84D-64EF-70E3-09109909A4AA}"/>
              </a:ext>
            </a:extLst>
          </p:cNvPr>
          <p:cNvSpPr/>
          <p:nvPr/>
        </p:nvSpPr>
        <p:spPr>
          <a:xfrm>
            <a:off x="513805" y="1737092"/>
            <a:ext cx="28233191" cy="3007360"/>
          </a:xfrm>
          <a:prstGeom prst="rect">
            <a:avLst/>
          </a:prstGeom>
          <a:solidFill>
            <a:srgbClr val="A51417"/>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2738C62F-7833-1CA0-C329-C657A5EACBCC}"/>
              </a:ext>
            </a:extLst>
          </p:cNvPr>
          <p:cNvSpPr txBox="1"/>
          <p:nvPr/>
        </p:nvSpPr>
        <p:spPr>
          <a:xfrm>
            <a:off x="2793738" y="3696237"/>
            <a:ext cx="23147092" cy="738499"/>
          </a:xfrm>
          <a:prstGeom prst="rect">
            <a:avLst/>
          </a:prstGeom>
          <a:noFill/>
          <a:ln>
            <a:noFill/>
          </a:ln>
        </p:spPr>
        <p:txBody>
          <a:bodyPr spcFirstLastPara="1" wrap="square" lIns="81267" tIns="40622" rIns="81267" bIns="40622" anchor="t" anchorCtr="0">
            <a:spAutoFit/>
          </a:bodyPr>
          <a:lstStyle/>
          <a:p>
            <a:pPr algn="ctr"/>
            <a:r>
              <a:rPr lang="en-US" sz="2133" b="1" dirty="0">
                <a:solidFill>
                  <a:schemeClr val="lt1"/>
                </a:solidFill>
                <a:latin typeface="Source Sans Pro"/>
                <a:ea typeface="Source Sans Pro"/>
                <a:cs typeface="Source Sans Pro"/>
                <a:sym typeface="Source Sans Pro"/>
              </a:rPr>
              <a:t>Jinyao Z. DeSandies, Christopher I. Moore</a:t>
            </a:r>
          </a:p>
          <a:p>
            <a:pPr algn="ctr"/>
            <a:r>
              <a:rPr lang="en-US" sz="2133" b="1" dirty="0">
                <a:solidFill>
                  <a:schemeClr val="lt1"/>
                </a:solidFill>
                <a:latin typeface="Source Sans Pro"/>
                <a:ea typeface="Source Sans Pro"/>
                <a:cs typeface="Source Sans Pro"/>
                <a:sym typeface="Source Sans Pro"/>
              </a:rPr>
              <a:t>Funding provided by National Institute of Neurological Disorders and Stroke for Carney Summer Scholars Program</a:t>
            </a:r>
          </a:p>
        </p:txBody>
      </p:sp>
      <p:sp>
        <p:nvSpPr>
          <p:cNvPr id="117" name="Google Shape;117;p2">
            <a:extLst>
              <a:ext uri="{FF2B5EF4-FFF2-40B4-BE49-F238E27FC236}">
                <a16:creationId xmlns:a16="http://schemas.microsoft.com/office/drawing/2014/main" id="{610207F8-D0E3-27CD-CBB8-16723446D4FE}"/>
              </a:ext>
            </a:extLst>
          </p:cNvPr>
          <p:cNvSpPr/>
          <p:nvPr/>
        </p:nvSpPr>
        <p:spPr>
          <a:xfrm>
            <a:off x="513804" y="5275086"/>
            <a:ext cx="11240534" cy="13650653"/>
          </a:xfrm>
          <a:prstGeom prst="rect">
            <a:avLst/>
          </a:prstGeom>
          <a:solidFill>
            <a:srgbClr val="D8D8D8"/>
          </a:solidFill>
          <a:ln>
            <a:noFill/>
          </a:ln>
        </p:spPr>
        <p:txBody>
          <a:bodyPr spcFirstLastPara="1" wrap="square" lIns="81267" tIns="40622" rIns="81267" bIns="40622" anchor="ctr" anchorCtr="0">
            <a:noAutofit/>
          </a:bodyPr>
          <a:lstStyle/>
          <a:p>
            <a:pPr marL="609608" indent="-609608">
              <a:buFont typeface="Arial" panose="020B0604020202020204" pitchFamily="34" charset="0"/>
              <a:buChar char="•"/>
            </a:pPr>
            <a:r>
              <a:rPr lang="en-US" sz="4445" dirty="0"/>
              <a:t>temperature differences between the hotter outer shell and cooler inside </a:t>
            </a:r>
            <a:r>
              <a:rPr lang="en-US" sz="4445" dirty="0" err="1"/>
              <a:t>cappilary</a:t>
            </a:r>
            <a:r>
              <a:rPr lang="en-US" sz="4445" dirty="0"/>
              <a:t>, the CSF and ECF being cools rapidly exits downward a higher level of efficiency in temperature diffusion. </a:t>
            </a:r>
          </a:p>
          <a:p>
            <a:pPr marL="609608" indent="-609608">
              <a:buFont typeface="Arial" panose="020B0604020202020204" pitchFamily="34" charset="0"/>
              <a:buChar char="•"/>
            </a:pPr>
            <a:r>
              <a:rPr lang="en-US" sz="4445" dirty="0"/>
              <a:t>more advantageous for vessels to be placed above neurons if its purpose is to regulate temperature, or below neurons if the purpose is metabolic and oxygen delivery. </a:t>
            </a:r>
          </a:p>
          <a:p>
            <a:pPr marL="609608" indent="-609608">
              <a:buFont typeface="Arial" panose="020B0604020202020204" pitchFamily="34" charset="0"/>
              <a:buChar char="•"/>
            </a:pPr>
            <a:r>
              <a:rPr lang="en-US" sz="4445" dirty="0"/>
              <a:t>chemicals within the system can flow in ways to mix into new signaling chemicals or deliver Ca and K to allow neurons to excite or inhibit other neurons that are not wired directly.</a:t>
            </a:r>
          </a:p>
          <a:p>
            <a:pPr marL="609608" indent="-609608">
              <a:buFont typeface="Arial" panose="020B0604020202020204" pitchFamily="34" charset="0"/>
              <a:buChar char="•"/>
            </a:pPr>
            <a:r>
              <a:rPr lang="en-US" sz="4445" dirty="0"/>
              <a:t>Dynamic Simulation made</a:t>
            </a:r>
          </a:p>
          <a:p>
            <a:pPr marL="609608" indent="-609608">
              <a:buFont typeface="Arial" panose="020B0604020202020204" pitchFamily="34" charset="0"/>
              <a:buChar char="•"/>
            </a:pPr>
            <a:endParaRPr sz="4445" dirty="0">
              <a:solidFill>
                <a:schemeClr val="lt1"/>
              </a:solidFill>
              <a:latin typeface="Calibri"/>
              <a:ea typeface="Calibri"/>
              <a:cs typeface="Calibri"/>
              <a:sym typeface="Calibri"/>
            </a:endParaRPr>
          </a:p>
        </p:txBody>
      </p:sp>
      <p:sp>
        <p:nvSpPr>
          <p:cNvPr id="118" name="Google Shape;118;p2">
            <a:extLst>
              <a:ext uri="{FF2B5EF4-FFF2-40B4-BE49-F238E27FC236}">
                <a16:creationId xmlns:a16="http://schemas.microsoft.com/office/drawing/2014/main" id="{02B3D7B8-FCE0-76C5-33F8-EB92FF7F9594}"/>
              </a:ext>
            </a:extLst>
          </p:cNvPr>
          <p:cNvSpPr/>
          <p:nvPr/>
        </p:nvSpPr>
        <p:spPr>
          <a:xfrm>
            <a:off x="513805" y="19213689"/>
            <a:ext cx="28296143" cy="1096851"/>
          </a:xfrm>
          <a:prstGeom prst="rect">
            <a:avLst/>
          </a:prstGeom>
          <a:solidFill>
            <a:srgbClr val="F2F2F2"/>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20" name="Google Shape;120;p2">
            <a:extLst>
              <a:ext uri="{FF2B5EF4-FFF2-40B4-BE49-F238E27FC236}">
                <a16:creationId xmlns:a16="http://schemas.microsoft.com/office/drawing/2014/main" id="{A4DB0615-51E4-A735-EF10-36A2BE241459}"/>
              </a:ext>
            </a:extLst>
          </p:cNvPr>
          <p:cNvSpPr txBox="1"/>
          <p:nvPr/>
        </p:nvSpPr>
        <p:spPr>
          <a:xfrm>
            <a:off x="25412518" y="19502395"/>
            <a:ext cx="3273636" cy="464963"/>
          </a:xfrm>
          <a:prstGeom prst="rect">
            <a:avLst/>
          </a:prstGeom>
          <a:noFill/>
          <a:ln>
            <a:noFill/>
          </a:ln>
        </p:spPr>
        <p:txBody>
          <a:bodyPr spcFirstLastPara="1" wrap="square" lIns="81267" tIns="40622" rIns="81267" bIns="40622" anchor="t" anchorCtr="0">
            <a:spAutoFit/>
          </a:bodyPr>
          <a:lstStyle/>
          <a:p>
            <a:r>
              <a:rPr lang="en-US" sz="1244" dirty="0">
                <a:solidFill>
                  <a:schemeClr val="dk1"/>
                </a:solidFill>
                <a:latin typeface="Source Sans Pro"/>
                <a:ea typeface="Source Sans Pro"/>
                <a:cs typeface="Source Sans Pro"/>
                <a:sym typeface="Source Sans Pro"/>
              </a:rPr>
              <a:t>Special Thanks to Spike Lab, Dept. Neuroscience, Pomona College, Claremont CA</a:t>
            </a:r>
          </a:p>
        </p:txBody>
      </p:sp>
      <p:sp>
        <p:nvSpPr>
          <p:cNvPr id="121" name="Google Shape;121;p2">
            <a:extLst>
              <a:ext uri="{FF2B5EF4-FFF2-40B4-BE49-F238E27FC236}">
                <a16:creationId xmlns:a16="http://schemas.microsoft.com/office/drawing/2014/main" id="{61A9F7CF-1824-3828-4727-16A0F02B7671}"/>
              </a:ext>
            </a:extLst>
          </p:cNvPr>
          <p:cNvSpPr/>
          <p:nvPr/>
        </p:nvSpPr>
        <p:spPr>
          <a:xfrm>
            <a:off x="22801869" y="19371734"/>
            <a:ext cx="2489851" cy="805511"/>
          </a:xfrm>
          <a:prstGeom prst="rect">
            <a:avLst/>
          </a:prstGeom>
          <a:solidFill>
            <a:srgbClr val="BFBFBF"/>
          </a:solidFill>
          <a:ln>
            <a:noFill/>
          </a:ln>
        </p:spPr>
        <p:txBody>
          <a:bodyPr spcFirstLastPara="1" wrap="square" lIns="81267" tIns="40622" rIns="81267" bIns="40622" anchor="ctr" anchorCtr="0">
            <a:noAutofit/>
          </a:bodyPr>
          <a:lstStyle/>
          <a:p>
            <a:pPr algn="ctr"/>
            <a:endParaRPr sz="1244">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D189742D-91AB-01EB-6713-FD25EBA6252C}"/>
              </a:ext>
            </a:extLst>
          </p:cNvPr>
          <p:cNvPicPr>
            <a:picLocks noChangeAspect="1"/>
          </p:cNvPicPr>
          <p:nvPr/>
        </p:nvPicPr>
        <p:blipFill>
          <a:blip r:embed="rId6"/>
          <a:stretch>
            <a:fillRect/>
          </a:stretch>
        </p:blipFill>
        <p:spPr>
          <a:xfrm>
            <a:off x="25538643" y="1834140"/>
            <a:ext cx="1579638" cy="2683988"/>
          </a:xfrm>
          <a:prstGeom prst="rect">
            <a:avLst/>
          </a:prstGeom>
        </p:spPr>
      </p:pic>
      <p:sp>
        <p:nvSpPr>
          <p:cNvPr id="4" name="Google Shape;90;p1">
            <a:extLst>
              <a:ext uri="{FF2B5EF4-FFF2-40B4-BE49-F238E27FC236}">
                <a16:creationId xmlns:a16="http://schemas.microsoft.com/office/drawing/2014/main" id="{83B4C57B-0814-D4F2-4BBC-58FCE39E31CB}"/>
              </a:ext>
            </a:extLst>
          </p:cNvPr>
          <p:cNvSpPr txBox="1"/>
          <p:nvPr/>
        </p:nvSpPr>
        <p:spPr>
          <a:xfrm>
            <a:off x="1069858" y="2596650"/>
            <a:ext cx="4180031" cy="1723641"/>
          </a:xfrm>
          <a:prstGeom prst="rect">
            <a:avLst/>
          </a:prstGeom>
          <a:noFill/>
          <a:ln>
            <a:noFill/>
          </a:ln>
        </p:spPr>
        <p:txBody>
          <a:bodyPr spcFirstLastPara="1" wrap="square" lIns="81267" tIns="40622" rIns="81267" bIns="40622" anchor="t" anchorCtr="0">
            <a:spAutoFit/>
          </a:bodyPr>
          <a:lstStyle/>
          <a:p>
            <a:pPr algn="ctr"/>
            <a:r>
              <a:rPr lang="en-US" sz="3556" dirty="0">
                <a:solidFill>
                  <a:schemeClr val="lt1"/>
                </a:solidFill>
                <a:latin typeface="Source Sans Pro"/>
                <a:ea typeface="Source Sans Pro"/>
                <a:cs typeface="Source Sans Pro"/>
                <a:sym typeface="Source Sans Pro"/>
              </a:rPr>
              <a:t>Carney Center For Brain Science</a:t>
            </a:r>
          </a:p>
          <a:p>
            <a:pPr algn="ctr"/>
            <a:r>
              <a:rPr lang="en-US" sz="3556" dirty="0">
                <a:solidFill>
                  <a:schemeClr val="lt1"/>
                </a:solidFill>
                <a:latin typeface="Source Sans Pro"/>
                <a:ea typeface="Source Sans Pro"/>
                <a:cs typeface="Source Sans Pro"/>
                <a:sym typeface="Source Sans Pro"/>
              </a:rPr>
              <a:t>SREIP for VLANS</a:t>
            </a:r>
            <a:endParaRPr sz="3556" dirty="0">
              <a:solidFill>
                <a:schemeClr val="dk1"/>
              </a:solidFill>
              <a:latin typeface="Source Sans Pro"/>
              <a:ea typeface="Source Sans Pro"/>
              <a:cs typeface="Source Sans Pro"/>
              <a:sym typeface="Source Sans Pro"/>
            </a:endParaRPr>
          </a:p>
        </p:txBody>
      </p:sp>
      <p:sp>
        <p:nvSpPr>
          <p:cNvPr id="5" name="Google Shape;91;p1">
            <a:extLst>
              <a:ext uri="{FF2B5EF4-FFF2-40B4-BE49-F238E27FC236}">
                <a16:creationId xmlns:a16="http://schemas.microsoft.com/office/drawing/2014/main" id="{B9F7D519-9CEE-BC0F-D77A-FD6662191F96}"/>
              </a:ext>
            </a:extLst>
          </p:cNvPr>
          <p:cNvSpPr txBox="1"/>
          <p:nvPr/>
        </p:nvSpPr>
        <p:spPr>
          <a:xfrm>
            <a:off x="5624832" y="2158028"/>
            <a:ext cx="18649329" cy="738692"/>
          </a:xfrm>
          <a:prstGeom prst="rect">
            <a:avLst/>
          </a:prstGeom>
          <a:noFill/>
          <a:ln>
            <a:noFill/>
          </a:ln>
        </p:spPr>
        <p:txBody>
          <a:bodyPr spcFirstLastPara="1" wrap="square" lIns="81267" tIns="40622" rIns="81267" bIns="40622" anchor="t" anchorCtr="0">
            <a:spAutoFit/>
          </a:bodyPr>
          <a:lstStyle/>
          <a:p>
            <a:pPr algn="ctr"/>
            <a:r>
              <a:rPr lang="en-US" sz="4267" b="1" dirty="0">
                <a:solidFill>
                  <a:schemeClr val="lt1"/>
                </a:solidFill>
                <a:latin typeface="Source Sans Pro"/>
                <a:ea typeface="Source Sans Pro"/>
                <a:cs typeface="Source Sans Pro"/>
                <a:sym typeface="Source Sans Pro"/>
              </a:rPr>
              <a:t>Liquid Convection</a:t>
            </a:r>
            <a:endParaRPr sz="1244" dirty="0"/>
          </a:p>
        </p:txBody>
      </p:sp>
      <p:pic>
        <p:nvPicPr>
          <p:cNvPr id="16" name="Picture 15">
            <a:extLst>
              <a:ext uri="{FF2B5EF4-FFF2-40B4-BE49-F238E27FC236}">
                <a16:creationId xmlns:a16="http://schemas.microsoft.com/office/drawing/2014/main" id="{A8923BB4-A77A-7331-AD4A-169F54DBED22}"/>
              </a:ext>
            </a:extLst>
          </p:cNvPr>
          <p:cNvPicPr>
            <a:picLocks noChangeAspect="1"/>
          </p:cNvPicPr>
          <p:nvPr/>
        </p:nvPicPr>
        <p:blipFill>
          <a:blip r:embed="rId7"/>
          <a:srcRect l="22994" t="-303" r="261" b="-1294"/>
          <a:stretch>
            <a:fillRect/>
          </a:stretch>
        </p:blipFill>
        <p:spPr>
          <a:xfrm>
            <a:off x="12192327" y="5032403"/>
            <a:ext cx="16554668" cy="13180982"/>
          </a:xfrm>
          <a:prstGeom prst="rect">
            <a:avLst/>
          </a:prstGeom>
        </p:spPr>
      </p:pic>
      <p:pic>
        <p:nvPicPr>
          <p:cNvPr id="20" name="Picture 19">
            <a:extLst>
              <a:ext uri="{FF2B5EF4-FFF2-40B4-BE49-F238E27FC236}">
                <a16:creationId xmlns:a16="http://schemas.microsoft.com/office/drawing/2014/main" id="{98AEA8D3-7AD3-6ACE-0DE9-1CF70C8A5AF6}"/>
              </a:ext>
            </a:extLst>
          </p:cNvPr>
          <p:cNvPicPr>
            <a:picLocks noChangeAspect="1"/>
          </p:cNvPicPr>
          <p:nvPr/>
        </p:nvPicPr>
        <p:blipFill>
          <a:blip r:embed="rId8"/>
          <a:stretch>
            <a:fillRect/>
          </a:stretch>
        </p:blipFill>
        <p:spPr>
          <a:xfrm>
            <a:off x="23026436" y="19434446"/>
            <a:ext cx="1573437" cy="655335"/>
          </a:xfrm>
          <a:prstGeom prst="rect">
            <a:avLst/>
          </a:prstGeom>
        </p:spPr>
      </p:pic>
    </p:spTree>
    <p:extLst>
      <p:ext uri="{BB962C8B-B14F-4D97-AF65-F5344CB8AC3E}">
        <p14:creationId xmlns:p14="http://schemas.microsoft.com/office/powerpoint/2010/main" val="2191913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8C012D41-1C00-1B54-4FD8-BDCA1778E511}"/>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59D53F25-0325-9D4D-1698-4A78A5ACC5C6}"/>
              </a:ext>
            </a:extLst>
          </p:cNvPr>
          <p:cNvSpPr/>
          <p:nvPr/>
        </p:nvSpPr>
        <p:spPr>
          <a:xfrm>
            <a:off x="513805" y="1737092"/>
            <a:ext cx="28233191" cy="3007360"/>
          </a:xfrm>
          <a:prstGeom prst="rect">
            <a:avLst/>
          </a:prstGeom>
          <a:solidFill>
            <a:srgbClr val="A51417"/>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1DE373EF-9270-C144-9D18-96651C1982C4}"/>
              </a:ext>
            </a:extLst>
          </p:cNvPr>
          <p:cNvSpPr txBox="1"/>
          <p:nvPr/>
        </p:nvSpPr>
        <p:spPr>
          <a:xfrm>
            <a:off x="2793738" y="3696237"/>
            <a:ext cx="23147092" cy="738499"/>
          </a:xfrm>
          <a:prstGeom prst="rect">
            <a:avLst/>
          </a:prstGeom>
          <a:noFill/>
          <a:ln>
            <a:noFill/>
          </a:ln>
        </p:spPr>
        <p:txBody>
          <a:bodyPr spcFirstLastPara="1" wrap="square" lIns="81267" tIns="40622" rIns="81267" bIns="40622" anchor="t" anchorCtr="0">
            <a:spAutoFit/>
          </a:bodyPr>
          <a:lstStyle/>
          <a:p>
            <a:pPr algn="ctr"/>
            <a:r>
              <a:rPr lang="en-US" sz="2133" b="1" dirty="0">
                <a:solidFill>
                  <a:schemeClr val="lt1"/>
                </a:solidFill>
                <a:latin typeface="Source Sans Pro"/>
                <a:ea typeface="Source Sans Pro"/>
                <a:cs typeface="Source Sans Pro"/>
                <a:sym typeface="Source Sans Pro"/>
              </a:rPr>
              <a:t>Jinyao Z. DeSandies, Christopher I. Moore</a:t>
            </a:r>
          </a:p>
          <a:p>
            <a:pPr algn="ctr"/>
            <a:r>
              <a:rPr lang="en-US" sz="2133" b="1" dirty="0">
                <a:solidFill>
                  <a:schemeClr val="lt1"/>
                </a:solidFill>
                <a:latin typeface="Source Sans Pro"/>
                <a:ea typeface="Source Sans Pro"/>
                <a:cs typeface="Source Sans Pro"/>
                <a:sym typeface="Source Sans Pro"/>
              </a:rPr>
              <a:t>Funding provided by National Institute of Neurological Disorders and Stroke for Carney Summer Scholars Program</a:t>
            </a:r>
          </a:p>
        </p:txBody>
      </p:sp>
      <p:sp>
        <p:nvSpPr>
          <p:cNvPr id="114" name="Google Shape;114;p2">
            <a:extLst>
              <a:ext uri="{FF2B5EF4-FFF2-40B4-BE49-F238E27FC236}">
                <a16:creationId xmlns:a16="http://schemas.microsoft.com/office/drawing/2014/main" id="{F38E6145-32C6-9E89-2DE1-D7A4650A5D68}"/>
              </a:ext>
            </a:extLst>
          </p:cNvPr>
          <p:cNvSpPr/>
          <p:nvPr/>
        </p:nvSpPr>
        <p:spPr>
          <a:xfrm>
            <a:off x="1069858" y="4855799"/>
            <a:ext cx="12422622" cy="12903881"/>
          </a:xfrm>
          <a:prstGeom prst="rect">
            <a:avLst/>
          </a:prstGeom>
          <a:solidFill>
            <a:srgbClr val="D8D8D8"/>
          </a:solidFill>
          <a:ln>
            <a:noFill/>
          </a:ln>
        </p:spPr>
        <p:txBody>
          <a:bodyPr spcFirstLastPara="1" wrap="square" lIns="81267" tIns="40622" rIns="81267" bIns="40622" anchor="ctr" anchorCtr="0">
            <a:noAutofit/>
          </a:bodyPr>
          <a:lstStyle/>
          <a:p>
            <a:endParaRPr lang="en-US" sz="4445" dirty="0"/>
          </a:p>
          <a:p>
            <a:pPr marL="609608" indent="-609608">
              <a:buFont typeface="Arial" panose="020B0604020202020204" pitchFamily="34" charset="0"/>
              <a:buChar char="•"/>
            </a:pPr>
            <a:r>
              <a:rPr lang="en-US" sz="4445" dirty="0"/>
              <a:t>unable to demonstrate temperature change as a similarly dynamic component .</a:t>
            </a:r>
          </a:p>
          <a:p>
            <a:pPr marL="609608" indent="-609608">
              <a:buFont typeface="Arial" panose="020B0604020202020204" pitchFamily="34" charset="0"/>
              <a:buChar char="•"/>
            </a:pPr>
            <a:r>
              <a:rPr lang="en-US" sz="4445" dirty="0"/>
              <a:t> Clear effect shown in which neurons near the vessel would necessarily be cooler than neurons far away, which is intuitive. </a:t>
            </a:r>
          </a:p>
          <a:p>
            <a:pPr marL="609608" indent="-609608">
              <a:buFont typeface="Arial" panose="020B0604020202020204" pitchFamily="34" charset="0"/>
              <a:buChar char="•"/>
            </a:pPr>
            <a:r>
              <a:rPr lang="en-US" sz="4445" dirty="0"/>
              <a:t>Axons near vasculature should either benefit from being inhibited, or fire more commonly than other neurons.</a:t>
            </a:r>
          </a:p>
          <a:p>
            <a:pPr marL="609608" indent="-609608">
              <a:buFont typeface="Arial" panose="020B0604020202020204" pitchFamily="34" charset="0"/>
              <a:buChar char="•"/>
            </a:pPr>
            <a:r>
              <a:rPr lang="en-US" sz="4445" dirty="0"/>
              <a:t> This wraparound effect was indeed found in 2-Photon Imaging demonstrating action potentials coupled with neural signals.</a:t>
            </a:r>
          </a:p>
          <a:p>
            <a:pPr marL="609608" indent="-609608">
              <a:buFont typeface="Arial" panose="020B0604020202020204" pitchFamily="34" charset="0"/>
              <a:buChar char="•"/>
            </a:pPr>
            <a:endParaRPr sz="4445" dirty="0">
              <a:solidFill>
                <a:schemeClr val="lt1"/>
              </a:solidFill>
              <a:latin typeface="Calibri"/>
              <a:ea typeface="Calibri"/>
              <a:cs typeface="Calibri"/>
              <a:sym typeface="Calibri"/>
            </a:endParaRPr>
          </a:p>
        </p:txBody>
      </p:sp>
      <p:sp>
        <p:nvSpPr>
          <p:cNvPr id="118" name="Google Shape;118;p2">
            <a:extLst>
              <a:ext uri="{FF2B5EF4-FFF2-40B4-BE49-F238E27FC236}">
                <a16:creationId xmlns:a16="http://schemas.microsoft.com/office/drawing/2014/main" id="{D92C4C91-D1D2-DB74-CBE2-DDBAE00FE97E}"/>
              </a:ext>
            </a:extLst>
          </p:cNvPr>
          <p:cNvSpPr/>
          <p:nvPr/>
        </p:nvSpPr>
        <p:spPr>
          <a:xfrm>
            <a:off x="513805" y="19213689"/>
            <a:ext cx="28296143" cy="1096851"/>
          </a:xfrm>
          <a:prstGeom prst="rect">
            <a:avLst/>
          </a:prstGeom>
          <a:solidFill>
            <a:srgbClr val="F2F2F2"/>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19" name="Google Shape;119;p2">
            <a:extLst>
              <a:ext uri="{FF2B5EF4-FFF2-40B4-BE49-F238E27FC236}">
                <a16:creationId xmlns:a16="http://schemas.microsoft.com/office/drawing/2014/main" id="{412A1BEF-3BF7-5455-6B34-FD528DEDACFD}"/>
              </a:ext>
            </a:extLst>
          </p:cNvPr>
          <p:cNvSpPr txBox="1"/>
          <p:nvPr/>
        </p:nvSpPr>
        <p:spPr>
          <a:xfrm>
            <a:off x="665546" y="19328391"/>
            <a:ext cx="6405815" cy="847888"/>
          </a:xfrm>
          <a:prstGeom prst="rect">
            <a:avLst/>
          </a:prstGeom>
          <a:noFill/>
          <a:ln>
            <a:noFill/>
          </a:ln>
        </p:spPr>
        <p:txBody>
          <a:bodyPr spcFirstLastPara="1" wrap="square" lIns="81267" tIns="40622" rIns="81267" bIns="40622" anchor="t" anchorCtr="0">
            <a:spAutoFit/>
          </a:bodyPr>
          <a:lstStyle/>
          <a:p>
            <a:pPr lvl="0"/>
            <a:r>
              <a:rPr lang="en-US" sz="1244" dirty="0"/>
              <a:t>Pc − Pi = hydrostatic pressure gradient</a:t>
            </a:r>
          </a:p>
          <a:p>
            <a:pPr lvl="0"/>
            <a:r>
              <a:rPr lang="el-GR" sz="1244" dirty="0"/>
              <a:t>Π</a:t>
            </a:r>
            <a:r>
              <a:rPr lang="en-US" sz="1244" dirty="0"/>
              <a:t>c − </a:t>
            </a:r>
            <a:r>
              <a:rPr lang="el-GR" sz="1244" dirty="0"/>
              <a:t>Π</a:t>
            </a:r>
            <a:r>
              <a:rPr lang="en-US" sz="1244" dirty="0" err="1"/>
              <a:t>i</a:t>
            </a:r>
            <a:r>
              <a:rPr lang="en-US" sz="1244" dirty="0"/>
              <a:t> = oncotic pressure gradient</a:t>
            </a:r>
          </a:p>
          <a:p>
            <a:pPr lvl="0"/>
            <a:r>
              <a:rPr lang="en-US" sz="1244" dirty="0" err="1"/>
              <a:t>LpS</a:t>
            </a:r>
            <a:r>
              <a:rPr lang="en-US" sz="1244" dirty="0"/>
              <a:t> = capillary filtration coefficient</a:t>
            </a:r>
          </a:p>
          <a:p>
            <a:pPr lvl="0"/>
            <a:r>
              <a:rPr lang="el-GR" sz="1244" dirty="0"/>
              <a:t>σ = </a:t>
            </a:r>
            <a:r>
              <a:rPr lang="en-US" sz="1244" dirty="0"/>
              <a:t>reflection (protein permeability) coefficient</a:t>
            </a:r>
            <a:endParaRPr sz="1244" dirty="0"/>
          </a:p>
        </p:txBody>
      </p:sp>
      <p:sp>
        <p:nvSpPr>
          <p:cNvPr id="120" name="Google Shape;120;p2">
            <a:extLst>
              <a:ext uri="{FF2B5EF4-FFF2-40B4-BE49-F238E27FC236}">
                <a16:creationId xmlns:a16="http://schemas.microsoft.com/office/drawing/2014/main" id="{51EE5203-27DA-4C2C-2129-EED293F89ED9}"/>
              </a:ext>
            </a:extLst>
          </p:cNvPr>
          <p:cNvSpPr txBox="1"/>
          <p:nvPr/>
        </p:nvSpPr>
        <p:spPr>
          <a:xfrm>
            <a:off x="25412518" y="19502395"/>
            <a:ext cx="3273636" cy="464963"/>
          </a:xfrm>
          <a:prstGeom prst="rect">
            <a:avLst/>
          </a:prstGeom>
          <a:noFill/>
          <a:ln>
            <a:noFill/>
          </a:ln>
        </p:spPr>
        <p:txBody>
          <a:bodyPr spcFirstLastPara="1" wrap="square" lIns="81267" tIns="40622" rIns="81267" bIns="40622" anchor="t" anchorCtr="0">
            <a:spAutoFit/>
          </a:bodyPr>
          <a:lstStyle/>
          <a:p>
            <a:r>
              <a:rPr lang="en-US" sz="1244" dirty="0">
                <a:solidFill>
                  <a:schemeClr val="dk1"/>
                </a:solidFill>
                <a:latin typeface="Source Sans Pro"/>
                <a:ea typeface="Source Sans Pro"/>
                <a:cs typeface="Source Sans Pro"/>
                <a:sym typeface="Source Sans Pro"/>
              </a:rPr>
              <a:t>Special Thanks to Spike Lab, Dept. Neuroscience, Pomona College, Claremont CA</a:t>
            </a:r>
          </a:p>
        </p:txBody>
      </p:sp>
      <p:sp>
        <p:nvSpPr>
          <p:cNvPr id="121" name="Google Shape;121;p2">
            <a:extLst>
              <a:ext uri="{FF2B5EF4-FFF2-40B4-BE49-F238E27FC236}">
                <a16:creationId xmlns:a16="http://schemas.microsoft.com/office/drawing/2014/main" id="{E7EEE0CD-1122-03B4-461D-866BF61FEB75}"/>
              </a:ext>
            </a:extLst>
          </p:cNvPr>
          <p:cNvSpPr/>
          <p:nvPr/>
        </p:nvSpPr>
        <p:spPr>
          <a:xfrm>
            <a:off x="22801869" y="19371734"/>
            <a:ext cx="2489851" cy="805511"/>
          </a:xfrm>
          <a:prstGeom prst="rect">
            <a:avLst/>
          </a:prstGeom>
          <a:solidFill>
            <a:srgbClr val="BFBFBF"/>
          </a:solidFill>
          <a:ln>
            <a:noFill/>
          </a:ln>
        </p:spPr>
        <p:txBody>
          <a:bodyPr spcFirstLastPara="1" wrap="square" lIns="81267" tIns="40622" rIns="81267" bIns="40622" anchor="ctr" anchorCtr="0">
            <a:noAutofit/>
          </a:bodyPr>
          <a:lstStyle/>
          <a:p>
            <a:pPr algn="ctr"/>
            <a:endParaRPr sz="1244">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93553144-0F9B-D909-81A9-10590AC556FF}"/>
              </a:ext>
            </a:extLst>
          </p:cNvPr>
          <p:cNvPicPr>
            <a:picLocks noChangeAspect="1"/>
          </p:cNvPicPr>
          <p:nvPr/>
        </p:nvPicPr>
        <p:blipFill>
          <a:blip r:embed="rId3"/>
          <a:stretch>
            <a:fillRect/>
          </a:stretch>
        </p:blipFill>
        <p:spPr>
          <a:xfrm>
            <a:off x="25538643" y="1834140"/>
            <a:ext cx="1579638" cy="2683988"/>
          </a:xfrm>
          <a:prstGeom prst="rect">
            <a:avLst/>
          </a:prstGeom>
        </p:spPr>
      </p:pic>
      <p:sp>
        <p:nvSpPr>
          <p:cNvPr id="4" name="Google Shape;90;p1">
            <a:extLst>
              <a:ext uri="{FF2B5EF4-FFF2-40B4-BE49-F238E27FC236}">
                <a16:creationId xmlns:a16="http://schemas.microsoft.com/office/drawing/2014/main" id="{E8C3A8CE-9001-897E-7653-9DA199921577}"/>
              </a:ext>
            </a:extLst>
          </p:cNvPr>
          <p:cNvSpPr txBox="1"/>
          <p:nvPr/>
        </p:nvSpPr>
        <p:spPr>
          <a:xfrm>
            <a:off x="1069858" y="2596650"/>
            <a:ext cx="4180031" cy="1723641"/>
          </a:xfrm>
          <a:prstGeom prst="rect">
            <a:avLst/>
          </a:prstGeom>
          <a:noFill/>
          <a:ln>
            <a:noFill/>
          </a:ln>
        </p:spPr>
        <p:txBody>
          <a:bodyPr spcFirstLastPara="1" wrap="square" lIns="81267" tIns="40622" rIns="81267" bIns="40622" anchor="t" anchorCtr="0">
            <a:spAutoFit/>
          </a:bodyPr>
          <a:lstStyle/>
          <a:p>
            <a:pPr algn="ctr"/>
            <a:r>
              <a:rPr lang="en-US" sz="3556" dirty="0">
                <a:solidFill>
                  <a:schemeClr val="lt1"/>
                </a:solidFill>
                <a:latin typeface="Source Sans Pro"/>
                <a:ea typeface="Source Sans Pro"/>
                <a:cs typeface="Source Sans Pro"/>
                <a:sym typeface="Source Sans Pro"/>
              </a:rPr>
              <a:t>Carney Center For Brain Science</a:t>
            </a:r>
          </a:p>
          <a:p>
            <a:pPr algn="ctr"/>
            <a:r>
              <a:rPr lang="en-US" sz="3556" dirty="0">
                <a:solidFill>
                  <a:schemeClr val="lt1"/>
                </a:solidFill>
                <a:latin typeface="Source Sans Pro"/>
                <a:ea typeface="Source Sans Pro"/>
                <a:cs typeface="Source Sans Pro"/>
                <a:sym typeface="Source Sans Pro"/>
              </a:rPr>
              <a:t>SREIP for VLANS</a:t>
            </a:r>
            <a:endParaRPr sz="3556" dirty="0">
              <a:solidFill>
                <a:schemeClr val="dk1"/>
              </a:solidFill>
              <a:latin typeface="Source Sans Pro"/>
              <a:ea typeface="Source Sans Pro"/>
              <a:cs typeface="Source Sans Pro"/>
              <a:sym typeface="Source Sans Pro"/>
            </a:endParaRPr>
          </a:p>
        </p:txBody>
      </p:sp>
      <p:sp>
        <p:nvSpPr>
          <p:cNvPr id="5" name="Google Shape;91;p1">
            <a:extLst>
              <a:ext uri="{FF2B5EF4-FFF2-40B4-BE49-F238E27FC236}">
                <a16:creationId xmlns:a16="http://schemas.microsoft.com/office/drawing/2014/main" id="{E9EF75D7-BEA8-31CC-302E-2BE34C169120}"/>
              </a:ext>
            </a:extLst>
          </p:cNvPr>
          <p:cNvSpPr txBox="1"/>
          <p:nvPr/>
        </p:nvSpPr>
        <p:spPr>
          <a:xfrm>
            <a:off x="5624832" y="2158028"/>
            <a:ext cx="18649329" cy="738692"/>
          </a:xfrm>
          <a:prstGeom prst="rect">
            <a:avLst/>
          </a:prstGeom>
          <a:noFill/>
          <a:ln>
            <a:noFill/>
          </a:ln>
        </p:spPr>
        <p:txBody>
          <a:bodyPr spcFirstLastPara="1" wrap="square" lIns="81267" tIns="40622" rIns="81267" bIns="40622" anchor="t" anchorCtr="0">
            <a:spAutoFit/>
          </a:bodyPr>
          <a:lstStyle/>
          <a:p>
            <a:pPr algn="ctr"/>
            <a:r>
              <a:rPr lang="en-US" sz="4267" b="1" dirty="0">
                <a:solidFill>
                  <a:schemeClr val="lt1"/>
                </a:solidFill>
                <a:latin typeface="Source Sans Pro"/>
                <a:ea typeface="Source Sans Pro"/>
                <a:cs typeface="Source Sans Pro"/>
                <a:sym typeface="Source Sans Pro"/>
              </a:rPr>
              <a:t>Temperature Change</a:t>
            </a:r>
            <a:endParaRPr lang="en-US" sz="1244" dirty="0"/>
          </a:p>
        </p:txBody>
      </p:sp>
      <p:pic>
        <p:nvPicPr>
          <p:cNvPr id="20" name="Picture 19">
            <a:extLst>
              <a:ext uri="{FF2B5EF4-FFF2-40B4-BE49-F238E27FC236}">
                <a16:creationId xmlns:a16="http://schemas.microsoft.com/office/drawing/2014/main" id="{33AA5CD1-FFB0-D10D-81C9-88F37B16F9DC}"/>
              </a:ext>
            </a:extLst>
          </p:cNvPr>
          <p:cNvPicPr>
            <a:picLocks noChangeAspect="1"/>
          </p:cNvPicPr>
          <p:nvPr/>
        </p:nvPicPr>
        <p:blipFill>
          <a:blip r:embed="rId4"/>
          <a:stretch>
            <a:fillRect/>
          </a:stretch>
        </p:blipFill>
        <p:spPr>
          <a:xfrm>
            <a:off x="23026436" y="19434446"/>
            <a:ext cx="1573437" cy="655335"/>
          </a:xfrm>
          <a:prstGeom prst="rect">
            <a:avLst/>
          </a:prstGeom>
        </p:spPr>
      </p:pic>
      <p:pic>
        <p:nvPicPr>
          <p:cNvPr id="2" name="Picture 1">
            <a:extLst>
              <a:ext uri="{FF2B5EF4-FFF2-40B4-BE49-F238E27FC236}">
                <a16:creationId xmlns:a16="http://schemas.microsoft.com/office/drawing/2014/main" id="{813F8105-EF39-764F-35BC-23CA0F308AEA}"/>
              </a:ext>
            </a:extLst>
          </p:cNvPr>
          <p:cNvPicPr>
            <a:picLocks noChangeAspect="1"/>
          </p:cNvPicPr>
          <p:nvPr/>
        </p:nvPicPr>
        <p:blipFill>
          <a:blip r:embed="rId5"/>
          <a:srcRect l="22397" r="22341" b="1622"/>
          <a:stretch>
            <a:fillRect/>
          </a:stretch>
        </p:blipFill>
        <p:spPr>
          <a:xfrm>
            <a:off x="13862734" y="5165388"/>
            <a:ext cx="14823420" cy="12903880"/>
          </a:xfrm>
          <a:prstGeom prst="rect">
            <a:avLst/>
          </a:prstGeom>
        </p:spPr>
      </p:pic>
    </p:spTree>
    <p:extLst>
      <p:ext uri="{BB962C8B-B14F-4D97-AF65-F5344CB8AC3E}">
        <p14:creationId xmlns:p14="http://schemas.microsoft.com/office/powerpoint/2010/main" val="171303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6E434E31-6418-63F5-47AA-79768FD7862E}"/>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F1CA185-07BF-C064-88AB-4018E2565FE0}"/>
              </a:ext>
            </a:extLst>
          </p:cNvPr>
          <p:cNvGraphicFramePr>
            <a:graphicFrameLocks noChangeAspect="1"/>
          </p:cNvGraphicFramePr>
          <p:nvPr>
            <p:custDataLst>
              <p:tags r:id="rId1"/>
            </p:custDataLst>
            <p:extLst>
              <p:ext uri="{D42A27DB-BD31-4B8C-83A1-F6EECF244321}">
                <p14:modId xmlns:p14="http://schemas.microsoft.com/office/powerpoint/2010/main" val="111787134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09" name="Google Shape;109;p2">
            <a:extLst>
              <a:ext uri="{FF2B5EF4-FFF2-40B4-BE49-F238E27FC236}">
                <a16:creationId xmlns:a16="http://schemas.microsoft.com/office/drawing/2014/main" id="{1C4DDC13-B082-9CE5-91E2-182EF4AB01D6}"/>
              </a:ext>
            </a:extLst>
          </p:cNvPr>
          <p:cNvSpPr/>
          <p:nvPr/>
        </p:nvSpPr>
        <p:spPr>
          <a:xfrm>
            <a:off x="513805" y="1737092"/>
            <a:ext cx="28233191" cy="3007360"/>
          </a:xfrm>
          <a:prstGeom prst="rect">
            <a:avLst/>
          </a:prstGeom>
          <a:solidFill>
            <a:srgbClr val="A51417"/>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3E7F8AA8-3D7B-50A2-D6A3-36CC7DBFFFF1}"/>
              </a:ext>
            </a:extLst>
          </p:cNvPr>
          <p:cNvSpPr txBox="1"/>
          <p:nvPr/>
        </p:nvSpPr>
        <p:spPr>
          <a:xfrm>
            <a:off x="2793738" y="3696237"/>
            <a:ext cx="23147092" cy="738499"/>
          </a:xfrm>
          <a:prstGeom prst="rect">
            <a:avLst/>
          </a:prstGeom>
          <a:noFill/>
          <a:ln>
            <a:noFill/>
          </a:ln>
        </p:spPr>
        <p:txBody>
          <a:bodyPr spcFirstLastPara="1" wrap="square" lIns="81267" tIns="40622" rIns="81267" bIns="40622" anchor="t" anchorCtr="0">
            <a:spAutoFit/>
          </a:bodyPr>
          <a:lstStyle/>
          <a:p>
            <a:pPr algn="ctr"/>
            <a:r>
              <a:rPr lang="en-US" sz="2133" b="1" dirty="0">
                <a:solidFill>
                  <a:schemeClr val="lt1"/>
                </a:solidFill>
                <a:latin typeface="Source Sans Pro"/>
                <a:ea typeface="Source Sans Pro"/>
                <a:cs typeface="Source Sans Pro"/>
                <a:sym typeface="Source Sans Pro"/>
              </a:rPr>
              <a:t>Jinyao Z. DeSandies, Christopher I. Moore</a:t>
            </a:r>
          </a:p>
          <a:p>
            <a:pPr algn="ctr"/>
            <a:r>
              <a:rPr lang="en-US" sz="2133" b="1" dirty="0">
                <a:solidFill>
                  <a:schemeClr val="lt1"/>
                </a:solidFill>
                <a:latin typeface="Source Sans Pro"/>
                <a:ea typeface="Source Sans Pro"/>
                <a:cs typeface="Source Sans Pro"/>
                <a:sym typeface="Source Sans Pro"/>
              </a:rPr>
              <a:t>Funding provided by National Institute of Neurological Disorders and Stroke for Carney Summer Scholars Program</a:t>
            </a:r>
          </a:p>
        </p:txBody>
      </p:sp>
      <p:sp>
        <p:nvSpPr>
          <p:cNvPr id="118" name="Google Shape;118;p2">
            <a:extLst>
              <a:ext uri="{FF2B5EF4-FFF2-40B4-BE49-F238E27FC236}">
                <a16:creationId xmlns:a16="http://schemas.microsoft.com/office/drawing/2014/main" id="{015027C0-609B-F621-1079-6327B6CCBF89}"/>
              </a:ext>
            </a:extLst>
          </p:cNvPr>
          <p:cNvSpPr/>
          <p:nvPr/>
        </p:nvSpPr>
        <p:spPr>
          <a:xfrm>
            <a:off x="513805" y="19213689"/>
            <a:ext cx="28296143" cy="1096851"/>
          </a:xfrm>
          <a:prstGeom prst="rect">
            <a:avLst/>
          </a:prstGeom>
          <a:solidFill>
            <a:srgbClr val="F2F2F2"/>
          </a:solidFill>
          <a:ln>
            <a:noFill/>
          </a:ln>
        </p:spPr>
        <p:txBody>
          <a:bodyPr spcFirstLastPara="1" wrap="square" lIns="81267" tIns="40622" rIns="81267" bIns="40622" anchor="ctr" anchorCtr="0">
            <a:noAutofit/>
          </a:bodyPr>
          <a:lstStyle/>
          <a:p>
            <a:pPr algn="ctr"/>
            <a:endParaRPr sz="4608">
              <a:solidFill>
                <a:schemeClr val="lt1"/>
              </a:solidFill>
              <a:latin typeface="Calibri"/>
              <a:ea typeface="Calibri"/>
              <a:cs typeface="Calibri"/>
              <a:sym typeface="Calibri"/>
            </a:endParaRPr>
          </a:p>
        </p:txBody>
      </p:sp>
      <p:sp>
        <p:nvSpPr>
          <p:cNvPr id="120" name="Google Shape;120;p2">
            <a:extLst>
              <a:ext uri="{FF2B5EF4-FFF2-40B4-BE49-F238E27FC236}">
                <a16:creationId xmlns:a16="http://schemas.microsoft.com/office/drawing/2014/main" id="{594B4328-7860-AB70-347E-8F12CAC9981E}"/>
              </a:ext>
            </a:extLst>
          </p:cNvPr>
          <p:cNvSpPr txBox="1"/>
          <p:nvPr/>
        </p:nvSpPr>
        <p:spPr>
          <a:xfrm>
            <a:off x="25412518" y="19502395"/>
            <a:ext cx="3273636" cy="464963"/>
          </a:xfrm>
          <a:prstGeom prst="rect">
            <a:avLst/>
          </a:prstGeom>
          <a:noFill/>
          <a:ln>
            <a:noFill/>
          </a:ln>
        </p:spPr>
        <p:txBody>
          <a:bodyPr spcFirstLastPara="1" wrap="square" lIns="81267" tIns="40622" rIns="81267" bIns="40622" anchor="t" anchorCtr="0">
            <a:spAutoFit/>
          </a:bodyPr>
          <a:lstStyle/>
          <a:p>
            <a:r>
              <a:rPr lang="en-US" sz="1244" dirty="0">
                <a:solidFill>
                  <a:schemeClr val="dk1"/>
                </a:solidFill>
                <a:latin typeface="Source Sans Pro"/>
                <a:ea typeface="Source Sans Pro"/>
                <a:cs typeface="Source Sans Pro"/>
                <a:sym typeface="Source Sans Pro"/>
              </a:rPr>
              <a:t>Special Thanks to Spike Lab, Dept. Neuroscience, Pomona College, Claremont CA</a:t>
            </a:r>
          </a:p>
        </p:txBody>
      </p:sp>
      <p:sp>
        <p:nvSpPr>
          <p:cNvPr id="121" name="Google Shape;121;p2">
            <a:extLst>
              <a:ext uri="{FF2B5EF4-FFF2-40B4-BE49-F238E27FC236}">
                <a16:creationId xmlns:a16="http://schemas.microsoft.com/office/drawing/2014/main" id="{C4BF24DA-82E5-5C4E-62D1-0B6E2E7B1C9E}"/>
              </a:ext>
            </a:extLst>
          </p:cNvPr>
          <p:cNvSpPr/>
          <p:nvPr/>
        </p:nvSpPr>
        <p:spPr>
          <a:xfrm>
            <a:off x="22801869" y="19371734"/>
            <a:ext cx="2489851" cy="805511"/>
          </a:xfrm>
          <a:prstGeom prst="rect">
            <a:avLst/>
          </a:prstGeom>
          <a:solidFill>
            <a:srgbClr val="BFBFBF"/>
          </a:solidFill>
          <a:ln>
            <a:noFill/>
          </a:ln>
        </p:spPr>
        <p:txBody>
          <a:bodyPr spcFirstLastPara="1" wrap="square" lIns="81267" tIns="40622" rIns="81267" bIns="40622" anchor="ctr" anchorCtr="0">
            <a:noAutofit/>
          </a:bodyPr>
          <a:lstStyle/>
          <a:p>
            <a:pPr algn="ctr"/>
            <a:endParaRPr sz="1244">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9EC7D414-EE2F-95AF-7F15-AE6187B2E1C3}"/>
              </a:ext>
            </a:extLst>
          </p:cNvPr>
          <p:cNvPicPr>
            <a:picLocks noChangeAspect="1"/>
          </p:cNvPicPr>
          <p:nvPr/>
        </p:nvPicPr>
        <p:blipFill>
          <a:blip r:embed="rId6"/>
          <a:stretch>
            <a:fillRect/>
          </a:stretch>
        </p:blipFill>
        <p:spPr>
          <a:xfrm>
            <a:off x="25538643" y="1834140"/>
            <a:ext cx="1579638" cy="2683988"/>
          </a:xfrm>
          <a:prstGeom prst="rect">
            <a:avLst/>
          </a:prstGeom>
        </p:spPr>
      </p:pic>
      <p:sp>
        <p:nvSpPr>
          <p:cNvPr id="4" name="Google Shape;90;p1">
            <a:extLst>
              <a:ext uri="{FF2B5EF4-FFF2-40B4-BE49-F238E27FC236}">
                <a16:creationId xmlns:a16="http://schemas.microsoft.com/office/drawing/2014/main" id="{ECF09E98-A79F-A2BC-6385-C8BB2A04654B}"/>
              </a:ext>
            </a:extLst>
          </p:cNvPr>
          <p:cNvSpPr txBox="1"/>
          <p:nvPr/>
        </p:nvSpPr>
        <p:spPr>
          <a:xfrm>
            <a:off x="1069858" y="2596650"/>
            <a:ext cx="4180031" cy="1723641"/>
          </a:xfrm>
          <a:prstGeom prst="rect">
            <a:avLst/>
          </a:prstGeom>
          <a:noFill/>
          <a:ln>
            <a:noFill/>
          </a:ln>
        </p:spPr>
        <p:txBody>
          <a:bodyPr spcFirstLastPara="1" wrap="square" lIns="81267" tIns="40622" rIns="81267" bIns="40622" anchor="t" anchorCtr="0">
            <a:spAutoFit/>
          </a:bodyPr>
          <a:lstStyle/>
          <a:p>
            <a:pPr algn="ctr"/>
            <a:r>
              <a:rPr lang="en-US" sz="3556" dirty="0">
                <a:solidFill>
                  <a:schemeClr val="lt1"/>
                </a:solidFill>
                <a:latin typeface="Source Sans Pro"/>
                <a:ea typeface="Source Sans Pro"/>
                <a:cs typeface="Source Sans Pro"/>
                <a:sym typeface="Source Sans Pro"/>
              </a:rPr>
              <a:t>Carney Center For Brain Science</a:t>
            </a:r>
          </a:p>
          <a:p>
            <a:pPr algn="ctr"/>
            <a:r>
              <a:rPr lang="en-US" sz="3556" dirty="0">
                <a:solidFill>
                  <a:schemeClr val="lt1"/>
                </a:solidFill>
                <a:latin typeface="Source Sans Pro"/>
                <a:ea typeface="Source Sans Pro"/>
                <a:cs typeface="Source Sans Pro"/>
                <a:sym typeface="Source Sans Pro"/>
              </a:rPr>
              <a:t>SREIP for VLANS</a:t>
            </a:r>
            <a:endParaRPr sz="3556" dirty="0">
              <a:solidFill>
                <a:schemeClr val="dk1"/>
              </a:solidFill>
              <a:latin typeface="Source Sans Pro"/>
              <a:ea typeface="Source Sans Pro"/>
              <a:cs typeface="Source Sans Pro"/>
              <a:sym typeface="Source Sans Pro"/>
            </a:endParaRPr>
          </a:p>
        </p:txBody>
      </p:sp>
      <p:sp>
        <p:nvSpPr>
          <p:cNvPr id="5" name="Google Shape;91;p1">
            <a:extLst>
              <a:ext uri="{FF2B5EF4-FFF2-40B4-BE49-F238E27FC236}">
                <a16:creationId xmlns:a16="http://schemas.microsoft.com/office/drawing/2014/main" id="{38377A9E-EFA8-1207-173A-730CE4A6AC53}"/>
              </a:ext>
            </a:extLst>
          </p:cNvPr>
          <p:cNvSpPr txBox="1"/>
          <p:nvPr/>
        </p:nvSpPr>
        <p:spPr>
          <a:xfrm>
            <a:off x="5624832" y="2158028"/>
            <a:ext cx="18649329" cy="1586808"/>
          </a:xfrm>
          <a:prstGeom prst="rect">
            <a:avLst/>
          </a:prstGeom>
          <a:noFill/>
          <a:ln>
            <a:noFill/>
          </a:ln>
        </p:spPr>
        <p:txBody>
          <a:bodyPr spcFirstLastPara="1" wrap="square" lIns="81267" tIns="40622" rIns="81267" bIns="40622" anchor="t" anchorCtr="0">
            <a:spAutoFit/>
          </a:bodyPr>
          <a:lstStyle/>
          <a:p>
            <a:pPr algn="ctr"/>
            <a:r>
              <a:rPr lang="en-US" sz="4267" b="1" dirty="0">
                <a:solidFill>
                  <a:schemeClr val="lt1"/>
                </a:solidFill>
                <a:latin typeface="Source Sans Pro"/>
                <a:ea typeface="Source Sans Pro"/>
                <a:cs typeface="Source Sans Pro"/>
                <a:sym typeface="Source Sans Pro"/>
              </a:rPr>
              <a:t>Rush: A 3d Computational Fluid Model of Neuro-Vascular Coupling as a mechanism for Heat Management and Biochemical Computing</a:t>
            </a:r>
          </a:p>
          <a:p>
            <a:pPr algn="ctr"/>
            <a:endParaRPr sz="1244" dirty="0"/>
          </a:p>
        </p:txBody>
      </p:sp>
      <mc:AlternateContent xmlns:mc="http://schemas.openxmlformats.org/markup-compatibility/2006">
        <mc:Choice xmlns:a14="http://schemas.microsoft.com/office/drawing/2010/main" Requires="a14">
          <p:sp>
            <p:nvSpPr>
              <p:cNvPr id="17" name="Google Shape;114;p2">
                <a:extLst>
                  <a:ext uri="{FF2B5EF4-FFF2-40B4-BE49-F238E27FC236}">
                    <a16:creationId xmlns:a16="http://schemas.microsoft.com/office/drawing/2014/main" id="{9DECCB3E-3B28-58A4-09CB-0224EF22E510}"/>
                  </a:ext>
                </a:extLst>
              </p:cNvPr>
              <p:cNvSpPr/>
              <p:nvPr/>
            </p:nvSpPr>
            <p:spPr>
              <a:xfrm>
                <a:off x="17990094" y="4892052"/>
                <a:ext cx="9623551" cy="3007360"/>
              </a:xfrm>
              <a:prstGeom prst="rect">
                <a:avLst/>
              </a:prstGeom>
              <a:solidFill>
                <a:srgbClr val="D8D8D8"/>
              </a:solidFill>
              <a:ln>
                <a:noFill/>
              </a:ln>
            </p:spPr>
            <p:txBody>
              <a:bodyPr spcFirstLastPara="1" wrap="square" lIns="81267" tIns="40622" rIns="81267" bIns="40622" anchor="ctr" anchorCtr="0">
                <a:noAutofit/>
              </a:bodyPr>
              <a:lstStyle/>
              <a:p>
                <a:pPr lvl="0" algn="ctr"/>
                <a:r>
                  <a:rPr lang="en-US" sz="4445" b="1" dirty="0">
                    <a:solidFill>
                      <a:schemeClr val="tx1"/>
                    </a:solidFill>
                    <a:latin typeface="Arial" panose="020B0604020202020204" pitchFamily="34" charset="0"/>
                    <a:cs typeface="Arial" panose="020B0604020202020204" pitchFamily="34" charset="0"/>
                  </a:rPr>
                  <a:t>Starling Forces</a:t>
                </a:r>
              </a:p>
              <a:p>
                <a:pPr lvl="0" algn="ctr"/>
                <a14:m>
                  <m:oMathPara xmlns:m="http://schemas.openxmlformats.org/officeDocument/2006/math">
                    <m:oMathParaPr>
                      <m:jc m:val="centerGroup"/>
                    </m:oMathParaPr>
                    <m:oMath xmlns:m="http://schemas.openxmlformats.org/officeDocument/2006/math">
                      <m:sSub>
                        <m:sSubPr>
                          <m:ctrlPr>
                            <a:rPr lang="en-US" sz="4445" b="1" i="1">
                              <a:solidFill>
                                <a:schemeClr val="tx1"/>
                              </a:solidFill>
                              <a:latin typeface="Cambria Math" panose="02040503050406030204" pitchFamily="18" charset="0"/>
                              <a:ea typeface="Calibri"/>
                              <a:cs typeface="Arial" panose="020B0604020202020204" pitchFamily="34" charset="0"/>
                              <a:sym typeface="Calibri"/>
                            </a:rPr>
                          </m:ctrlPr>
                        </m:sSubPr>
                        <m:e>
                          <m:r>
                            <a:rPr lang="en-US" sz="4445" b="1" i="1">
                              <a:solidFill>
                                <a:schemeClr val="tx1"/>
                              </a:solidFill>
                              <a:latin typeface="Cambria Math" panose="02040503050406030204" pitchFamily="18" charset="0"/>
                              <a:ea typeface="Calibri"/>
                              <a:cs typeface="Arial" panose="020B0604020202020204" pitchFamily="34" charset="0"/>
                              <a:sym typeface="Calibri"/>
                            </a:rPr>
                            <m:t>𝑱</m:t>
                          </m:r>
                        </m:e>
                        <m:sub>
                          <m:r>
                            <a:rPr lang="en-US" sz="4445" b="1" i="1">
                              <a:solidFill>
                                <a:schemeClr val="tx1"/>
                              </a:solidFill>
                              <a:latin typeface="Cambria Math" panose="02040503050406030204" pitchFamily="18" charset="0"/>
                              <a:ea typeface="Calibri"/>
                              <a:cs typeface="Arial" panose="020B0604020202020204" pitchFamily="34" charset="0"/>
                              <a:sym typeface="Calibri"/>
                            </a:rPr>
                            <m:t>𝒗</m:t>
                          </m:r>
                        </m:sub>
                      </m:sSub>
                      <m:r>
                        <a:rPr lang="en-US" sz="4445" b="1" i="1">
                          <a:solidFill>
                            <a:schemeClr val="tx1"/>
                          </a:solidFill>
                          <a:latin typeface="Cambria Math" panose="02040503050406030204" pitchFamily="18" charset="0"/>
                          <a:ea typeface="Calibri"/>
                          <a:cs typeface="Arial" panose="020B0604020202020204" pitchFamily="34" charset="0"/>
                          <a:sym typeface="Calibri"/>
                        </a:rPr>
                        <m:t>=</m:t>
                      </m:r>
                      <m:sSub>
                        <m:sSubPr>
                          <m:ctrlPr>
                            <a:rPr lang="en-US" sz="4445" b="1" i="1">
                              <a:solidFill>
                                <a:schemeClr val="tx1"/>
                              </a:solidFill>
                              <a:latin typeface="Cambria Math" panose="02040503050406030204" pitchFamily="18" charset="0"/>
                              <a:ea typeface="Calibri"/>
                              <a:cs typeface="Arial" panose="020B0604020202020204" pitchFamily="34" charset="0"/>
                              <a:sym typeface="Calibri"/>
                            </a:rPr>
                          </m:ctrlPr>
                        </m:sSubPr>
                        <m:e>
                          <m:r>
                            <a:rPr lang="en-US" sz="4445" b="1" i="1">
                              <a:solidFill>
                                <a:schemeClr val="tx1"/>
                              </a:solidFill>
                              <a:latin typeface="Cambria Math" panose="02040503050406030204" pitchFamily="18" charset="0"/>
                              <a:ea typeface="Calibri"/>
                              <a:cs typeface="Arial" panose="020B0604020202020204" pitchFamily="34" charset="0"/>
                              <a:sym typeface="Calibri"/>
                            </a:rPr>
                            <m:t>𝑳</m:t>
                          </m:r>
                        </m:e>
                        <m:sub>
                          <m:r>
                            <a:rPr lang="en-US" sz="4445" b="1" i="1">
                              <a:solidFill>
                                <a:schemeClr val="tx1"/>
                              </a:solidFill>
                              <a:latin typeface="Cambria Math" panose="02040503050406030204" pitchFamily="18" charset="0"/>
                              <a:ea typeface="Calibri"/>
                              <a:cs typeface="Arial" panose="020B0604020202020204" pitchFamily="34" charset="0"/>
                              <a:sym typeface="Calibri"/>
                            </a:rPr>
                            <m:t>𝒑</m:t>
                          </m:r>
                        </m:sub>
                      </m:sSub>
                      <m:r>
                        <a:rPr lang="en-US" sz="4445" b="1" i="1">
                          <a:solidFill>
                            <a:schemeClr val="tx1"/>
                          </a:solidFill>
                          <a:latin typeface="Cambria Math" panose="02040503050406030204" pitchFamily="18" charset="0"/>
                          <a:ea typeface="Calibri"/>
                          <a:cs typeface="Arial" panose="020B0604020202020204" pitchFamily="34" charset="0"/>
                          <a:sym typeface="Calibri"/>
                        </a:rPr>
                        <m:t>𝑺</m:t>
                      </m:r>
                      <m:d>
                        <m:dPr>
                          <m:begChr m:val="["/>
                          <m:endChr m:val="]"/>
                          <m:ctrlPr>
                            <a:rPr lang="en-US" sz="4445" b="1" i="1">
                              <a:solidFill>
                                <a:schemeClr val="tx1"/>
                              </a:solidFill>
                              <a:latin typeface="Cambria Math" panose="02040503050406030204" pitchFamily="18" charset="0"/>
                              <a:ea typeface="Calibri"/>
                              <a:cs typeface="Arial" panose="020B0604020202020204" pitchFamily="34" charset="0"/>
                              <a:sym typeface="Calibri"/>
                            </a:rPr>
                          </m:ctrlPr>
                        </m:dPr>
                        <m:e>
                          <m:d>
                            <m:dPr>
                              <m:ctrlPr>
                                <a:rPr lang="en-US" sz="4445" b="1" i="1">
                                  <a:solidFill>
                                    <a:schemeClr val="tx1"/>
                                  </a:solidFill>
                                  <a:latin typeface="Cambria Math" panose="02040503050406030204" pitchFamily="18" charset="0"/>
                                  <a:ea typeface="Calibri"/>
                                  <a:cs typeface="Arial" panose="020B0604020202020204" pitchFamily="34" charset="0"/>
                                  <a:sym typeface="Calibri"/>
                                </a:rPr>
                              </m:ctrlPr>
                            </m:dPr>
                            <m:e>
                              <m:sSub>
                                <m:sSubPr>
                                  <m:ctrlPr>
                                    <a:rPr lang="en-US" sz="4445" b="1" i="1">
                                      <a:solidFill>
                                        <a:schemeClr val="tx1"/>
                                      </a:solidFill>
                                      <a:latin typeface="Cambria Math" panose="02040503050406030204" pitchFamily="18" charset="0"/>
                                      <a:ea typeface="Calibri"/>
                                      <a:cs typeface="Arial" panose="020B0604020202020204" pitchFamily="34" charset="0"/>
                                      <a:sym typeface="Calibri"/>
                                    </a:rPr>
                                  </m:ctrlPr>
                                </m:sSubPr>
                                <m:e>
                                  <m:r>
                                    <a:rPr lang="en-US" sz="4445" b="1" i="1">
                                      <a:solidFill>
                                        <a:schemeClr val="tx1"/>
                                      </a:solidFill>
                                      <a:latin typeface="Cambria Math" panose="02040503050406030204" pitchFamily="18" charset="0"/>
                                      <a:ea typeface="Calibri"/>
                                      <a:cs typeface="Arial" panose="020B0604020202020204" pitchFamily="34" charset="0"/>
                                      <a:sym typeface="Calibri"/>
                                    </a:rPr>
                                    <m:t>𝑷</m:t>
                                  </m:r>
                                </m:e>
                                <m:sub>
                                  <m:r>
                                    <a:rPr lang="en-US" sz="4445" b="1" i="1">
                                      <a:solidFill>
                                        <a:schemeClr val="tx1"/>
                                      </a:solidFill>
                                      <a:latin typeface="Cambria Math" panose="02040503050406030204" pitchFamily="18" charset="0"/>
                                      <a:ea typeface="Calibri"/>
                                      <a:cs typeface="Arial" panose="020B0604020202020204" pitchFamily="34" charset="0"/>
                                      <a:sym typeface="Calibri"/>
                                    </a:rPr>
                                    <m:t>𝒄</m:t>
                                  </m:r>
                                </m:sub>
                              </m:sSub>
                              <m:r>
                                <a:rPr lang="en-US" sz="4445" b="1" i="1">
                                  <a:solidFill>
                                    <a:schemeClr val="tx1"/>
                                  </a:solidFill>
                                  <a:latin typeface="Cambria Math" panose="02040503050406030204" pitchFamily="18" charset="0"/>
                                  <a:ea typeface="Calibri"/>
                                  <a:cs typeface="Arial" panose="020B0604020202020204" pitchFamily="34" charset="0"/>
                                  <a:sym typeface="Calibri"/>
                                </a:rPr>
                                <m:t>−</m:t>
                              </m:r>
                              <m:sSub>
                                <m:sSubPr>
                                  <m:ctrlPr>
                                    <a:rPr lang="en-US" sz="4445" b="1" i="1">
                                      <a:solidFill>
                                        <a:schemeClr val="tx1"/>
                                      </a:solidFill>
                                      <a:latin typeface="Cambria Math" panose="02040503050406030204" pitchFamily="18" charset="0"/>
                                      <a:ea typeface="Calibri"/>
                                      <a:cs typeface="Arial" panose="020B0604020202020204" pitchFamily="34" charset="0"/>
                                      <a:sym typeface="Calibri"/>
                                    </a:rPr>
                                  </m:ctrlPr>
                                </m:sSubPr>
                                <m:e>
                                  <m:r>
                                    <a:rPr lang="en-US" sz="4445" b="1" i="1">
                                      <a:solidFill>
                                        <a:schemeClr val="tx1"/>
                                      </a:solidFill>
                                      <a:latin typeface="Cambria Math" panose="02040503050406030204" pitchFamily="18" charset="0"/>
                                      <a:ea typeface="Calibri"/>
                                      <a:cs typeface="Arial" panose="020B0604020202020204" pitchFamily="34" charset="0"/>
                                      <a:sym typeface="Calibri"/>
                                    </a:rPr>
                                    <m:t>𝑷</m:t>
                                  </m:r>
                                </m:e>
                                <m:sub>
                                  <m:r>
                                    <a:rPr lang="en-US" sz="4445" b="1" i="1">
                                      <a:solidFill>
                                        <a:schemeClr val="tx1"/>
                                      </a:solidFill>
                                      <a:latin typeface="Cambria Math" panose="02040503050406030204" pitchFamily="18" charset="0"/>
                                      <a:ea typeface="Calibri"/>
                                      <a:cs typeface="Arial" panose="020B0604020202020204" pitchFamily="34" charset="0"/>
                                      <a:sym typeface="Calibri"/>
                                    </a:rPr>
                                    <m:t>𝒊</m:t>
                                  </m:r>
                                </m:sub>
                              </m:sSub>
                            </m:e>
                          </m:d>
                          <m:r>
                            <a:rPr lang="en-US" sz="4445" b="1" i="1">
                              <a:solidFill>
                                <a:schemeClr val="tx1"/>
                              </a:solidFill>
                              <a:latin typeface="Cambria Math" panose="02040503050406030204" pitchFamily="18" charset="0"/>
                              <a:ea typeface="Calibri"/>
                              <a:cs typeface="Arial" panose="020B0604020202020204" pitchFamily="34" charset="0"/>
                              <a:sym typeface="Calibri"/>
                            </a:rPr>
                            <m:t>−</m:t>
                          </m:r>
                          <m:r>
                            <a:rPr lang="en-US" sz="4445" b="1" i="1">
                              <a:solidFill>
                                <a:schemeClr val="tx1"/>
                              </a:solidFill>
                              <a:latin typeface="Cambria Math" panose="02040503050406030204" pitchFamily="18" charset="0"/>
                              <a:ea typeface="Calibri"/>
                              <a:cs typeface="Arial" panose="020B0604020202020204" pitchFamily="34" charset="0"/>
                              <a:sym typeface="Calibri"/>
                            </a:rPr>
                            <m:t>𝝈</m:t>
                          </m:r>
                          <m:d>
                            <m:dPr>
                              <m:ctrlPr>
                                <a:rPr lang="en-US" sz="4445" b="1" i="1">
                                  <a:solidFill>
                                    <a:schemeClr val="tx1"/>
                                  </a:solidFill>
                                  <a:latin typeface="Cambria Math" panose="02040503050406030204" pitchFamily="18" charset="0"/>
                                  <a:ea typeface="Calibri"/>
                                  <a:cs typeface="Arial" panose="020B0604020202020204" pitchFamily="34" charset="0"/>
                                  <a:sym typeface="Calibri"/>
                                </a:rPr>
                              </m:ctrlPr>
                            </m:dPr>
                            <m:e>
                              <m:sSub>
                                <m:sSubPr>
                                  <m:ctrlPr>
                                    <a:rPr lang="en-US" sz="4445" b="1" i="1">
                                      <a:solidFill>
                                        <a:schemeClr val="tx1"/>
                                      </a:solidFill>
                                      <a:latin typeface="Cambria Math" panose="02040503050406030204" pitchFamily="18" charset="0"/>
                                      <a:ea typeface="Calibri"/>
                                      <a:cs typeface="Arial" panose="020B0604020202020204" pitchFamily="34" charset="0"/>
                                      <a:sym typeface="Calibri"/>
                                    </a:rPr>
                                  </m:ctrlPr>
                                </m:sSubPr>
                                <m:e>
                                  <m:r>
                                    <a:rPr lang="en-US" sz="4445" b="1">
                                      <a:solidFill>
                                        <a:schemeClr val="tx1"/>
                                      </a:solidFill>
                                      <a:latin typeface="Cambria Math" panose="02040503050406030204" pitchFamily="18" charset="0"/>
                                      <a:ea typeface="Calibri"/>
                                      <a:cs typeface="Arial" panose="020B0604020202020204" pitchFamily="34" charset="0"/>
                                      <a:sym typeface="Calibri"/>
                                    </a:rPr>
                                    <m:t>𝚷</m:t>
                                  </m:r>
                                </m:e>
                                <m:sub>
                                  <m:r>
                                    <a:rPr lang="en-US" sz="4445" b="1" i="1">
                                      <a:solidFill>
                                        <a:schemeClr val="tx1"/>
                                      </a:solidFill>
                                      <a:latin typeface="Cambria Math" panose="02040503050406030204" pitchFamily="18" charset="0"/>
                                      <a:ea typeface="Calibri"/>
                                      <a:cs typeface="Arial" panose="020B0604020202020204" pitchFamily="34" charset="0"/>
                                      <a:sym typeface="Calibri"/>
                                    </a:rPr>
                                    <m:t>𝒄</m:t>
                                  </m:r>
                                </m:sub>
                              </m:sSub>
                              <m:r>
                                <a:rPr lang="en-US" sz="4445" b="1" i="1">
                                  <a:solidFill>
                                    <a:schemeClr val="tx1"/>
                                  </a:solidFill>
                                  <a:latin typeface="Cambria Math" panose="02040503050406030204" pitchFamily="18" charset="0"/>
                                  <a:ea typeface="Calibri"/>
                                  <a:cs typeface="Arial" panose="020B0604020202020204" pitchFamily="34" charset="0"/>
                                  <a:sym typeface="Calibri"/>
                                </a:rPr>
                                <m:t>−</m:t>
                              </m:r>
                              <m:sSub>
                                <m:sSubPr>
                                  <m:ctrlPr>
                                    <a:rPr lang="en-US" sz="4445" b="1" i="1">
                                      <a:solidFill>
                                        <a:schemeClr val="tx1"/>
                                      </a:solidFill>
                                      <a:latin typeface="Cambria Math" panose="02040503050406030204" pitchFamily="18" charset="0"/>
                                      <a:ea typeface="Calibri"/>
                                      <a:cs typeface="Arial" panose="020B0604020202020204" pitchFamily="34" charset="0"/>
                                      <a:sym typeface="Calibri"/>
                                    </a:rPr>
                                  </m:ctrlPr>
                                </m:sSubPr>
                                <m:e>
                                  <m:r>
                                    <a:rPr lang="en-US" sz="4445" b="1">
                                      <a:solidFill>
                                        <a:schemeClr val="tx1"/>
                                      </a:solidFill>
                                      <a:latin typeface="Cambria Math" panose="02040503050406030204" pitchFamily="18" charset="0"/>
                                      <a:ea typeface="Calibri"/>
                                      <a:cs typeface="Arial" panose="020B0604020202020204" pitchFamily="34" charset="0"/>
                                      <a:sym typeface="Calibri"/>
                                    </a:rPr>
                                    <m:t>𝚷</m:t>
                                  </m:r>
                                </m:e>
                                <m:sub>
                                  <m:r>
                                    <a:rPr lang="en-US" sz="4445" b="1" i="1">
                                      <a:solidFill>
                                        <a:schemeClr val="tx1"/>
                                      </a:solidFill>
                                      <a:latin typeface="Cambria Math" panose="02040503050406030204" pitchFamily="18" charset="0"/>
                                      <a:ea typeface="Calibri"/>
                                      <a:cs typeface="Arial" panose="020B0604020202020204" pitchFamily="34" charset="0"/>
                                      <a:sym typeface="Calibri"/>
                                    </a:rPr>
                                    <m:t>𝒊</m:t>
                                  </m:r>
                                </m:sub>
                              </m:sSub>
                            </m:e>
                          </m:d>
                        </m:e>
                      </m:d>
                    </m:oMath>
                  </m:oMathPara>
                </a14:m>
                <a:endParaRPr lang="en-US" sz="4445" b="1" dirty="0">
                  <a:solidFill>
                    <a:schemeClr val="tx1"/>
                  </a:solidFill>
                  <a:latin typeface="Arial" panose="020B0604020202020204" pitchFamily="34" charset="0"/>
                  <a:ea typeface="Calibri"/>
                  <a:cs typeface="Arial" panose="020B0604020202020204" pitchFamily="34" charset="0"/>
                  <a:sym typeface="Calibri"/>
                </a:endParaRPr>
              </a:p>
            </p:txBody>
          </p:sp>
        </mc:Choice>
        <mc:Fallback>
          <p:sp>
            <p:nvSpPr>
              <p:cNvPr id="17" name="Google Shape;114;p2">
                <a:extLst>
                  <a:ext uri="{FF2B5EF4-FFF2-40B4-BE49-F238E27FC236}">
                    <a16:creationId xmlns:a16="http://schemas.microsoft.com/office/drawing/2014/main" id="{9DECCB3E-3B28-58A4-09CB-0224EF22E510}"/>
                  </a:ext>
                </a:extLst>
              </p:cNvPr>
              <p:cNvSpPr>
                <a:spLocks noRot="1" noChangeAspect="1" noMove="1" noResize="1" noEditPoints="1" noAdjustHandles="1" noChangeArrowheads="1" noChangeShapeType="1" noTextEdit="1"/>
              </p:cNvSpPr>
              <p:nvPr/>
            </p:nvSpPr>
            <p:spPr>
              <a:xfrm>
                <a:off x="17990094" y="4892052"/>
                <a:ext cx="9623551" cy="3007360"/>
              </a:xfrm>
              <a:prstGeom prst="rect">
                <a:avLst/>
              </a:prstGeom>
              <a:blipFill>
                <a:blip r:embed="rId7"/>
                <a:stretch>
                  <a:fillRect/>
                </a:stretch>
              </a:blipFill>
              <a:ln>
                <a:noFill/>
              </a:ln>
            </p:spPr>
            <p:txBody>
              <a:bodyPr/>
              <a:lstStyle/>
              <a:p>
                <a:r>
                  <a:rPr lang="en-US">
                    <a:noFill/>
                  </a:rPr>
                  <a:t> </a:t>
                </a:r>
              </a:p>
            </p:txBody>
          </p:sp>
        </mc:Fallback>
      </mc:AlternateContent>
      <p:pic>
        <p:nvPicPr>
          <p:cNvPr id="20" name="Picture 19">
            <a:extLst>
              <a:ext uri="{FF2B5EF4-FFF2-40B4-BE49-F238E27FC236}">
                <a16:creationId xmlns:a16="http://schemas.microsoft.com/office/drawing/2014/main" id="{C5E16C86-7C99-89E6-4CED-A28A2E58CEB7}"/>
              </a:ext>
            </a:extLst>
          </p:cNvPr>
          <p:cNvPicPr>
            <a:picLocks noChangeAspect="1"/>
          </p:cNvPicPr>
          <p:nvPr/>
        </p:nvPicPr>
        <p:blipFill>
          <a:blip r:embed="rId8"/>
          <a:stretch>
            <a:fillRect/>
          </a:stretch>
        </p:blipFill>
        <p:spPr>
          <a:xfrm>
            <a:off x="23026436" y="19434446"/>
            <a:ext cx="1573437" cy="655335"/>
          </a:xfrm>
          <a:prstGeom prst="rect">
            <a:avLst/>
          </a:prstGeom>
        </p:spPr>
      </p:pic>
      <p:pic>
        <p:nvPicPr>
          <p:cNvPr id="6" name="Picture 5" descr="Edema | Concise Medical Knowledge">
            <a:extLst>
              <a:ext uri="{FF2B5EF4-FFF2-40B4-BE49-F238E27FC236}">
                <a16:creationId xmlns:a16="http://schemas.microsoft.com/office/drawing/2014/main" id="{4B259AEF-E471-16FC-4FAD-C7FF55702855}"/>
              </a:ext>
            </a:extLst>
          </p:cNvPr>
          <p:cNvPicPr>
            <a:picLocks noChangeAspect="1"/>
          </p:cNvPicPr>
          <p:nvPr/>
        </p:nvPicPr>
        <p:blipFill>
          <a:blip r:embed="rId9"/>
          <a:stretch>
            <a:fillRect/>
          </a:stretch>
        </p:blipFill>
        <p:spPr>
          <a:xfrm>
            <a:off x="17686528" y="7899412"/>
            <a:ext cx="9927116" cy="5840401"/>
          </a:xfrm>
          <a:prstGeom prst="rect">
            <a:avLst/>
          </a:prstGeom>
        </p:spPr>
      </p:pic>
      <p:sp>
        <p:nvSpPr>
          <p:cNvPr id="9" name="Google Shape;116;p2">
            <a:extLst>
              <a:ext uri="{FF2B5EF4-FFF2-40B4-BE49-F238E27FC236}">
                <a16:creationId xmlns:a16="http://schemas.microsoft.com/office/drawing/2014/main" id="{2E5FEC35-90B3-8E73-CD4E-BDD6D5E33245}"/>
              </a:ext>
            </a:extLst>
          </p:cNvPr>
          <p:cNvSpPr/>
          <p:nvPr/>
        </p:nvSpPr>
        <p:spPr>
          <a:xfrm>
            <a:off x="1647156" y="4927428"/>
            <a:ext cx="15511262" cy="13799850"/>
          </a:xfrm>
          <a:prstGeom prst="rect">
            <a:avLst/>
          </a:prstGeom>
          <a:solidFill>
            <a:srgbClr val="D8D8D8"/>
          </a:solidFill>
          <a:ln>
            <a:noFill/>
          </a:ln>
        </p:spPr>
        <p:txBody>
          <a:bodyPr spcFirstLastPara="1" wrap="square" lIns="81267" tIns="40622" rIns="81267" bIns="40622" anchor="ctr" anchorCtr="0">
            <a:noAutofit/>
          </a:bodyPr>
          <a:lstStyle/>
          <a:p>
            <a:pPr lvl="0"/>
            <a:endParaRPr lang="en-US" sz="3556" dirty="0">
              <a:solidFill>
                <a:schemeClr val="tx1"/>
              </a:solidFill>
              <a:latin typeface="Arial" panose="020B0604020202020204" pitchFamily="34" charset="0"/>
              <a:ea typeface="Calibri"/>
              <a:cs typeface="Arial" panose="020B0604020202020204" pitchFamily="34" charset="0"/>
              <a:sym typeface="Calibri"/>
            </a:endParaRPr>
          </a:p>
          <a:p>
            <a:pPr marL="508006" indent="-508006">
              <a:buFont typeface="Arial" panose="020B0604020202020204" pitchFamily="34" charset="0"/>
              <a:buChar char="•"/>
            </a:pPr>
            <a:r>
              <a:rPr lang="en-US" sz="3556" dirty="0">
                <a:solidFill>
                  <a:schemeClr val="tx1"/>
                </a:solidFill>
                <a:latin typeface="Arial" panose="020B0604020202020204" pitchFamily="34" charset="0"/>
                <a:ea typeface="Calibri"/>
                <a:cs typeface="Arial" panose="020B0604020202020204" pitchFamily="34" charset="0"/>
                <a:sym typeface="Calibri"/>
              </a:rPr>
              <a:t>Starling forces reveal another feature of the capillary system that is worth future exploration with the 3D model. </a:t>
            </a:r>
          </a:p>
          <a:p>
            <a:pPr marL="508006" indent="-508006">
              <a:buFont typeface="Arial" panose="020B0604020202020204" pitchFamily="34" charset="0"/>
              <a:buChar char="•"/>
            </a:pPr>
            <a:r>
              <a:rPr lang="en-US" sz="3556" dirty="0">
                <a:solidFill>
                  <a:schemeClr val="tx1"/>
                </a:solidFill>
                <a:latin typeface="Arial" panose="020B0604020202020204" pitchFamily="34" charset="0"/>
                <a:ea typeface="Calibri"/>
                <a:cs typeface="Arial" panose="020B0604020202020204" pitchFamily="34" charset="0"/>
                <a:sym typeface="Calibri"/>
              </a:rPr>
              <a:t>Imagine a tight race between the hydrostatic and oncotic pressure:</a:t>
            </a:r>
          </a:p>
          <a:p>
            <a:pPr marL="508006" indent="-508006">
              <a:buFont typeface="Arial" panose="020B0604020202020204" pitchFamily="34" charset="0"/>
              <a:buChar char="•"/>
            </a:pPr>
            <a:r>
              <a:rPr lang="en-US" sz="3556" dirty="0">
                <a:solidFill>
                  <a:schemeClr val="tx1"/>
                </a:solidFill>
                <a:latin typeface="Arial" panose="020B0604020202020204" pitchFamily="34" charset="0"/>
                <a:ea typeface="Calibri"/>
                <a:cs typeface="Arial" panose="020B0604020202020204" pitchFamily="34" charset="0"/>
                <a:sym typeface="Calibri"/>
              </a:rPr>
              <a:t>Hydrostatic pressure is pressure pushing against the wall of capillaries, </a:t>
            </a:r>
          </a:p>
          <a:p>
            <a:pPr marL="508006" indent="-508006">
              <a:buFont typeface="Arial" panose="020B0604020202020204" pitchFamily="34" charset="0"/>
              <a:buChar char="•"/>
            </a:pPr>
            <a:r>
              <a:rPr lang="en-US" sz="3556" dirty="0">
                <a:solidFill>
                  <a:schemeClr val="tx1"/>
                </a:solidFill>
                <a:latin typeface="Arial" panose="020B0604020202020204" pitchFamily="34" charset="0"/>
                <a:ea typeface="Calibri"/>
                <a:cs typeface="Arial" panose="020B0604020202020204" pitchFamily="34" charset="0"/>
                <a:sym typeface="Calibri"/>
              </a:rPr>
              <a:t> Oncotic pressure is pressure pulling in towards the capillary.</a:t>
            </a:r>
          </a:p>
          <a:p>
            <a:pPr marL="508006" indent="-508006">
              <a:buFont typeface="Arial" panose="020B0604020202020204" pitchFamily="34" charset="0"/>
              <a:buChar char="•"/>
            </a:pPr>
            <a:r>
              <a:rPr lang="en-US" sz="3556" dirty="0">
                <a:solidFill>
                  <a:schemeClr val="tx1"/>
                </a:solidFill>
                <a:latin typeface="Arial" panose="020B0604020202020204" pitchFamily="34" charset="0"/>
                <a:ea typeface="Calibri"/>
                <a:cs typeface="Arial" panose="020B0604020202020204" pitchFamily="34" charset="0"/>
                <a:sym typeface="Calibri"/>
              </a:rPr>
              <a:t> In the artery end, the hydrostatic pressure is higher (35mmhg), and we would see a permeation of the Blood Brain Barrier as plasma and other particles leaking into the Extracellular zone.</a:t>
            </a:r>
          </a:p>
          <a:p>
            <a:pPr marL="508006" indent="-508006">
              <a:buFont typeface="Arial" panose="020B0604020202020204" pitchFamily="34" charset="0"/>
              <a:buChar char="•"/>
            </a:pPr>
            <a:r>
              <a:rPr lang="en-US" sz="3556" dirty="0">
                <a:solidFill>
                  <a:schemeClr val="tx1"/>
                </a:solidFill>
                <a:latin typeface="Arial" panose="020B0604020202020204" pitchFamily="34" charset="0"/>
                <a:ea typeface="Calibri"/>
                <a:cs typeface="Arial" panose="020B0604020202020204" pitchFamily="34" charset="0"/>
                <a:sym typeface="Calibri"/>
              </a:rPr>
              <a:t>Over the span of the blood cycle hydrostatic pressure decreases to below oncotic pressure (25 </a:t>
            </a:r>
            <a:r>
              <a:rPr lang="en-US" sz="3556" dirty="0" err="1">
                <a:solidFill>
                  <a:schemeClr val="tx1"/>
                </a:solidFill>
                <a:latin typeface="Arial" panose="020B0604020202020204" pitchFamily="34" charset="0"/>
                <a:ea typeface="Calibri"/>
                <a:cs typeface="Arial" panose="020B0604020202020204" pitchFamily="34" charset="0"/>
                <a:sym typeface="Calibri"/>
              </a:rPr>
              <a:t>mmhg</a:t>
            </a:r>
            <a:r>
              <a:rPr lang="en-US" sz="3556" dirty="0">
                <a:solidFill>
                  <a:schemeClr val="tx1"/>
                </a:solidFill>
                <a:latin typeface="Arial" panose="020B0604020202020204" pitchFamily="34" charset="0"/>
                <a:ea typeface="Calibri"/>
                <a:cs typeface="Arial" panose="020B0604020202020204" pitchFamily="34" charset="0"/>
                <a:sym typeface="Calibri"/>
              </a:rPr>
              <a:t>), and vessels near the veins begin to absorb chemicals (and their signals) before potentially delivering them to the heart. </a:t>
            </a:r>
          </a:p>
          <a:p>
            <a:pPr marL="508006" indent="-508006">
              <a:buFont typeface="Arial" panose="020B0604020202020204" pitchFamily="34" charset="0"/>
              <a:buChar char="•"/>
            </a:pPr>
            <a:r>
              <a:rPr lang="en-US" sz="3556" dirty="0">
                <a:solidFill>
                  <a:schemeClr val="tx1"/>
                </a:solidFill>
                <a:latin typeface="Arial" panose="020B0604020202020204" pitchFamily="34" charset="0"/>
                <a:ea typeface="Calibri"/>
                <a:cs typeface="Arial" panose="020B0604020202020204" pitchFamily="34" charset="0"/>
                <a:sym typeface="Calibri"/>
              </a:rPr>
              <a:t>2 different types of pores – one for smaller microparticles and one for macroparticles</a:t>
            </a:r>
          </a:p>
          <a:p>
            <a:pPr marL="508006" indent="-508006">
              <a:buFont typeface="Arial" panose="020B0604020202020204" pitchFamily="34" charset="0"/>
              <a:buChar char="•"/>
            </a:pPr>
            <a:r>
              <a:rPr lang="en-US" sz="3556" dirty="0">
                <a:solidFill>
                  <a:schemeClr val="tx1"/>
                </a:solidFill>
                <a:latin typeface="Arial" panose="020B0604020202020204" pitchFamily="34" charset="0"/>
                <a:ea typeface="Calibri"/>
                <a:cs typeface="Arial" panose="020B0604020202020204" pitchFamily="34" charset="0"/>
                <a:sym typeface="Calibri"/>
              </a:rPr>
              <a:t>Oncotic pressure is driven by osmosis because of negatively charged particles in albumin on one side that pulls water containing sodium because it is too big to leave vessel wall</a:t>
            </a:r>
          </a:p>
          <a:p>
            <a:pPr marL="508006" indent="-508006">
              <a:buFont typeface="Arial" panose="020B0604020202020204" pitchFamily="34" charset="0"/>
              <a:buChar char="•"/>
            </a:pPr>
            <a:r>
              <a:rPr lang="en-US" sz="3556" dirty="0"/>
              <a:t>2 types of pores in capillaries: (4 nm) per unit area for water and small hydrophilic molecules; and a few large pores (10 to 20 nm) for macromolecules</a:t>
            </a:r>
            <a:endParaRPr lang="en-US" sz="3556" dirty="0">
              <a:solidFill>
                <a:schemeClr val="tx1"/>
              </a:solidFill>
              <a:latin typeface="Arial" panose="020B0604020202020204" pitchFamily="34" charset="0"/>
              <a:ea typeface="Calibri"/>
              <a:cs typeface="Arial" panose="020B0604020202020204" pitchFamily="34" charset="0"/>
              <a:sym typeface="Calibri"/>
            </a:endParaRPr>
          </a:p>
        </p:txBody>
      </p:sp>
      <p:sp>
        <p:nvSpPr>
          <p:cNvPr id="10" name="Google Shape;116;p2">
            <a:extLst>
              <a:ext uri="{FF2B5EF4-FFF2-40B4-BE49-F238E27FC236}">
                <a16:creationId xmlns:a16="http://schemas.microsoft.com/office/drawing/2014/main" id="{B88ADD69-FD82-EF8D-1A67-A62745D3B07E}"/>
              </a:ext>
            </a:extLst>
          </p:cNvPr>
          <p:cNvSpPr/>
          <p:nvPr/>
        </p:nvSpPr>
        <p:spPr>
          <a:xfrm>
            <a:off x="17686529" y="14046189"/>
            <a:ext cx="11123419" cy="4681088"/>
          </a:xfrm>
          <a:prstGeom prst="rect">
            <a:avLst/>
          </a:prstGeom>
          <a:solidFill>
            <a:srgbClr val="D8D8D8"/>
          </a:solidFill>
          <a:ln>
            <a:noFill/>
          </a:ln>
        </p:spPr>
        <p:txBody>
          <a:bodyPr spcFirstLastPara="1" wrap="square" lIns="81267" tIns="40622" rIns="81267" bIns="40622" anchor="ctr" anchorCtr="0">
            <a:noAutofit/>
          </a:bodyPr>
          <a:lstStyle/>
          <a:p>
            <a:pPr lvl="0" algn="ctr"/>
            <a:r>
              <a:rPr lang="en-US" sz="3556" dirty="0"/>
              <a:t>Pc − Pi = hydrostatic pressure gradient</a:t>
            </a:r>
          </a:p>
          <a:p>
            <a:pPr lvl="0" algn="ctr"/>
            <a:r>
              <a:rPr lang="el-GR" sz="3556" dirty="0"/>
              <a:t>Π</a:t>
            </a:r>
            <a:r>
              <a:rPr lang="en-US" sz="3556" dirty="0"/>
              <a:t>c − </a:t>
            </a:r>
            <a:r>
              <a:rPr lang="el-GR" sz="3556" dirty="0"/>
              <a:t>Π</a:t>
            </a:r>
            <a:r>
              <a:rPr lang="en-US" sz="3556" dirty="0" err="1"/>
              <a:t>i</a:t>
            </a:r>
            <a:r>
              <a:rPr lang="en-US" sz="3556" dirty="0"/>
              <a:t> = oncotic pressure gradient</a:t>
            </a:r>
          </a:p>
          <a:p>
            <a:pPr lvl="0" algn="ctr"/>
            <a:r>
              <a:rPr lang="en-US" sz="3556" dirty="0" err="1"/>
              <a:t>LpS</a:t>
            </a:r>
            <a:r>
              <a:rPr lang="en-US" sz="3556" dirty="0"/>
              <a:t> = capillary filtration coefficient</a:t>
            </a:r>
          </a:p>
          <a:p>
            <a:pPr lvl="0" algn="ctr"/>
            <a:r>
              <a:rPr lang="el-GR" sz="3556" dirty="0"/>
              <a:t>σ = </a:t>
            </a:r>
            <a:r>
              <a:rPr lang="en-US" sz="3556" dirty="0"/>
              <a:t>reflection (protein permeability) coefficient</a:t>
            </a:r>
          </a:p>
        </p:txBody>
      </p:sp>
      <p:pic>
        <p:nvPicPr>
          <p:cNvPr id="11" name="Picture 10">
            <a:extLst>
              <a:ext uri="{FF2B5EF4-FFF2-40B4-BE49-F238E27FC236}">
                <a16:creationId xmlns:a16="http://schemas.microsoft.com/office/drawing/2014/main" id="{885C5C43-32B7-0044-2163-BFB0B94CDA51}"/>
              </a:ext>
            </a:extLst>
          </p:cNvPr>
          <p:cNvPicPr>
            <a:picLocks noChangeAspect="1"/>
          </p:cNvPicPr>
          <p:nvPr/>
        </p:nvPicPr>
        <p:blipFill>
          <a:blip r:embed="rId10"/>
          <a:stretch>
            <a:fillRect/>
          </a:stretch>
        </p:blipFill>
        <p:spPr>
          <a:xfrm>
            <a:off x="13133418" y="17244284"/>
            <a:ext cx="3632156" cy="3331937"/>
          </a:xfrm>
          <a:prstGeom prst="rect">
            <a:avLst/>
          </a:prstGeom>
        </p:spPr>
      </p:pic>
    </p:spTree>
    <p:extLst>
      <p:ext uri="{BB962C8B-B14F-4D97-AF65-F5344CB8AC3E}">
        <p14:creationId xmlns:p14="http://schemas.microsoft.com/office/powerpoint/2010/main" val="25883057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TotalTime>
  <Words>1666</Words>
  <Application>Microsoft Macintosh PowerPoint</Application>
  <PresentationFormat>Custom</PresentationFormat>
  <Paragraphs>184</Paragraphs>
  <Slides>7</Slides>
  <Notes>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4" baseType="lpstr">
      <vt:lpstr>Source Sans Pro</vt:lpstr>
      <vt:lpstr>Arial</vt:lpstr>
      <vt:lpstr>Calibri</vt:lpstr>
      <vt:lpstr>Aptos</vt:lpstr>
      <vt:lpstr>Cambria Math</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DeSandies, Jinyao</cp:lastModifiedBy>
  <cp:revision>3</cp:revision>
  <cp:lastPrinted>2026-08-03T20:49:20Z</cp:lastPrinted>
  <dcterms:created xsi:type="dcterms:W3CDTF">2017-06-08T18:45:16Z</dcterms:created>
  <dcterms:modified xsi:type="dcterms:W3CDTF">2026-08-03T22:33:34Z</dcterms:modified>
</cp:coreProperties>
</file>